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4"/>
  </p:notesMasterIdLst>
  <p:sldIdLst>
    <p:sldId id="297" r:id="rId2"/>
    <p:sldId id="294" r:id="rId3"/>
    <p:sldId id="259" r:id="rId4"/>
    <p:sldId id="296" r:id="rId5"/>
    <p:sldId id="260" r:id="rId6"/>
    <p:sldId id="300" r:id="rId7"/>
    <p:sldId id="298" r:id="rId8"/>
    <p:sldId id="299" r:id="rId9"/>
    <p:sldId id="262" r:id="rId10"/>
    <p:sldId id="295" r:id="rId11"/>
    <p:sldId id="301" r:id="rId12"/>
    <p:sldId id="265" r:id="rId13"/>
    <p:sldId id="302" r:id="rId14"/>
    <p:sldId id="266" r:id="rId15"/>
    <p:sldId id="267" r:id="rId16"/>
    <p:sldId id="303" r:id="rId17"/>
    <p:sldId id="258" r:id="rId18"/>
    <p:sldId id="305" r:id="rId19"/>
    <p:sldId id="270" r:id="rId20"/>
    <p:sldId id="271" r:id="rId21"/>
    <p:sldId id="307" r:id="rId22"/>
    <p:sldId id="308" r:id="rId23"/>
    <p:sldId id="304" r:id="rId24"/>
    <p:sldId id="306" r:id="rId25"/>
    <p:sldId id="275" r:id="rId26"/>
    <p:sldId id="276" r:id="rId27"/>
    <p:sldId id="277" r:id="rId28"/>
    <p:sldId id="278" r:id="rId29"/>
    <p:sldId id="279" r:id="rId30"/>
    <p:sldId id="280" r:id="rId31"/>
    <p:sldId id="264" r:id="rId32"/>
    <p:sldId id="281" r:id="rId33"/>
    <p:sldId id="282" r:id="rId34"/>
    <p:sldId id="263" r:id="rId35"/>
    <p:sldId id="284" r:id="rId36"/>
    <p:sldId id="310" r:id="rId37"/>
    <p:sldId id="285" r:id="rId38"/>
    <p:sldId id="286" r:id="rId39"/>
    <p:sldId id="287" r:id="rId40"/>
    <p:sldId id="288" r:id="rId41"/>
    <p:sldId id="309" r:id="rId42"/>
    <p:sldId id="289" r:id="rId43"/>
    <p:sldId id="311" r:id="rId44"/>
    <p:sldId id="290" r:id="rId45"/>
    <p:sldId id="291" r:id="rId46"/>
    <p:sldId id="269" r:id="rId47"/>
    <p:sldId id="292" r:id="rId48"/>
    <p:sldId id="312" r:id="rId49"/>
    <p:sldId id="317" r:id="rId50"/>
    <p:sldId id="316" r:id="rId51"/>
    <p:sldId id="313" r:id="rId52"/>
    <p:sldId id="314" r:id="rId5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66" autoAdjust="0"/>
    <p:restoredTop sz="94610"/>
  </p:normalViewPr>
  <p:slideViewPr>
    <p:cSldViewPr snapToGrid="0" snapToObjects="1">
      <p:cViewPr varScale="1">
        <p:scale>
          <a:sx n="146" d="100"/>
          <a:sy n="146" d="100"/>
        </p:scale>
        <p:origin x="40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90948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20424830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1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2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10" Type="http://schemas.openxmlformats.org/officeDocument/2006/relationships/image" Target="../media/image67.png"/><Relationship Id="rId4" Type="http://schemas.openxmlformats.org/officeDocument/2006/relationships/image" Target="../media/image61.png"/><Relationship Id="rId9" Type="http://schemas.openxmlformats.org/officeDocument/2006/relationships/image" Target="../media/image66.png"/></Relationships>
</file>

<file path=ppt/slides/_rels/slide2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3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81.png"/><Relationship Id="rId7" Type="http://schemas.openxmlformats.org/officeDocument/2006/relationships/image" Target="../media/image85.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_rels/slide37.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90.png"/><Relationship Id="rId7" Type="http://schemas.openxmlformats.org/officeDocument/2006/relationships/image" Target="../media/image94.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8" Type="http://schemas.openxmlformats.org/officeDocument/2006/relationships/image" Target="../media/image100.png"/><Relationship Id="rId13" Type="http://schemas.openxmlformats.org/officeDocument/2006/relationships/image" Target="../media/image105.png"/><Relationship Id="rId3" Type="http://schemas.openxmlformats.org/officeDocument/2006/relationships/image" Target="../media/image96.png"/><Relationship Id="rId7" Type="http://schemas.openxmlformats.org/officeDocument/2006/relationships/image" Target="../media/image99.png"/><Relationship Id="rId12" Type="http://schemas.openxmlformats.org/officeDocument/2006/relationships/image" Target="../media/image104.png"/><Relationship Id="rId17" Type="http://schemas.openxmlformats.org/officeDocument/2006/relationships/image" Target="../media/image109.png"/><Relationship Id="rId2" Type="http://schemas.openxmlformats.org/officeDocument/2006/relationships/image" Target="../media/image42.png"/><Relationship Id="rId16" Type="http://schemas.openxmlformats.org/officeDocument/2006/relationships/image" Target="../media/image108.png"/><Relationship Id="rId1" Type="http://schemas.openxmlformats.org/officeDocument/2006/relationships/slideLayout" Target="../slideLayouts/slideLayout2.xml"/><Relationship Id="rId6" Type="http://schemas.openxmlformats.org/officeDocument/2006/relationships/image" Target="../media/image98.png"/><Relationship Id="rId11" Type="http://schemas.openxmlformats.org/officeDocument/2006/relationships/image" Target="../media/image103.png"/><Relationship Id="rId5" Type="http://schemas.openxmlformats.org/officeDocument/2006/relationships/image" Target="../media/image97.png"/><Relationship Id="rId15" Type="http://schemas.openxmlformats.org/officeDocument/2006/relationships/image" Target="../media/image107.png"/><Relationship Id="rId10" Type="http://schemas.openxmlformats.org/officeDocument/2006/relationships/image" Target="../media/image102.png"/><Relationship Id="rId4" Type="http://schemas.openxmlformats.org/officeDocument/2006/relationships/image" Target="../media/image48.png"/><Relationship Id="rId9" Type="http://schemas.openxmlformats.org/officeDocument/2006/relationships/image" Target="../media/image101.png"/><Relationship Id="rId14" Type="http://schemas.openxmlformats.org/officeDocument/2006/relationships/image" Target="../media/image106.png"/></Relationships>
</file>

<file path=ppt/slides/_rels/slide47.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8" Type="http://schemas.openxmlformats.org/officeDocument/2006/relationships/image" Target="../media/image116.png"/><Relationship Id="rId3" Type="http://schemas.openxmlformats.org/officeDocument/2006/relationships/image" Target="../media/image111.png"/><Relationship Id="rId7" Type="http://schemas.openxmlformats.org/officeDocument/2006/relationships/image" Target="../media/image115.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114.png"/><Relationship Id="rId5" Type="http://schemas.openxmlformats.org/officeDocument/2006/relationships/image" Target="../media/image113.png"/><Relationship Id="rId10" Type="http://schemas.openxmlformats.org/officeDocument/2006/relationships/image" Target="../media/image118.png"/><Relationship Id="rId4" Type="http://schemas.openxmlformats.org/officeDocument/2006/relationships/image" Target="../media/image112.png"/><Relationship Id="rId9" Type="http://schemas.openxmlformats.org/officeDocument/2006/relationships/image" Target="../media/image117.png"/></Relationships>
</file>

<file path=ppt/slides/_rels/slide49.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21.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22.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ounded Rectangle 2"/>
          <p:cNvSpPr/>
          <p:nvPr/>
        </p:nvSpPr>
        <p:spPr>
          <a:xfrm>
            <a:off x="4125516" y="1080827"/>
            <a:ext cx="892969" cy="264319"/>
          </a:xfrm>
          <a:prstGeom prst="roundRect">
            <a:avLst>
              <a:gd name="adj" fmla="val 50000"/>
            </a:avLst>
          </a:prstGeom>
          <a:solidFill>
            <a:srgbClr val="EED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ounded Rectangle 3"/>
          <p:cNvSpPr/>
          <p:nvPr/>
        </p:nvSpPr>
        <p:spPr>
          <a:xfrm>
            <a:off x="4143375" y="4019698"/>
            <a:ext cx="857250" cy="42863"/>
          </a:xfrm>
          <a:prstGeom prst="roundRect">
            <a:avLst>
              <a:gd name="adj" fmla="val 5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TextBox 4"/>
          <p:cNvSpPr txBox="1"/>
          <p:nvPr/>
        </p:nvSpPr>
        <p:spPr>
          <a:xfrm>
            <a:off x="4128195" y="1137977"/>
            <a:ext cx="887611" cy="155877"/>
          </a:xfrm>
          <a:prstGeom prst="rect">
            <a:avLst/>
          </a:prstGeom>
          <a:noFill/>
        </p:spPr>
        <p:txBody>
          <a:bodyPr wrap="square" lIns="0" tIns="0" rIns="0" bIns="0" anchor="t">
            <a:spAutoFit/>
          </a:bodyPr>
          <a:lstStyle/>
          <a:p>
            <a:pPr algn="ctr"/>
            <a:r>
              <a:rPr sz="1013" b="1">
                <a:solidFill>
                  <a:srgbClr val="6D28D9"/>
                </a:solidFill>
                <a:latin typeface="Inter"/>
              </a:rPr>
              <a:t>ISIS-1226</a:t>
            </a:r>
          </a:p>
        </p:txBody>
      </p:sp>
      <p:sp>
        <p:nvSpPr>
          <p:cNvPr id="6" name="TextBox 5"/>
          <p:cNvSpPr txBox="1"/>
          <p:nvPr/>
        </p:nvSpPr>
        <p:spPr>
          <a:xfrm>
            <a:off x="53578" y="1630896"/>
            <a:ext cx="9036844" cy="692497"/>
          </a:xfrm>
          <a:prstGeom prst="rect">
            <a:avLst/>
          </a:prstGeom>
          <a:noFill/>
        </p:spPr>
        <p:txBody>
          <a:bodyPr wrap="square" lIns="0" tIns="0" rIns="0" bIns="0" anchor="t">
            <a:spAutoFit/>
          </a:bodyPr>
          <a:lstStyle/>
          <a:p>
            <a:pPr algn="ctr">
              <a:lnSpc>
                <a:spcPts val="5444"/>
              </a:lnSpc>
            </a:pPr>
            <a:r>
              <a:rPr sz="4950" b="1">
                <a:solidFill>
                  <a:srgbClr val="111827"/>
                </a:solidFill>
                <a:latin typeface="Inter"/>
              </a:rPr>
              <a:t>Ñam: el Núcleo de Pedidos</a:t>
            </a:r>
          </a:p>
        </p:txBody>
      </p:sp>
      <p:sp>
        <p:nvSpPr>
          <p:cNvPr id="7" name="TextBox 6"/>
          <p:cNvSpPr txBox="1"/>
          <p:nvPr/>
        </p:nvSpPr>
        <p:spPr>
          <a:xfrm>
            <a:off x="2135531" y="3242481"/>
            <a:ext cx="4872937" cy="301365"/>
          </a:xfrm>
          <a:prstGeom prst="rect">
            <a:avLst/>
          </a:prstGeom>
          <a:noFill/>
        </p:spPr>
        <p:txBody>
          <a:bodyPr wrap="none" lIns="0" tIns="0" rIns="0" bIns="0" anchor="t">
            <a:spAutoFit/>
          </a:bodyPr>
          <a:lstStyle/>
          <a:p>
            <a:pPr algn="ctr">
              <a:lnSpc>
                <a:spcPts val="2519"/>
              </a:lnSpc>
            </a:pPr>
            <a:r>
              <a:rPr>
                <a:solidFill>
                  <a:srgbClr val="4B5563"/>
                </a:solidFill>
                <a:latin typeface="Inter"/>
              </a:rPr>
              <a:t>Un caso de estudio nuevo para el proceso de diseño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314450" y="2286000"/>
            <a:ext cx="1143000" cy="1143000"/>
          </a:xfrm>
          <a:prstGeom prst="rect">
            <a:avLst/>
          </a:prstGeom>
        </p:spPr>
      </p:pic>
      <p:pic>
        <p:nvPicPr>
          <p:cNvPr id="3" name="Picture 2" descr="image.png"/>
          <p:cNvPicPr>
            <a:picLocks noChangeAspect="1"/>
          </p:cNvPicPr>
          <p:nvPr/>
        </p:nvPicPr>
        <p:blipFill>
          <a:blip r:embed="rId3"/>
          <a:stretch>
            <a:fillRect/>
          </a:stretch>
        </p:blipFill>
        <p:spPr>
          <a:xfrm>
            <a:off x="4000500" y="2286000"/>
            <a:ext cx="1143000" cy="1143000"/>
          </a:xfrm>
          <a:prstGeom prst="rect">
            <a:avLst/>
          </a:prstGeom>
        </p:spPr>
      </p:pic>
      <p:pic>
        <p:nvPicPr>
          <p:cNvPr id="4" name="Picture 3" descr="image.png"/>
          <p:cNvPicPr>
            <a:picLocks noChangeAspect="1"/>
          </p:cNvPicPr>
          <p:nvPr/>
        </p:nvPicPr>
        <p:blipFill>
          <a:blip r:embed="rId4"/>
          <a:stretch>
            <a:fillRect/>
          </a:stretch>
        </p:blipFill>
        <p:spPr>
          <a:xfrm>
            <a:off x="6686550" y="2286000"/>
            <a:ext cx="1143000" cy="1143000"/>
          </a:xfrm>
          <a:prstGeom prst="rect">
            <a:avLst/>
          </a:prstGeom>
        </p:spPr>
      </p:pic>
      <p:sp>
        <p:nvSpPr>
          <p:cNvPr id="8" name="TextBox 7"/>
          <p:cNvSpPr txBox="1"/>
          <p:nvPr/>
        </p:nvSpPr>
        <p:spPr>
          <a:xfrm>
            <a:off x="3022025" y="907256"/>
            <a:ext cx="3099952" cy="415498"/>
          </a:xfrm>
          <a:prstGeom prst="rect">
            <a:avLst/>
          </a:prstGeom>
          <a:noFill/>
        </p:spPr>
        <p:txBody>
          <a:bodyPr wrap="none" lIns="0" tIns="0" rIns="0" bIns="0" anchor="t">
            <a:spAutoFit/>
          </a:bodyPr>
          <a:lstStyle/>
          <a:p>
            <a:pPr algn="ctr"/>
            <a:r>
              <a:rPr sz="2700" b="1">
                <a:solidFill>
                  <a:srgbClr val="0F172A"/>
                </a:solidFill>
                <a:latin typeface="Plus Jakarta Sans"/>
              </a:rPr>
              <a:t>Lo que vamos a hacer</a:t>
            </a:r>
          </a:p>
        </p:txBody>
      </p:sp>
      <p:sp>
        <p:nvSpPr>
          <p:cNvPr id="9" name="TextBox 8"/>
          <p:cNvSpPr txBox="1"/>
          <p:nvPr/>
        </p:nvSpPr>
        <p:spPr>
          <a:xfrm>
            <a:off x="910828" y="1457325"/>
            <a:ext cx="7322344" cy="201594"/>
          </a:xfrm>
          <a:prstGeom prst="rect">
            <a:avLst/>
          </a:prstGeom>
          <a:noFill/>
        </p:spPr>
        <p:txBody>
          <a:bodyPr wrap="square" lIns="0" tIns="0" rIns="0" bIns="0" anchor="t">
            <a:spAutoFit/>
          </a:bodyPr>
          <a:lstStyle/>
          <a:p>
            <a:pPr algn="ctr">
              <a:lnSpc>
                <a:spcPts val="1688"/>
              </a:lnSpc>
            </a:pPr>
            <a:r>
              <a:rPr sz="1125" dirty="0">
                <a:solidFill>
                  <a:srgbClr val="475569"/>
                </a:solidFill>
                <a:latin typeface="Plus Jakarta Sans"/>
              </a:rPr>
              <a:t>Tres pasos </a:t>
            </a:r>
            <a:r>
              <a:rPr sz="1125" dirty="0" err="1">
                <a:solidFill>
                  <a:srgbClr val="475569"/>
                </a:solidFill>
                <a:latin typeface="Plus Jakarta Sans"/>
              </a:rPr>
              <a:t>fundamentales</a:t>
            </a:r>
            <a:r>
              <a:rPr sz="1125" dirty="0">
                <a:solidFill>
                  <a:srgbClr val="475569"/>
                </a:solidFill>
                <a:latin typeface="Plus Jakarta Sans"/>
              </a:rPr>
              <a:t> para </a:t>
            </a:r>
            <a:r>
              <a:rPr sz="1125" dirty="0" err="1">
                <a:solidFill>
                  <a:srgbClr val="475569"/>
                </a:solidFill>
                <a:latin typeface="Plus Jakarta Sans"/>
              </a:rPr>
              <a:t>abordar</a:t>
            </a:r>
            <a:r>
              <a:rPr sz="1125" dirty="0">
                <a:solidFill>
                  <a:srgbClr val="475569"/>
                </a:solidFill>
                <a:latin typeface="Plus Jakarta Sans"/>
              </a:rPr>
              <a:t> la </a:t>
            </a:r>
            <a:r>
              <a:rPr sz="1125" dirty="0" err="1">
                <a:solidFill>
                  <a:srgbClr val="475569"/>
                </a:solidFill>
                <a:latin typeface="Plus Jakarta Sans"/>
              </a:rPr>
              <a:t>complejidad</a:t>
            </a:r>
            <a:r>
              <a:rPr sz="1125" dirty="0">
                <a:solidFill>
                  <a:srgbClr val="475569"/>
                </a:solidFill>
                <a:latin typeface="Plus Jakarta Sans"/>
              </a:rPr>
              <a:t> del software y </a:t>
            </a:r>
            <a:r>
              <a:rPr sz="1125" dirty="0" err="1">
                <a:solidFill>
                  <a:srgbClr val="475569"/>
                </a:solidFill>
                <a:latin typeface="Plus Jakarta Sans"/>
              </a:rPr>
              <a:t>estructurar</a:t>
            </a:r>
            <a:r>
              <a:rPr sz="1125" dirty="0">
                <a:solidFill>
                  <a:srgbClr val="475569"/>
                </a:solidFill>
                <a:latin typeface="Plus Jakarta Sans"/>
              </a:rPr>
              <a:t> </a:t>
            </a:r>
            <a:r>
              <a:rPr sz="1125" dirty="0" err="1">
                <a:solidFill>
                  <a:srgbClr val="475569"/>
                </a:solidFill>
                <a:latin typeface="Plus Jakarta Sans"/>
              </a:rPr>
              <a:t>una</a:t>
            </a:r>
            <a:r>
              <a:rPr sz="1125" dirty="0">
                <a:solidFill>
                  <a:srgbClr val="475569"/>
                </a:solidFill>
                <a:latin typeface="Plus Jakarta Sans"/>
              </a:rPr>
              <a:t> </a:t>
            </a:r>
            <a:r>
              <a:rPr sz="1125" dirty="0" err="1">
                <a:solidFill>
                  <a:srgbClr val="475569"/>
                </a:solidFill>
                <a:latin typeface="Plus Jakarta Sans"/>
              </a:rPr>
              <a:t>solución</a:t>
            </a:r>
            <a:r>
              <a:rPr sz="1125" dirty="0">
                <a:solidFill>
                  <a:srgbClr val="475569"/>
                </a:solidFill>
                <a:latin typeface="Plus Jakarta Sans"/>
              </a:rPr>
              <a:t> robusta.</a:t>
            </a:r>
          </a:p>
        </p:txBody>
      </p:sp>
      <p:sp>
        <p:nvSpPr>
          <p:cNvPr id="10" name="TextBox 9"/>
          <p:cNvSpPr txBox="1"/>
          <p:nvPr/>
        </p:nvSpPr>
        <p:spPr>
          <a:xfrm>
            <a:off x="1173671" y="3600450"/>
            <a:ext cx="1424557" cy="190501"/>
          </a:xfrm>
          <a:prstGeom prst="rect">
            <a:avLst/>
          </a:prstGeom>
          <a:noFill/>
        </p:spPr>
        <p:txBody>
          <a:bodyPr wrap="none" lIns="0" tIns="0" rIns="0" bIns="0" anchor="t">
            <a:spAutoFit/>
          </a:bodyPr>
          <a:lstStyle/>
          <a:p>
            <a:pPr algn="ctr"/>
            <a:r>
              <a:rPr sz="1238" b="1">
                <a:solidFill>
                  <a:srgbClr val="0F172A"/>
                </a:solidFill>
                <a:latin typeface="Plus Jakarta Sans"/>
              </a:rPr>
              <a:t>Entender el problema</a:t>
            </a:r>
          </a:p>
        </p:txBody>
      </p:sp>
      <p:sp>
        <p:nvSpPr>
          <p:cNvPr id="11" name="TextBox 10"/>
          <p:cNvSpPr txBox="1"/>
          <p:nvPr/>
        </p:nvSpPr>
        <p:spPr>
          <a:xfrm>
            <a:off x="421481" y="3871913"/>
            <a:ext cx="2928938" cy="166969"/>
          </a:xfrm>
          <a:prstGeom prst="rect">
            <a:avLst/>
          </a:prstGeom>
          <a:noFill/>
        </p:spPr>
        <p:txBody>
          <a:bodyPr wrap="square" lIns="0" tIns="0" rIns="0" bIns="0" anchor="t">
            <a:spAutoFit/>
          </a:bodyPr>
          <a:lstStyle/>
          <a:p>
            <a:pPr algn="ctr">
              <a:lnSpc>
                <a:spcPts val="1434"/>
              </a:lnSpc>
            </a:pPr>
            <a:r>
              <a:rPr sz="956">
                <a:solidFill>
                  <a:srgbClr val="475569"/>
                </a:solidFill>
                <a:latin typeface="Plus Jakarta Sans"/>
              </a:rPr>
              <a:t>Análisis de requerimientos y restricciones.</a:t>
            </a:r>
          </a:p>
        </p:txBody>
      </p:sp>
      <p:sp>
        <p:nvSpPr>
          <p:cNvPr id="12" name="TextBox 11"/>
          <p:cNvSpPr txBox="1"/>
          <p:nvPr/>
        </p:nvSpPr>
        <p:spPr>
          <a:xfrm>
            <a:off x="3968853" y="3600450"/>
            <a:ext cx="1206292" cy="190501"/>
          </a:xfrm>
          <a:prstGeom prst="rect">
            <a:avLst/>
          </a:prstGeom>
          <a:noFill/>
        </p:spPr>
        <p:txBody>
          <a:bodyPr wrap="none" lIns="0" tIns="0" rIns="0" bIns="0" anchor="t">
            <a:spAutoFit/>
          </a:bodyPr>
          <a:lstStyle/>
          <a:p>
            <a:pPr algn="ctr"/>
            <a:r>
              <a:rPr sz="1238" b="1">
                <a:solidFill>
                  <a:srgbClr val="0F172A"/>
                </a:solidFill>
                <a:latin typeface="Plus Jakarta Sans"/>
              </a:rPr>
              <a:t>Dibujar la frontera</a:t>
            </a:r>
          </a:p>
        </p:txBody>
      </p:sp>
      <p:sp>
        <p:nvSpPr>
          <p:cNvPr id="13" name="TextBox 12"/>
          <p:cNvSpPr txBox="1"/>
          <p:nvPr/>
        </p:nvSpPr>
        <p:spPr>
          <a:xfrm>
            <a:off x="3107531" y="3871913"/>
            <a:ext cx="2928938" cy="166969"/>
          </a:xfrm>
          <a:prstGeom prst="rect">
            <a:avLst/>
          </a:prstGeom>
          <a:noFill/>
        </p:spPr>
        <p:txBody>
          <a:bodyPr wrap="square" lIns="0" tIns="0" rIns="0" bIns="0" anchor="t">
            <a:spAutoFit/>
          </a:bodyPr>
          <a:lstStyle/>
          <a:p>
            <a:pPr algn="ctr">
              <a:lnSpc>
                <a:spcPts val="1434"/>
              </a:lnSpc>
            </a:pPr>
            <a:r>
              <a:rPr sz="956">
                <a:solidFill>
                  <a:srgbClr val="475569"/>
                </a:solidFill>
                <a:latin typeface="Plus Jakarta Sans"/>
              </a:rPr>
              <a:t>Definición del alcance del sistema completo.</a:t>
            </a:r>
          </a:p>
        </p:txBody>
      </p:sp>
      <p:sp>
        <p:nvSpPr>
          <p:cNvPr id="14" name="TextBox 13"/>
          <p:cNvSpPr txBox="1"/>
          <p:nvPr/>
        </p:nvSpPr>
        <p:spPr>
          <a:xfrm>
            <a:off x="6452252" y="3600450"/>
            <a:ext cx="1611595" cy="190501"/>
          </a:xfrm>
          <a:prstGeom prst="rect">
            <a:avLst/>
          </a:prstGeom>
          <a:noFill/>
        </p:spPr>
        <p:txBody>
          <a:bodyPr wrap="none" lIns="0" tIns="0" rIns="0" bIns="0" anchor="t">
            <a:spAutoFit/>
          </a:bodyPr>
          <a:lstStyle/>
          <a:p>
            <a:pPr algn="ctr"/>
            <a:r>
              <a:rPr sz="1238" b="1">
                <a:solidFill>
                  <a:srgbClr val="0F172A"/>
                </a:solidFill>
                <a:latin typeface="Plus Jakarta Sans"/>
              </a:rPr>
              <a:t>Primera descomposición</a:t>
            </a:r>
          </a:p>
        </p:txBody>
      </p:sp>
      <p:sp>
        <p:nvSpPr>
          <p:cNvPr id="15" name="TextBox 14"/>
          <p:cNvSpPr txBox="1"/>
          <p:nvPr/>
        </p:nvSpPr>
        <p:spPr>
          <a:xfrm>
            <a:off x="5793581" y="3871913"/>
            <a:ext cx="2928938" cy="166969"/>
          </a:xfrm>
          <a:prstGeom prst="rect">
            <a:avLst/>
          </a:prstGeom>
          <a:noFill/>
        </p:spPr>
        <p:txBody>
          <a:bodyPr wrap="square" lIns="0" tIns="0" rIns="0" bIns="0" anchor="t">
            <a:spAutoFit/>
          </a:bodyPr>
          <a:lstStyle/>
          <a:p>
            <a:pPr algn="ctr">
              <a:lnSpc>
                <a:spcPts val="1434"/>
              </a:lnSpc>
            </a:pPr>
            <a:r>
              <a:rPr sz="956">
                <a:solidFill>
                  <a:srgbClr val="475569"/>
                </a:solidFill>
                <a:latin typeface="Plus Jakarta Sans"/>
              </a:rPr>
              <a:t>División modular para no resolver todo a la vez.</a:t>
            </a:r>
          </a:p>
        </p:txBody>
      </p:sp>
      <p:pic>
        <p:nvPicPr>
          <p:cNvPr id="16" name="Imagen 15" descr="Problema - Iconos gratis de usuario">
            <a:extLst>
              <a:ext uri="{FF2B5EF4-FFF2-40B4-BE49-F238E27FC236}">
                <a16:creationId xmlns:a16="http://schemas.microsoft.com/office/drawing/2014/main" id="{2669DEBC-2923-7BFC-4F6B-67E84D3055C3}"/>
              </a:ext>
            </a:extLst>
          </p:cNvPr>
          <p:cNvPicPr>
            <a:picLocks noChangeAspect="1"/>
          </p:cNvPicPr>
          <p:nvPr/>
        </p:nvPicPr>
        <p:blipFill>
          <a:blip r:embed="rId5"/>
          <a:stretch>
            <a:fillRect/>
          </a:stretch>
        </p:blipFill>
        <p:spPr>
          <a:xfrm>
            <a:off x="1447109" y="2418660"/>
            <a:ext cx="877679" cy="877679"/>
          </a:xfrm>
          <a:prstGeom prst="rect">
            <a:avLst/>
          </a:prstGeom>
        </p:spPr>
      </p:pic>
      <p:pic>
        <p:nvPicPr>
          <p:cNvPr id="17" name="Imagen 16" descr="Rompecabezas - Iconos gratis de negocio">
            <a:extLst>
              <a:ext uri="{FF2B5EF4-FFF2-40B4-BE49-F238E27FC236}">
                <a16:creationId xmlns:a16="http://schemas.microsoft.com/office/drawing/2014/main" id="{0524CDA8-21DD-3DF8-BEBD-5BD116C37734}"/>
              </a:ext>
            </a:extLst>
          </p:cNvPr>
          <p:cNvPicPr>
            <a:picLocks noChangeAspect="1"/>
          </p:cNvPicPr>
          <p:nvPr/>
        </p:nvPicPr>
        <p:blipFill>
          <a:blip r:embed="rId6"/>
          <a:stretch>
            <a:fillRect/>
          </a:stretch>
        </p:blipFill>
        <p:spPr>
          <a:xfrm>
            <a:off x="6886987" y="2418660"/>
            <a:ext cx="809904" cy="809904"/>
          </a:xfrm>
          <a:prstGeom prst="rect">
            <a:avLst/>
          </a:prstGeom>
        </p:spPr>
      </p:pic>
      <p:pic>
        <p:nvPicPr>
          <p:cNvPr id="18" name="Imagen 17" descr="Frontera - Iconos gratis de diverso">
            <a:extLst>
              <a:ext uri="{FF2B5EF4-FFF2-40B4-BE49-F238E27FC236}">
                <a16:creationId xmlns:a16="http://schemas.microsoft.com/office/drawing/2014/main" id="{AF484D93-450B-DE0B-E2B9-7269A32F00F1}"/>
              </a:ext>
            </a:extLst>
          </p:cNvPr>
          <p:cNvPicPr>
            <a:picLocks noChangeAspect="1"/>
          </p:cNvPicPr>
          <p:nvPr/>
        </p:nvPicPr>
        <p:blipFill>
          <a:blip r:embed="rId7"/>
          <a:stretch>
            <a:fillRect/>
          </a:stretch>
        </p:blipFill>
        <p:spPr>
          <a:xfrm>
            <a:off x="4170912" y="2456411"/>
            <a:ext cx="802176" cy="80217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04800"/>
            <a:ext cx="8394192" cy="270123"/>
          </a:xfrm>
          <a:prstGeom prst="rect">
            <a:avLst/>
          </a:prstGeom>
          <a:noFill/>
          <a:ln/>
        </p:spPr>
        <p:txBody>
          <a:bodyPr wrap="square" lIns="0" tIns="0" rIns="0" bIns="0" rtlCol="0" anchor="t"/>
          <a:lstStyle/>
          <a:p>
            <a:pPr marL="0" indent="0" algn="l">
              <a:lnSpc>
                <a:spcPts val="2128"/>
              </a:lnSpc>
              <a:spcBef>
                <a:spcPts val="2400"/>
              </a:spcBef>
              <a:buNone/>
            </a:pPr>
            <a:r>
              <a:rPr lang="en-US" sz="1900" b="1" dirty="0">
                <a:solidFill>
                  <a:srgbClr val="111111"/>
                </a:solidFill>
                <a:latin typeface="Helvetica" pitchFamily="34" charset="0"/>
                <a:ea typeface="Helvetica" pitchFamily="34" charset="-122"/>
                <a:cs typeface="Helvetica" pitchFamily="34" charset="-120"/>
              </a:rPr>
              <a:t>Caso de estudio: Ñam, una plataforma de domicilios</a:t>
            </a:r>
            <a:endParaRPr lang="en-US" sz="1900" dirty="0"/>
          </a:p>
        </p:txBody>
      </p:sp>
      <p:sp>
        <p:nvSpPr>
          <p:cNvPr id="3" name="Text 1"/>
          <p:cNvSpPr/>
          <p:nvPr/>
        </p:nvSpPr>
        <p:spPr>
          <a:xfrm>
            <a:off x="431750" y="651123"/>
            <a:ext cx="8445957" cy="329803"/>
          </a:xfrm>
          <a:prstGeom prst="rect">
            <a:avLst/>
          </a:prstGeom>
          <a:noFill/>
          <a:ln/>
        </p:spPr>
        <p:txBody>
          <a:bodyPr wrap="square" lIns="0" tIns="0" rIns="0" bIns="0" rtlCol="0" anchor="t"/>
          <a:lstStyle/>
          <a:p>
            <a:pPr marL="0" indent="0" algn="l">
              <a:lnSpc>
                <a:spcPts val="1300"/>
              </a:lnSpc>
              <a:spcAft>
                <a:spcPts val="800"/>
              </a:spcAft>
              <a:buNone/>
            </a:pPr>
            <a:r>
              <a:rPr lang="en-US" sz="1000" dirty="0">
                <a:solidFill>
                  <a:srgbClr val="4A4A4A"/>
                </a:solidFill>
                <a:latin typeface="Helvetica" pitchFamily="34" charset="0"/>
                <a:ea typeface="Helvetica" pitchFamily="34" charset="-122"/>
                <a:cs typeface="Helvetica" pitchFamily="34" charset="-120"/>
              </a:rPr>
              <a:t>Queremos construir el </a:t>
            </a:r>
            <a:r>
              <a:rPr lang="en-US" sz="1000" b="1" dirty="0">
                <a:solidFill>
                  <a:srgbClr val="4A4A4A"/>
                </a:solidFill>
                <a:latin typeface="Helvetica" pitchFamily="34" charset="0"/>
                <a:ea typeface="Helvetica" pitchFamily="34" charset="-122"/>
                <a:cs typeface="Helvetica" pitchFamily="34" charset="-120"/>
              </a:rPr>
              <a:t>Núcleo de Pedidos</a:t>
            </a:r>
            <a:r>
              <a:rPr lang="en-US" sz="1000" dirty="0">
                <a:solidFill>
                  <a:srgbClr val="4A4A4A"/>
                </a:solidFill>
                <a:latin typeface="Helvetica" pitchFamily="34" charset="0"/>
                <a:ea typeface="Helvetica" pitchFamily="34" charset="-122"/>
                <a:cs typeface="Helvetica" pitchFamily="34" charset="-120"/>
              </a:rPr>
              <a:t> de Ñam: la parte del sistema que recibe lo que hace un usuario en la app y coordina todo lo necesario para que un pedido llegue a su casa.</a:t>
            </a:r>
            <a:endParaRPr lang="en-US" sz="1000" dirty="0"/>
          </a:p>
        </p:txBody>
      </p:sp>
      <p:sp>
        <p:nvSpPr>
          <p:cNvPr id="4" name="Text 2"/>
          <p:cNvSpPr/>
          <p:nvPr/>
        </p:nvSpPr>
        <p:spPr>
          <a:xfrm>
            <a:off x="622250" y="1082427"/>
            <a:ext cx="8089850" cy="2623245"/>
          </a:xfrm>
          <a:prstGeom prst="rect">
            <a:avLst/>
          </a:prstGeom>
          <a:noFill/>
          <a:ln/>
        </p:spPr>
        <p:txBody>
          <a:bodyPr wrap="square" lIns="0" tIns="0" rIns="0" bIns="0" rtlCol="0" anchor="t"/>
          <a:lstStyle/>
          <a:p>
            <a:pPr marL="342900" indent="-342900" algn="l">
              <a:lnSpc>
                <a:spcPts val="1326"/>
              </a:lnSpc>
              <a:spcAft>
                <a:spcPts val="300"/>
              </a:spcAft>
              <a:buSzPct val="100000"/>
              <a:buChar char="•"/>
            </a:pPr>
            <a:r>
              <a:rPr lang="en-US" sz="1020" dirty="0">
                <a:solidFill>
                  <a:srgbClr val="111111"/>
                </a:solidFill>
                <a:latin typeface="Helvetica" pitchFamily="34" charset="0"/>
                <a:ea typeface="Helvetica" pitchFamily="34" charset="-122"/>
                <a:cs typeface="Helvetica" pitchFamily="34" charset="-120"/>
              </a:rPr>
              <a:t>En Ñam hay varios </a:t>
            </a:r>
            <a:r>
              <a:rPr lang="en-US" sz="1020" b="1" dirty="0">
                <a:solidFill>
                  <a:srgbClr val="111111"/>
                </a:solidFill>
                <a:latin typeface="Helvetica" pitchFamily="34" charset="0"/>
                <a:ea typeface="Helvetica" pitchFamily="34" charset="-122"/>
                <a:cs typeface="Helvetica" pitchFamily="34" charset="-120"/>
              </a:rPr>
              <a:t>restaurantes afiliados</a:t>
            </a:r>
            <a:r>
              <a:rPr lang="en-US" sz="1020" dirty="0">
                <a:solidFill>
                  <a:srgbClr val="111111"/>
                </a:solidFill>
                <a:latin typeface="Helvetica" pitchFamily="34" charset="0"/>
                <a:ea typeface="Helvetica" pitchFamily="34" charset="-122"/>
                <a:cs typeface="Helvetica" pitchFamily="34" charset="-120"/>
              </a:rPr>
              <a:t> y cada uno tiene un </a:t>
            </a:r>
            <a:r>
              <a:rPr lang="en-US" sz="1020" b="1" dirty="0">
                <a:solidFill>
                  <a:srgbClr val="111111"/>
                </a:solidFill>
                <a:latin typeface="Helvetica" pitchFamily="34" charset="0"/>
                <a:ea typeface="Helvetica" pitchFamily="34" charset="-122"/>
                <a:cs typeface="Helvetica" pitchFamily="34" charset="-120"/>
              </a:rPr>
              <a:t>menú</a:t>
            </a:r>
            <a:r>
              <a:rPr lang="en-US" sz="1020" dirty="0">
                <a:solidFill>
                  <a:srgbClr val="111111"/>
                </a:solidFill>
                <a:latin typeface="Helvetica" pitchFamily="34" charset="0"/>
                <a:ea typeface="Helvetica" pitchFamily="34" charset="-122"/>
                <a:cs typeface="Helvetica" pitchFamily="34" charset="-120"/>
              </a:rPr>
              <a:t> con varios platos. El núcleo debe resolver a qué restaurante y a qué plato se refiere cada acción del usuario. Por ejemplo, la acción </a:t>
            </a:r>
            <a:r>
              <a:rPr lang="en-US" sz="1020" i="1" dirty="0">
                <a:solidFill>
                  <a:srgbClr val="111111"/>
                </a:solidFill>
                <a:latin typeface="Helvetica" pitchFamily="34" charset="0"/>
                <a:ea typeface="Helvetica" pitchFamily="34" charset="-122"/>
                <a:cs typeface="Helvetica" pitchFamily="34" charset="-120"/>
              </a:rPr>
              <a:t>agregarAlCarrito(restaurante: "donde‑lucho", plato: "bandeja‑paisa", notas: "sin aguacate")</a:t>
            </a:r>
            <a:r>
              <a:rPr lang="en-US" sz="1020" dirty="0">
                <a:solidFill>
                  <a:srgbClr val="111111"/>
                </a:solidFill>
                <a:latin typeface="Helvetica" pitchFamily="34" charset="0"/>
                <a:ea typeface="Helvetica" pitchFamily="34" charset="-122"/>
                <a:cs typeface="Helvetica" pitchFamily="34" charset="-120"/>
              </a:rPr>
              <a:t>.</a:t>
            </a:r>
            <a:endParaRPr lang="en-US" sz="1020" dirty="0"/>
          </a:p>
          <a:p>
            <a:pPr marL="342900" indent="-342900" algn="l">
              <a:lnSpc>
                <a:spcPts val="1326"/>
              </a:lnSpc>
              <a:spcAft>
                <a:spcPts val="300"/>
              </a:spcAft>
              <a:buSzPct val="100000"/>
              <a:buChar char="•"/>
            </a:pPr>
            <a:r>
              <a:rPr lang="en-US" sz="1020" dirty="0">
                <a:solidFill>
                  <a:srgbClr val="111111"/>
                </a:solidFill>
                <a:latin typeface="Helvetica" pitchFamily="34" charset="0"/>
                <a:ea typeface="Helvetica" pitchFamily="34" charset="-122"/>
                <a:cs typeface="Helvetica" pitchFamily="34" charset="-120"/>
              </a:rPr>
              <a:t>Cada usuario arma su pedido en un </a:t>
            </a:r>
            <a:r>
              <a:rPr lang="en-US" sz="1020" b="1" dirty="0">
                <a:solidFill>
                  <a:srgbClr val="111111"/>
                </a:solidFill>
                <a:latin typeface="Helvetica" pitchFamily="34" charset="0"/>
                <a:ea typeface="Helvetica" pitchFamily="34" charset="-122"/>
                <a:cs typeface="Helvetica" pitchFamily="34" charset="-120"/>
              </a:rPr>
              <a:t>carrito</a:t>
            </a:r>
            <a:r>
              <a:rPr lang="en-US" sz="1020" dirty="0">
                <a:solidFill>
                  <a:srgbClr val="111111"/>
                </a:solidFill>
                <a:latin typeface="Helvetica" pitchFamily="34" charset="0"/>
                <a:ea typeface="Helvetica" pitchFamily="34" charset="-122"/>
                <a:cs typeface="Helvetica" pitchFamily="34" charset="-120"/>
              </a:rPr>
              <a:t>, que debe sobrevivir aunque cierre la app. Basta con identificar el dispositivo: no hay que construir un sistema de usuarios ni de autenticación.</a:t>
            </a:r>
            <a:endParaRPr lang="en-US" sz="1020" dirty="0"/>
          </a:p>
          <a:p>
            <a:pPr marL="342900" indent="-342900" algn="l">
              <a:lnSpc>
                <a:spcPts val="1326"/>
              </a:lnSpc>
              <a:spcAft>
                <a:spcPts val="300"/>
              </a:spcAft>
              <a:buSzPct val="100000"/>
              <a:buChar char="•"/>
            </a:pPr>
            <a:r>
              <a:rPr lang="en-US" sz="1020" dirty="0">
                <a:solidFill>
                  <a:srgbClr val="111111"/>
                </a:solidFill>
                <a:latin typeface="Helvetica" pitchFamily="34" charset="0"/>
                <a:ea typeface="Helvetica" pitchFamily="34" charset="-122"/>
                <a:cs typeface="Helvetica" pitchFamily="34" charset="-120"/>
              </a:rPr>
              <a:t>Cuando el usuario </a:t>
            </a:r>
            <a:r>
              <a:rPr lang="en-US" sz="1020" b="1" dirty="0">
                <a:solidFill>
                  <a:srgbClr val="111111"/>
                </a:solidFill>
                <a:latin typeface="Helvetica" pitchFamily="34" charset="0"/>
                <a:ea typeface="Helvetica" pitchFamily="34" charset="-122"/>
                <a:cs typeface="Helvetica" pitchFamily="34" charset="-120"/>
              </a:rPr>
              <a:t>confirma</a:t>
            </a:r>
            <a:r>
              <a:rPr lang="en-US" sz="1020" dirty="0">
                <a:solidFill>
                  <a:srgbClr val="111111"/>
                </a:solidFill>
                <a:latin typeface="Helvetica" pitchFamily="34" charset="0"/>
                <a:ea typeface="Helvetica" pitchFamily="34" charset="-122"/>
                <a:cs typeface="Helvetica" pitchFamily="34" charset="-120"/>
              </a:rPr>
              <a:t>, hay que cobrarle usando una </a:t>
            </a:r>
            <a:r>
              <a:rPr lang="en-US" sz="1020" b="1" dirty="0">
                <a:solidFill>
                  <a:srgbClr val="111111"/>
                </a:solidFill>
                <a:latin typeface="Helvetica" pitchFamily="34" charset="0"/>
                <a:ea typeface="Helvetica" pitchFamily="34" charset="-122"/>
                <a:cs typeface="Helvetica" pitchFamily="34" charset="-120"/>
              </a:rPr>
              <a:t>pasarela de pagos externa</a:t>
            </a:r>
            <a:r>
              <a:rPr lang="en-US" sz="1020" dirty="0">
                <a:solidFill>
                  <a:srgbClr val="111111"/>
                </a:solidFill>
                <a:latin typeface="Helvetica" pitchFamily="34" charset="0"/>
                <a:ea typeface="Helvetica" pitchFamily="34" charset="-122"/>
                <a:cs typeface="Helvetica" pitchFamily="34" charset="-120"/>
              </a:rPr>
              <a:t> (tarjeta, PSE o Nequi), avisarle al restaurante y asignarle un repartidor.</a:t>
            </a:r>
            <a:endParaRPr lang="en-US" sz="1020" dirty="0"/>
          </a:p>
          <a:p>
            <a:pPr marL="342900" indent="-342900" algn="l">
              <a:lnSpc>
                <a:spcPts val="1326"/>
              </a:lnSpc>
              <a:spcAft>
                <a:spcPts val="300"/>
              </a:spcAft>
              <a:buSzPct val="100000"/>
              <a:buChar char="•"/>
            </a:pPr>
            <a:r>
              <a:rPr lang="en-US" sz="1020" dirty="0">
                <a:solidFill>
                  <a:srgbClr val="111111"/>
                </a:solidFill>
                <a:latin typeface="Helvetica" pitchFamily="34" charset="0"/>
                <a:ea typeface="Helvetica" pitchFamily="34" charset="-122"/>
                <a:cs typeface="Helvetica" pitchFamily="34" charset="-120"/>
              </a:rPr>
              <a:t>La </a:t>
            </a:r>
            <a:r>
              <a:rPr lang="en-US" sz="1020" b="1" dirty="0">
                <a:solidFill>
                  <a:srgbClr val="111111"/>
                </a:solidFill>
                <a:latin typeface="Helvetica" pitchFamily="34" charset="0"/>
                <a:ea typeface="Helvetica" pitchFamily="34" charset="-122"/>
                <a:cs typeface="Helvetica" pitchFamily="34" charset="-120"/>
              </a:rPr>
              <a:t>asignación del repartidor</a:t>
            </a:r>
            <a:r>
              <a:rPr lang="en-US" sz="1020" dirty="0">
                <a:solidFill>
                  <a:srgbClr val="111111"/>
                </a:solidFill>
                <a:latin typeface="Helvetica" pitchFamily="34" charset="0"/>
                <a:ea typeface="Helvetica" pitchFamily="34" charset="-122"/>
                <a:cs typeface="Helvetica" pitchFamily="34" charset="-120"/>
              </a:rPr>
              <a:t> se hace entre los repartidores disponibles cerca del restaurante, usando un </a:t>
            </a:r>
            <a:r>
              <a:rPr lang="en-US" sz="1020" b="1" dirty="0">
                <a:solidFill>
                  <a:srgbClr val="111111"/>
                </a:solidFill>
                <a:latin typeface="Helvetica" pitchFamily="34" charset="0"/>
                <a:ea typeface="Helvetica" pitchFamily="34" charset="-122"/>
                <a:cs typeface="Helvetica" pitchFamily="34" charset="-120"/>
              </a:rPr>
              <a:t>servicio externo de mapas</a:t>
            </a:r>
            <a:r>
              <a:rPr lang="en-US" sz="1020" dirty="0">
                <a:solidFill>
                  <a:srgbClr val="111111"/>
                </a:solidFill>
                <a:latin typeface="Helvetica" pitchFamily="34" charset="0"/>
                <a:ea typeface="Helvetica" pitchFamily="34" charset="-122"/>
                <a:cs typeface="Helvetica" pitchFamily="34" charset="-120"/>
              </a:rPr>
              <a:t> para estimar distancias y tiempos.</a:t>
            </a:r>
            <a:endParaRPr lang="en-US" sz="1020" dirty="0"/>
          </a:p>
          <a:p>
            <a:pPr marL="342900" indent="-342900" algn="l">
              <a:lnSpc>
                <a:spcPts val="1326"/>
              </a:lnSpc>
              <a:spcAft>
                <a:spcPts val="300"/>
              </a:spcAft>
              <a:buSzPct val="100000"/>
              <a:buChar char="•"/>
            </a:pPr>
            <a:r>
              <a:rPr lang="en-US" sz="1020" dirty="0">
                <a:solidFill>
                  <a:srgbClr val="111111"/>
                </a:solidFill>
                <a:latin typeface="Helvetica" pitchFamily="34" charset="0"/>
                <a:ea typeface="Helvetica" pitchFamily="34" charset="-122"/>
                <a:cs typeface="Helvetica" pitchFamily="34" charset="-120"/>
              </a:rPr>
              <a:t>En cada cambio de estado (confirmado, en preparación, en camino, entregado) hay que </a:t>
            </a:r>
            <a:r>
              <a:rPr lang="en-US" sz="1020" b="1" dirty="0">
                <a:solidFill>
                  <a:srgbClr val="111111"/>
                </a:solidFill>
                <a:latin typeface="Helvetica" pitchFamily="34" charset="0"/>
                <a:ea typeface="Helvetica" pitchFamily="34" charset="-122"/>
                <a:cs typeface="Helvetica" pitchFamily="34" charset="-120"/>
              </a:rPr>
              <a:t>avisarle al usuario</a:t>
            </a:r>
            <a:r>
              <a:rPr lang="en-US" sz="1020" dirty="0">
                <a:solidFill>
                  <a:srgbClr val="111111"/>
                </a:solidFill>
                <a:latin typeface="Helvetica" pitchFamily="34" charset="0"/>
                <a:ea typeface="Helvetica" pitchFamily="34" charset="-122"/>
                <a:cs typeface="Helvetica" pitchFamily="34" charset="-120"/>
              </a:rPr>
              <a:t>. Los mensajes se arman con </a:t>
            </a:r>
            <a:r>
              <a:rPr lang="en-US" sz="1020" b="1" dirty="0">
                <a:solidFill>
                  <a:srgbClr val="111111"/>
                </a:solidFill>
                <a:latin typeface="Helvetica" pitchFamily="34" charset="0"/>
                <a:ea typeface="Helvetica" pitchFamily="34" charset="-122"/>
                <a:cs typeface="Helvetica" pitchFamily="34" charset="-120"/>
              </a:rPr>
              <a:t>plantillas</a:t>
            </a:r>
            <a:r>
              <a:rPr lang="en-US" sz="1020" dirty="0">
                <a:solidFill>
                  <a:srgbClr val="111111"/>
                </a:solidFill>
                <a:latin typeface="Helvetica" pitchFamily="34" charset="0"/>
                <a:ea typeface="Helvetica" pitchFamily="34" charset="-122"/>
                <a:cs typeface="Helvetica" pitchFamily="34" charset="-120"/>
              </a:rPr>
              <a:t> y se envían por push, WhatsApp o SMS.</a:t>
            </a:r>
            <a:endParaRPr lang="en-US" sz="1020" dirty="0"/>
          </a:p>
          <a:p>
            <a:pPr marL="342900" indent="-342900" algn="l">
              <a:lnSpc>
                <a:spcPts val="1326"/>
              </a:lnSpc>
              <a:spcAft>
                <a:spcPts val="300"/>
              </a:spcAft>
              <a:buSzPct val="100000"/>
              <a:buChar char="•"/>
            </a:pPr>
            <a:r>
              <a:rPr lang="en-US" sz="1020" dirty="0">
                <a:solidFill>
                  <a:srgbClr val="111111"/>
                </a:solidFill>
                <a:latin typeface="Helvetica" pitchFamily="34" charset="0"/>
                <a:ea typeface="Helvetica" pitchFamily="34" charset="-122"/>
                <a:cs typeface="Helvetica" pitchFamily="34" charset="-120"/>
              </a:rPr>
              <a:t>Las </a:t>
            </a:r>
            <a:r>
              <a:rPr lang="en-US" sz="1020" b="1" dirty="0">
                <a:solidFill>
                  <a:srgbClr val="111111"/>
                </a:solidFill>
                <a:latin typeface="Helvetica" pitchFamily="34" charset="0"/>
                <a:ea typeface="Helvetica" pitchFamily="34" charset="-122"/>
                <a:cs typeface="Helvetica" pitchFamily="34" charset="-120"/>
              </a:rPr>
              <a:t>fotos de los platos</a:t>
            </a:r>
            <a:r>
              <a:rPr lang="en-US" sz="1020" dirty="0">
                <a:solidFill>
                  <a:srgbClr val="111111"/>
                </a:solidFill>
                <a:latin typeface="Helvetica" pitchFamily="34" charset="0"/>
                <a:ea typeface="Helvetica" pitchFamily="34" charset="-122"/>
                <a:cs typeface="Helvetica" pitchFamily="34" charset="-120"/>
              </a:rPr>
              <a:t> se sirven como archivos estáticos y no están asociadas a la lógica de ningún restaurante.</a:t>
            </a:r>
            <a:endParaRPr lang="en-US" sz="1020" dirty="0"/>
          </a:p>
          <a:p>
            <a:pPr marL="342900" indent="-342900" algn="l">
              <a:lnSpc>
                <a:spcPts val="1326"/>
              </a:lnSpc>
              <a:spcAft>
                <a:spcPts val="300"/>
              </a:spcAft>
              <a:buSzPct val="100000"/>
              <a:buChar char="•"/>
            </a:pPr>
            <a:r>
              <a:rPr lang="en-US" sz="1020" dirty="0">
                <a:solidFill>
                  <a:srgbClr val="111111"/>
                </a:solidFill>
                <a:latin typeface="Helvetica" pitchFamily="34" charset="0"/>
                <a:ea typeface="Helvetica" pitchFamily="34" charset="-122"/>
                <a:cs typeface="Helvetica" pitchFamily="34" charset="-120"/>
              </a:rPr>
              <a:t>Los menús, los precios, el historial de pedidos y las calificaciones viven en una </a:t>
            </a:r>
            <a:r>
              <a:rPr lang="en-US" sz="1020" b="1" dirty="0">
                <a:solidFill>
                  <a:srgbClr val="111111"/>
                </a:solidFill>
                <a:latin typeface="Helvetica" pitchFamily="34" charset="0"/>
                <a:ea typeface="Helvetica" pitchFamily="34" charset="-122"/>
                <a:cs typeface="Helvetica" pitchFamily="34" charset="-120"/>
              </a:rPr>
              <a:t>base de datos relacional</a:t>
            </a:r>
            <a:r>
              <a:rPr lang="en-US" sz="1020" dirty="0">
                <a:solidFill>
                  <a:srgbClr val="111111"/>
                </a:solidFill>
                <a:latin typeface="Helvetica" pitchFamily="34" charset="0"/>
                <a:ea typeface="Helvetica" pitchFamily="34" charset="-122"/>
                <a:cs typeface="Helvetica" pitchFamily="34" charset="-120"/>
              </a:rPr>
              <a:t>.</a:t>
            </a:r>
            <a:endParaRPr lang="en-US" sz="1020" dirty="0"/>
          </a:p>
          <a:p>
            <a:pPr marL="342900" indent="-342900" algn="l">
              <a:lnSpc>
                <a:spcPts val="1326"/>
              </a:lnSpc>
              <a:spcAft>
                <a:spcPts val="300"/>
              </a:spcAft>
              <a:buSzPct val="100000"/>
              <a:buChar char="•"/>
            </a:pPr>
            <a:r>
              <a:rPr lang="en-US" sz="1020" dirty="0">
                <a:solidFill>
                  <a:srgbClr val="111111"/>
                </a:solidFill>
                <a:latin typeface="Helvetica" pitchFamily="34" charset="0"/>
                <a:ea typeface="Helvetica" pitchFamily="34" charset="-122"/>
                <a:cs typeface="Helvetica" pitchFamily="34" charset="-120"/>
              </a:rPr>
              <a:t>No es necesario que un restaurante nuevo entre en operación “en caliente”: se puede reiniciar el sistema.</a:t>
            </a:r>
            <a:endParaRPr lang="en-US" sz="1020" dirty="0"/>
          </a:p>
        </p:txBody>
      </p:sp>
      <p:sp>
        <p:nvSpPr>
          <p:cNvPr id="5" name="Text 3"/>
          <p:cNvSpPr/>
          <p:nvPr/>
        </p:nvSpPr>
        <p:spPr>
          <a:xfrm>
            <a:off x="8800951" y="4842570"/>
            <a:ext cx="64972" cy="148530"/>
          </a:xfrm>
          <a:prstGeom prst="rect">
            <a:avLst/>
          </a:prstGeom>
          <a:noFill/>
          <a:ln/>
        </p:spPr>
        <p:txBody>
          <a:bodyPr wrap="square" lIns="0" tIns="0" rIns="0" bIns="0" rtlCol="0" anchor="t"/>
          <a:lstStyle/>
          <a:p>
            <a:pPr marL="0" indent="0" algn="l">
              <a:lnSpc>
                <a:spcPts val="1170"/>
              </a:lnSpc>
              <a:buNone/>
            </a:pPr>
            <a:r>
              <a:rPr lang="en-US" sz="900" dirty="0">
                <a:solidFill>
                  <a:srgbClr val="9A9A9A"/>
                </a:solidFill>
                <a:latin typeface="Helvetica" pitchFamily="34" charset="0"/>
                <a:ea typeface="Helvetica" pitchFamily="34" charset="-122"/>
                <a:cs typeface="Helvetica" pitchFamily="34" charset="-120"/>
              </a:rPr>
              <a:t>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ounded Rectangle 2"/>
          <p:cNvSpPr/>
          <p:nvPr/>
        </p:nvSpPr>
        <p:spPr>
          <a:xfrm>
            <a:off x="714375" y="1471613"/>
            <a:ext cx="3686175" cy="1850231"/>
          </a:xfrm>
          <a:prstGeom prst="roundRect">
            <a:avLst>
              <a:gd name="adj" fmla="val 617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ounded Rectangle 3"/>
          <p:cNvSpPr/>
          <p:nvPr/>
        </p:nvSpPr>
        <p:spPr>
          <a:xfrm>
            <a:off x="714375" y="3429000"/>
            <a:ext cx="3686175" cy="1614488"/>
          </a:xfrm>
          <a:prstGeom prst="roundRect">
            <a:avLst>
              <a:gd name="adj" fmla="val 707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ounded Rectangle 4"/>
          <p:cNvSpPr/>
          <p:nvPr/>
        </p:nvSpPr>
        <p:spPr>
          <a:xfrm>
            <a:off x="4743450" y="1471611"/>
            <a:ext cx="3686175" cy="1870244"/>
          </a:xfrm>
          <a:prstGeom prst="roundRect">
            <a:avLst>
              <a:gd name="adj" fmla="val 707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 name="Rounded Rectangle 5"/>
          <p:cNvSpPr/>
          <p:nvPr/>
        </p:nvSpPr>
        <p:spPr>
          <a:xfrm>
            <a:off x="4743449" y="3412008"/>
            <a:ext cx="3686175" cy="1648472"/>
          </a:xfrm>
          <a:prstGeom prst="roundRect">
            <a:avLst>
              <a:gd name="adj" fmla="val 617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pic>
        <p:nvPicPr>
          <p:cNvPr id="7" name="Picture 6" descr="image.png"/>
          <p:cNvPicPr>
            <a:picLocks noChangeAspect="1"/>
          </p:cNvPicPr>
          <p:nvPr/>
        </p:nvPicPr>
        <p:blipFill>
          <a:blip r:embed="rId3"/>
          <a:stretch>
            <a:fillRect/>
          </a:stretch>
        </p:blipFill>
        <p:spPr>
          <a:xfrm>
            <a:off x="942975" y="1718071"/>
            <a:ext cx="207169" cy="185738"/>
          </a:xfrm>
          <a:prstGeom prst="rect">
            <a:avLst/>
          </a:prstGeom>
        </p:spPr>
      </p:pic>
      <p:pic>
        <p:nvPicPr>
          <p:cNvPr id="8" name="Picture 7" descr="image.png"/>
          <p:cNvPicPr>
            <a:picLocks noChangeAspect="1"/>
          </p:cNvPicPr>
          <p:nvPr/>
        </p:nvPicPr>
        <p:blipFill>
          <a:blip r:embed="rId4"/>
          <a:stretch>
            <a:fillRect/>
          </a:stretch>
        </p:blipFill>
        <p:spPr>
          <a:xfrm>
            <a:off x="942975" y="3854053"/>
            <a:ext cx="207169" cy="185738"/>
          </a:xfrm>
          <a:prstGeom prst="rect">
            <a:avLst/>
          </a:prstGeom>
        </p:spPr>
      </p:pic>
      <p:pic>
        <p:nvPicPr>
          <p:cNvPr id="9" name="Picture 8" descr="image.png"/>
          <p:cNvPicPr>
            <a:picLocks noChangeAspect="1"/>
          </p:cNvPicPr>
          <p:nvPr/>
        </p:nvPicPr>
        <p:blipFill>
          <a:blip r:embed="rId5"/>
          <a:stretch>
            <a:fillRect/>
          </a:stretch>
        </p:blipFill>
        <p:spPr>
          <a:xfrm>
            <a:off x="4972051" y="1718071"/>
            <a:ext cx="164306" cy="185738"/>
          </a:xfrm>
          <a:prstGeom prst="rect">
            <a:avLst/>
          </a:prstGeom>
        </p:spPr>
      </p:pic>
      <p:pic>
        <p:nvPicPr>
          <p:cNvPr id="10" name="Picture 9" descr="image.png"/>
          <p:cNvPicPr>
            <a:picLocks noChangeAspect="1"/>
          </p:cNvPicPr>
          <p:nvPr/>
        </p:nvPicPr>
        <p:blipFill>
          <a:blip r:embed="rId6"/>
          <a:stretch>
            <a:fillRect/>
          </a:stretch>
        </p:blipFill>
        <p:spPr>
          <a:xfrm>
            <a:off x="4972051" y="3618309"/>
            <a:ext cx="164306" cy="185738"/>
          </a:xfrm>
          <a:prstGeom prst="rect">
            <a:avLst/>
          </a:prstGeom>
        </p:spPr>
      </p:pic>
      <p:sp>
        <p:nvSpPr>
          <p:cNvPr id="11" name="TextBox 10"/>
          <p:cNvSpPr txBox="1"/>
          <p:nvPr/>
        </p:nvSpPr>
        <p:spPr>
          <a:xfrm>
            <a:off x="2879741" y="400051"/>
            <a:ext cx="3384517" cy="450123"/>
          </a:xfrm>
          <a:prstGeom prst="rect">
            <a:avLst/>
          </a:prstGeom>
          <a:noFill/>
        </p:spPr>
        <p:txBody>
          <a:bodyPr wrap="none" lIns="0" tIns="0" rIns="0" bIns="0" anchor="t">
            <a:spAutoFit/>
          </a:bodyPr>
          <a:lstStyle/>
          <a:p>
            <a:pPr algn="ctr"/>
            <a:r>
              <a:rPr sz="2925" b="1" dirty="0">
                <a:solidFill>
                  <a:srgbClr val="000000"/>
                </a:solidFill>
                <a:latin typeface="Inter"/>
              </a:rPr>
              <a:t>Caso de </a:t>
            </a:r>
            <a:r>
              <a:rPr sz="2925" b="1" dirty="0" err="1">
                <a:solidFill>
                  <a:srgbClr val="000000"/>
                </a:solidFill>
                <a:latin typeface="Inter"/>
              </a:rPr>
              <a:t>estudio</a:t>
            </a:r>
            <a:r>
              <a:rPr sz="2925" b="1" dirty="0">
                <a:solidFill>
                  <a:srgbClr val="000000"/>
                </a:solidFill>
                <a:latin typeface="Inter"/>
              </a:rPr>
              <a:t>: </a:t>
            </a:r>
            <a:r>
              <a:rPr sz="2925" b="1" dirty="0" err="1">
                <a:solidFill>
                  <a:srgbClr val="000000"/>
                </a:solidFill>
                <a:latin typeface="Inter"/>
              </a:rPr>
              <a:t>Ñam</a:t>
            </a:r>
            <a:endParaRPr sz="2925" b="1" dirty="0">
              <a:solidFill>
                <a:srgbClr val="000000"/>
              </a:solidFill>
              <a:latin typeface="Inter"/>
            </a:endParaRPr>
          </a:p>
        </p:txBody>
      </p:sp>
      <p:sp>
        <p:nvSpPr>
          <p:cNvPr id="12" name="TextBox 11"/>
          <p:cNvSpPr txBox="1"/>
          <p:nvPr/>
        </p:nvSpPr>
        <p:spPr>
          <a:xfrm>
            <a:off x="2457030" y="907256"/>
            <a:ext cx="4229941" cy="225126"/>
          </a:xfrm>
          <a:prstGeom prst="rect">
            <a:avLst/>
          </a:prstGeom>
          <a:noFill/>
        </p:spPr>
        <p:txBody>
          <a:bodyPr wrap="none" lIns="0" tIns="0" rIns="0" bIns="0" anchor="t">
            <a:spAutoFit/>
          </a:bodyPr>
          <a:lstStyle/>
          <a:p>
            <a:pPr algn="ctr"/>
            <a:r>
              <a:rPr sz="1463" dirty="0" err="1">
                <a:solidFill>
                  <a:srgbClr val="4B5563"/>
                </a:solidFill>
                <a:latin typeface="Inter"/>
              </a:rPr>
              <a:t>Construcción</a:t>
            </a:r>
            <a:r>
              <a:rPr sz="1463" dirty="0">
                <a:solidFill>
                  <a:srgbClr val="4B5563"/>
                </a:solidFill>
                <a:latin typeface="Inter"/>
              </a:rPr>
              <a:t> del </a:t>
            </a:r>
            <a:r>
              <a:rPr sz="1463" b="1" dirty="0" err="1">
                <a:solidFill>
                  <a:srgbClr val="4B5563"/>
                </a:solidFill>
                <a:latin typeface="Inter"/>
              </a:rPr>
              <a:t>Núcleo</a:t>
            </a:r>
            <a:r>
              <a:rPr sz="1463" b="1" dirty="0">
                <a:solidFill>
                  <a:srgbClr val="4B5563"/>
                </a:solidFill>
                <a:latin typeface="Inter"/>
              </a:rPr>
              <a:t> de </a:t>
            </a:r>
            <a:r>
              <a:rPr sz="1463" b="1" dirty="0" err="1">
                <a:solidFill>
                  <a:srgbClr val="4B5563"/>
                </a:solidFill>
                <a:latin typeface="Inter"/>
              </a:rPr>
              <a:t>Pedidos</a:t>
            </a:r>
            <a:r>
              <a:rPr sz="1463" dirty="0">
                <a:solidFill>
                  <a:srgbClr val="4B5563"/>
                </a:solidFill>
                <a:latin typeface="Inter"/>
              </a:rPr>
              <a:t> para la </a:t>
            </a:r>
            <a:r>
              <a:rPr sz="1463" dirty="0" err="1">
                <a:solidFill>
                  <a:srgbClr val="4B5563"/>
                </a:solidFill>
                <a:latin typeface="Inter"/>
              </a:rPr>
              <a:t>plataforma</a:t>
            </a:r>
            <a:r>
              <a:rPr sz="1463" dirty="0">
                <a:solidFill>
                  <a:srgbClr val="4B5563"/>
                </a:solidFill>
                <a:latin typeface="Inter"/>
              </a:rPr>
              <a:t>.</a:t>
            </a:r>
          </a:p>
        </p:txBody>
      </p:sp>
      <p:sp>
        <p:nvSpPr>
          <p:cNvPr id="13" name="TextBox 12"/>
          <p:cNvSpPr txBox="1"/>
          <p:nvPr/>
        </p:nvSpPr>
        <p:spPr>
          <a:xfrm>
            <a:off x="1235869" y="1698378"/>
            <a:ext cx="1212961" cy="225126"/>
          </a:xfrm>
          <a:prstGeom prst="rect">
            <a:avLst/>
          </a:prstGeom>
          <a:noFill/>
        </p:spPr>
        <p:txBody>
          <a:bodyPr wrap="none" lIns="0" tIns="0" rIns="0" bIns="0" anchor="ctr">
            <a:spAutoFit/>
          </a:bodyPr>
          <a:lstStyle/>
          <a:p>
            <a:pPr algn="l"/>
            <a:r>
              <a:rPr sz="1463" b="1">
                <a:solidFill>
                  <a:srgbClr val="8B5CF6"/>
                </a:solidFill>
                <a:latin typeface="Inter"/>
              </a:rPr>
              <a:t>Core y Usuarios</a:t>
            </a:r>
          </a:p>
        </p:txBody>
      </p:sp>
      <p:sp>
        <p:nvSpPr>
          <p:cNvPr id="14" name="TextBox 13"/>
          <p:cNvSpPr txBox="1"/>
          <p:nvPr/>
        </p:nvSpPr>
        <p:spPr>
          <a:xfrm>
            <a:off x="1235869" y="3834359"/>
            <a:ext cx="1048236" cy="225126"/>
          </a:xfrm>
          <a:prstGeom prst="rect">
            <a:avLst/>
          </a:prstGeom>
          <a:noFill/>
        </p:spPr>
        <p:txBody>
          <a:bodyPr wrap="none" lIns="0" tIns="0" rIns="0" bIns="0" anchor="ctr">
            <a:spAutoFit/>
          </a:bodyPr>
          <a:lstStyle/>
          <a:p>
            <a:pPr algn="l"/>
            <a:r>
              <a:rPr sz="1463" b="1">
                <a:solidFill>
                  <a:srgbClr val="8B5CF6"/>
                </a:solidFill>
                <a:latin typeface="Inter"/>
              </a:rPr>
              <a:t>Integraciones</a:t>
            </a:r>
          </a:p>
        </p:txBody>
      </p:sp>
      <p:sp>
        <p:nvSpPr>
          <p:cNvPr id="15" name="TextBox 14"/>
          <p:cNvSpPr txBox="1"/>
          <p:nvPr/>
        </p:nvSpPr>
        <p:spPr>
          <a:xfrm>
            <a:off x="5222082" y="1698378"/>
            <a:ext cx="1109791" cy="225126"/>
          </a:xfrm>
          <a:prstGeom prst="rect">
            <a:avLst/>
          </a:prstGeom>
          <a:noFill/>
        </p:spPr>
        <p:txBody>
          <a:bodyPr wrap="none" lIns="0" tIns="0" rIns="0" bIns="0" anchor="ctr">
            <a:spAutoFit/>
          </a:bodyPr>
          <a:lstStyle/>
          <a:p>
            <a:pPr algn="l"/>
            <a:r>
              <a:rPr sz="1463" b="1">
                <a:solidFill>
                  <a:srgbClr val="8B5CF6"/>
                </a:solidFill>
                <a:latin typeface="Inter"/>
              </a:rPr>
              <a:t>Notificaciones</a:t>
            </a:r>
          </a:p>
        </p:txBody>
      </p:sp>
      <p:sp>
        <p:nvSpPr>
          <p:cNvPr id="16" name="TextBox 15"/>
          <p:cNvSpPr txBox="1"/>
          <p:nvPr/>
        </p:nvSpPr>
        <p:spPr>
          <a:xfrm>
            <a:off x="5222082" y="3598615"/>
            <a:ext cx="1168461" cy="225126"/>
          </a:xfrm>
          <a:prstGeom prst="rect">
            <a:avLst/>
          </a:prstGeom>
          <a:noFill/>
        </p:spPr>
        <p:txBody>
          <a:bodyPr wrap="none" lIns="0" tIns="0" rIns="0" bIns="0" anchor="ctr">
            <a:spAutoFit/>
          </a:bodyPr>
          <a:lstStyle/>
          <a:p>
            <a:pPr algn="l"/>
            <a:r>
              <a:rPr sz="1463" b="1" dirty="0" err="1">
                <a:solidFill>
                  <a:srgbClr val="8B5CF6"/>
                </a:solidFill>
                <a:latin typeface="Inter"/>
              </a:rPr>
              <a:t>Infraestructura</a:t>
            </a:r>
            <a:endParaRPr sz="1463" b="1" dirty="0">
              <a:solidFill>
                <a:srgbClr val="8B5CF6"/>
              </a:solidFill>
              <a:latin typeface="Inter"/>
            </a:endParaRPr>
          </a:p>
        </p:txBody>
      </p:sp>
      <p:sp>
        <p:nvSpPr>
          <p:cNvPr id="17" name="TextBox 16"/>
          <p:cNvSpPr txBox="1"/>
          <p:nvPr/>
        </p:nvSpPr>
        <p:spPr>
          <a:xfrm>
            <a:off x="942975" y="2064544"/>
            <a:ext cx="3300413" cy="468333"/>
          </a:xfrm>
          <a:prstGeom prst="rect">
            <a:avLst/>
          </a:prstGeom>
          <a:noFill/>
        </p:spPr>
        <p:txBody>
          <a:bodyPr wrap="square" lIns="0" tIns="0" rIns="0" bIns="0" anchor="t">
            <a:spAutoFit/>
          </a:bodyPr>
          <a:lstStyle/>
          <a:p>
            <a:pPr>
              <a:lnSpc>
                <a:spcPts val="1856"/>
              </a:lnSpc>
            </a:pPr>
            <a:r>
              <a:rPr sz="1238" b="1">
                <a:solidFill>
                  <a:srgbClr val="1F2937"/>
                </a:solidFill>
                <a:latin typeface="Inter"/>
              </a:rPr>
              <a:t>Catálogo:</a:t>
            </a:r>
            <a:r>
              <a:rPr sz="1238">
                <a:solidFill>
                  <a:srgbClr val="1F2937"/>
                </a:solidFill>
                <a:latin typeface="Inter"/>
              </a:rPr>
              <a:t> Restaurantes, menús y resolución de platos.</a:t>
            </a:r>
          </a:p>
        </p:txBody>
      </p:sp>
      <p:sp>
        <p:nvSpPr>
          <p:cNvPr id="18" name="TextBox 17"/>
          <p:cNvSpPr txBox="1"/>
          <p:nvPr/>
        </p:nvSpPr>
        <p:spPr>
          <a:xfrm>
            <a:off x="942975" y="2621757"/>
            <a:ext cx="3300413" cy="468333"/>
          </a:xfrm>
          <a:prstGeom prst="rect">
            <a:avLst/>
          </a:prstGeom>
          <a:noFill/>
        </p:spPr>
        <p:txBody>
          <a:bodyPr wrap="square" lIns="0" tIns="0" rIns="0" bIns="0" anchor="t">
            <a:spAutoFit/>
          </a:bodyPr>
          <a:lstStyle/>
          <a:p>
            <a:pPr>
              <a:lnSpc>
                <a:spcPts val="1856"/>
              </a:lnSpc>
            </a:pPr>
            <a:r>
              <a:rPr sz="1238" b="1">
                <a:solidFill>
                  <a:srgbClr val="1F2937"/>
                </a:solidFill>
                <a:latin typeface="Inter"/>
              </a:rPr>
              <a:t>Carrito:</a:t>
            </a:r>
            <a:r>
              <a:rPr sz="1238">
                <a:solidFill>
                  <a:srgbClr val="1F2937"/>
                </a:solidFill>
                <a:latin typeface="Inter"/>
              </a:rPr>
              <a:t> Persistente por dispositivo sin autenticación.</a:t>
            </a:r>
          </a:p>
        </p:txBody>
      </p:sp>
      <p:sp>
        <p:nvSpPr>
          <p:cNvPr id="19" name="TextBox 18"/>
          <p:cNvSpPr txBox="1"/>
          <p:nvPr/>
        </p:nvSpPr>
        <p:spPr>
          <a:xfrm>
            <a:off x="942975" y="4200525"/>
            <a:ext cx="2212016" cy="224677"/>
          </a:xfrm>
          <a:prstGeom prst="rect">
            <a:avLst/>
          </a:prstGeom>
          <a:noFill/>
        </p:spPr>
        <p:txBody>
          <a:bodyPr wrap="none" lIns="0" tIns="0" rIns="0" bIns="0" anchor="t">
            <a:spAutoFit/>
          </a:bodyPr>
          <a:lstStyle/>
          <a:p>
            <a:pPr>
              <a:lnSpc>
                <a:spcPts val="1856"/>
              </a:lnSpc>
            </a:pPr>
            <a:r>
              <a:rPr sz="1238" b="1" dirty="0">
                <a:solidFill>
                  <a:srgbClr val="1F2937"/>
                </a:solidFill>
                <a:latin typeface="Inter"/>
              </a:rPr>
              <a:t>Pagos:</a:t>
            </a:r>
            <a:r>
              <a:rPr sz="1238" dirty="0">
                <a:solidFill>
                  <a:srgbClr val="1F2937"/>
                </a:solidFill>
                <a:latin typeface="Inter"/>
              </a:rPr>
              <a:t> </a:t>
            </a:r>
            <a:r>
              <a:rPr sz="1238" dirty="0" err="1">
                <a:solidFill>
                  <a:srgbClr val="1F2937"/>
                </a:solidFill>
                <a:latin typeface="Inter"/>
              </a:rPr>
              <a:t>Cobro</a:t>
            </a:r>
            <a:r>
              <a:rPr sz="1238" dirty="0">
                <a:solidFill>
                  <a:srgbClr val="1F2937"/>
                </a:solidFill>
                <a:latin typeface="Inter"/>
              </a:rPr>
              <a:t> </a:t>
            </a:r>
            <a:r>
              <a:rPr sz="1238" dirty="0" err="1">
                <a:solidFill>
                  <a:srgbClr val="1F2937"/>
                </a:solidFill>
                <a:latin typeface="Inter"/>
              </a:rPr>
              <a:t>vía</a:t>
            </a:r>
            <a:r>
              <a:rPr sz="1238" dirty="0">
                <a:solidFill>
                  <a:srgbClr val="1F2937"/>
                </a:solidFill>
                <a:latin typeface="Inter"/>
              </a:rPr>
              <a:t> </a:t>
            </a:r>
            <a:r>
              <a:rPr sz="1238" dirty="0" err="1">
                <a:solidFill>
                  <a:srgbClr val="1F2937"/>
                </a:solidFill>
                <a:latin typeface="Inter"/>
              </a:rPr>
              <a:t>pasarela</a:t>
            </a:r>
            <a:r>
              <a:rPr sz="1238" dirty="0">
                <a:solidFill>
                  <a:srgbClr val="1F2937"/>
                </a:solidFill>
                <a:latin typeface="Inter"/>
              </a:rPr>
              <a:t> externa.</a:t>
            </a:r>
          </a:p>
        </p:txBody>
      </p:sp>
      <p:sp>
        <p:nvSpPr>
          <p:cNvPr id="20" name="TextBox 19"/>
          <p:cNvSpPr txBox="1"/>
          <p:nvPr/>
        </p:nvSpPr>
        <p:spPr>
          <a:xfrm>
            <a:off x="942975" y="4521994"/>
            <a:ext cx="3300413" cy="468333"/>
          </a:xfrm>
          <a:prstGeom prst="rect">
            <a:avLst/>
          </a:prstGeom>
          <a:noFill/>
        </p:spPr>
        <p:txBody>
          <a:bodyPr wrap="square" lIns="0" tIns="0" rIns="0" bIns="0" anchor="t">
            <a:spAutoFit/>
          </a:bodyPr>
          <a:lstStyle/>
          <a:p>
            <a:pPr>
              <a:lnSpc>
                <a:spcPts val="1856"/>
              </a:lnSpc>
            </a:pPr>
            <a:r>
              <a:rPr sz="1238" b="1">
                <a:solidFill>
                  <a:srgbClr val="1F2937"/>
                </a:solidFill>
                <a:latin typeface="Inter"/>
              </a:rPr>
              <a:t>Logística:</a:t>
            </a:r>
            <a:r>
              <a:rPr sz="1238">
                <a:solidFill>
                  <a:srgbClr val="1F2937"/>
                </a:solidFill>
                <a:latin typeface="Inter"/>
              </a:rPr>
              <a:t> Asignación de repartidores usando mapas.</a:t>
            </a:r>
          </a:p>
        </p:txBody>
      </p:sp>
      <p:sp>
        <p:nvSpPr>
          <p:cNvPr id="21" name="TextBox 20"/>
          <p:cNvSpPr txBox="1"/>
          <p:nvPr/>
        </p:nvSpPr>
        <p:spPr>
          <a:xfrm>
            <a:off x="4972050" y="2064544"/>
            <a:ext cx="3300413" cy="224677"/>
          </a:xfrm>
          <a:prstGeom prst="rect">
            <a:avLst/>
          </a:prstGeom>
          <a:noFill/>
        </p:spPr>
        <p:txBody>
          <a:bodyPr wrap="square" lIns="0" tIns="0" rIns="0" bIns="0" anchor="t">
            <a:spAutoFit/>
          </a:bodyPr>
          <a:lstStyle/>
          <a:p>
            <a:pPr>
              <a:lnSpc>
                <a:spcPts val="1856"/>
              </a:lnSpc>
            </a:pPr>
            <a:r>
              <a:rPr sz="1238" b="1">
                <a:solidFill>
                  <a:srgbClr val="1F2937"/>
                </a:solidFill>
                <a:latin typeface="Inter"/>
              </a:rPr>
              <a:t>Seguimiento:</a:t>
            </a:r>
            <a:r>
              <a:rPr sz="1238">
                <a:solidFill>
                  <a:srgbClr val="1F2937"/>
                </a:solidFill>
                <a:latin typeface="Inter"/>
              </a:rPr>
              <a:t> Alertas en cada cambio de estado.</a:t>
            </a:r>
          </a:p>
        </p:txBody>
      </p:sp>
      <p:sp>
        <p:nvSpPr>
          <p:cNvPr id="22" name="TextBox 21"/>
          <p:cNvSpPr txBox="1"/>
          <p:nvPr/>
        </p:nvSpPr>
        <p:spPr>
          <a:xfrm>
            <a:off x="4972050" y="2621757"/>
            <a:ext cx="2122504" cy="224677"/>
          </a:xfrm>
          <a:prstGeom prst="rect">
            <a:avLst/>
          </a:prstGeom>
          <a:noFill/>
        </p:spPr>
        <p:txBody>
          <a:bodyPr wrap="none" lIns="0" tIns="0" rIns="0" bIns="0" anchor="t">
            <a:spAutoFit/>
          </a:bodyPr>
          <a:lstStyle/>
          <a:p>
            <a:pPr>
              <a:lnSpc>
                <a:spcPts val="1856"/>
              </a:lnSpc>
            </a:pPr>
            <a:r>
              <a:rPr sz="1238" b="1">
                <a:solidFill>
                  <a:srgbClr val="1F2937"/>
                </a:solidFill>
                <a:latin typeface="Inter"/>
              </a:rPr>
              <a:t>Canales:</a:t>
            </a:r>
            <a:r>
              <a:rPr sz="1238">
                <a:solidFill>
                  <a:srgbClr val="1F2937"/>
                </a:solidFill>
                <a:latin typeface="Inter"/>
              </a:rPr>
              <a:t> Push, WhatsApp o SMS.</a:t>
            </a:r>
          </a:p>
        </p:txBody>
      </p:sp>
      <p:sp>
        <p:nvSpPr>
          <p:cNvPr id="23" name="TextBox 22"/>
          <p:cNvSpPr txBox="1"/>
          <p:nvPr/>
        </p:nvSpPr>
        <p:spPr>
          <a:xfrm>
            <a:off x="4972050" y="3964782"/>
            <a:ext cx="3300413" cy="224677"/>
          </a:xfrm>
          <a:prstGeom prst="rect">
            <a:avLst/>
          </a:prstGeom>
          <a:noFill/>
        </p:spPr>
        <p:txBody>
          <a:bodyPr wrap="square" lIns="0" tIns="0" rIns="0" bIns="0" anchor="t">
            <a:spAutoFit/>
          </a:bodyPr>
          <a:lstStyle/>
          <a:p>
            <a:pPr>
              <a:lnSpc>
                <a:spcPts val="1856"/>
              </a:lnSpc>
            </a:pPr>
            <a:r>
              <a:rPr sz="1238" b="1">
                <a:solidFill>
                  <a:srgbClr val="1F2937"/>
                </a:solidFill>
                <a:latin typeface="Inter"/>
              </a:rPr>
              <a:t>Datos:</a:t>
            </a:r>
            <a:r>
              <a:rPr sz="1238">
                <a:solidFill>
                  <a:srgbClr val="1F2937"/>
                </a:solidFill>
                <a:latin typeface="Inter"/>
              </a:rPr>
              <a:t> Base relacional para historial y menús.</a:t>
            </a:r>
          </a:p>
        </p:txBody>
      </p:sp>
      <p:sp>
        <p:nvSpPr>
          <p:cNvPr id="24" name="TextBox 23"/>
          <p:cNvSpPr txBox="1"/>
          <p:nvPr/>
        </p:nvSpPr>
        <p:spPr>
          <a:xfrm>
            <a:off x="4972050" y="4521994"/>
            <a:ext cx="3300413" cy="468333"/>
          </a:xfrm>
          <a:prstGeom prst="rect">
            <a:avLst/>
          </a:prstGeom>
          <a:noFill/>
        </p:spPr>
        <p:txBody>
          <a:bodyPr wrap="square" lIns="0" tIns="0" rIns="0" bIns="0" anchor="t">
            <a:spAutoFit/>
          </a:bodyPr>
          <a:lstStyle/>
          <a:p>
            <a:pPr>
              <a:lnSpc>
                <a:spcPts val="1856"/>
              </a:lnSpc>
            </a:pPr>
            <a:r>
              <a:rPr sz="1238" b="1">
                <a:solidFill>
                  <a:srgbClr val="1F2937"/>
                </a:solidFill>
                <a:latin typeface="Inter"/>
              </a:rPr>
              <a:t>Multimedia:</a:t>
            </a:r>
            <a:r>
              <a:rPr sz="1238">
                <a:solidFill>
                  <a:srgbClr val="1F2937"/>
                </a:solidFill>
                <a:latin typeface="Inter"/>
              </a:rPr>
              <a:t> Fotos servidas como archivos estáticos.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04800"/>
            <a:ext cx="8394192" cy="312837"/>
          </a:xfrm>
          <a:prstGeom prst="rect">
            <a:avLst/>
          </a:prstGeom>
          <a:noFill/>
          <a:ln/>
        </p:spPr>
        <p:txBody>
          <a:bodyPr wrap="square" lIns="0" tIns="0" rIns="0" bIns="0" rtlCol="0" anchor="t"/>
          <a:lstStyle/>
          <a:p>
            <a:pPr marL="0" indent="0" algn="l">
              <a:lnSpc>
                <a:spcPts val="2464"/>
              </a:lnSpc>
              <a:spcBef>
                <a:spcPts val="2400"/>
              </a:spcBef>
              <a:buNone/>
            </a:pPr>
            <a:r>
              <a:rPr lang="en-US" sz="2200" b="1" dirty="0">
                <a:solidFill>
                  <a:srgbClr val="111111"/>
                </a:solidFill>
                <a:latin typeface="Helvetica" pitchFamily="34" charset="0"/>
                <a:ea typeface="Helvetica" pitchFamily="34" charset="-122"/>
                <a:cs typeface="Helvetica" pitchFamily="34" charset="-120"/>
              </a:rPr>
              <a:t>El contexto del sistema</a:t>
            </a:r>
            <a:endParaRPr lang="en-US" sz="2200" dirty="0"/>
          </a:p>
        </p:txBody>
      </p:sp>
      <p:sp>
        <p:nvSpPr>
          <p:cNvPr id="3" name="Text 1"/>
          <p:cNvSpPr/>
          <p:nvPr/>
        </p:nvSpPr>
        <p:spPr>
          <a:xfrm>
            <a:off x="431750" y="770037"/>
            <a:ext cx="8445957" cy="313730"/>
          </a:xfrm>
          <a:prstGeom prst="rect">
            <a:avLst/>
          </a:prstGeom>
          <a:noFill/>
          <a:ln/>
        </p:spPr>
        <p:txBody>
          <a:bodyPr wrap="square" lIns="0" tIns="0" rIns="0" bIns="0" rtlCol="0" anchor="t"/>
          <a:lstStyle/>
          <a:p>
            <a:pPr marL="0" indent="0" algn="l">
              <a:lnSpc>
                <a:spcPts val="1235"/>
              </a:lnSpc>
              <a:spcAft>
                <a:spcPts val="600"/>
              </a:spcAft>
              <a:buNone/>
            </a:pPr>
            <a:r>
              <a:rPr lang="en-US" sz="950" dirty="0">
                <a:solidFill>
                  <a:srgbClr val="5E5E5E"/>
                </a:solidFill>
                <a:latin typeface="Helvetica" pitchFamily="34" charset="0"/>
                <a:ea typeface="Helvetica" pitchFamily="34" charset="-122"/>
                <a:cs typeface="Helvetica" pitchFamily="34" charset="-120"/>
              </a:rPr>
              <a:t>La frontera del sistema completo: qué hace Ñam, cómo se ve desde afuera y con qué elementos externos interactúa. Todavía no sabemos nada de lo que hay por dentro.</a:t>
            </a:r>
            <a:endParaRPr lang="en-US" sz="950" dirty="0"/>
          </a:p>
        </p:txBody>
      </p:sp>
      <p:pic>
        <p:nvPicPr>
          <p:cNvPr id="4" name="Image 0" descr="/home/claude/work/build/img/ctx.png"/>
          <p:cNvPicPr>
            <a:picLocks noChangeAspect="1"/>
          </p:cNvPicPr>
          <p:nvPr/>
        </p:nvPicPr>
        <p:blipFill>
          <a:blip r:embed="rId3"/>
          <a:stretch>
            <a:fillRect/>
          </a:stretch>
        </p:blipFill>
        <p:spPr>
          <a:xfrm>
            <a:off x="888950" y="1159966"/>
            <a:ext cx="7365950" cy="3162300"/>
          </a:xfrm>
          <a:prstGeom prst="rect">
            <a:avLst/>
          </a:prstGeom>
        </p:spPr>
      </p:pic>
      <p:sp>
        <p:nvSpPr>
          <p:cNvPr id="5" name="Text 2"/>
          <p:cNvSpPr/>
          <p:nvPr/>
        </p:nvSpPr>
        <p:spPr>
          <a:xfrm>
            <a:off x="8800951" y="4842570"/>
            <a:ext cx="64972" cy="148530"/>
          </a:xfrm>
          <a:prstGeom prst="rect">
            <a:avLst/>
          </a:prstGeom>
          <a:noFill/>
          <a:ln/>
        </p:spPr>
        <p:txBody>
          <a:bodyPr wrap="square" lIns="0" tIns="0" rIns="0" bIns="0" rtlCol="0" anchor="t"/>
          <a:lstStyle/>
          <a:p>
            <a:pPr marL="0" indent="0" algn="l">
              <a:lnSpc>
                <a:spcPts val="1170"/>
              </a:lnSpc>
              <a:buNone/>
            </a:pPr>
            <a:r>
              <a:rPr lang="en-US" sz="900" dirty="0">
                <a:solidFill>
                  <a:srgbClr val="9A9A9A"/>
                </a:solidFill>
                <a:latin typeface="Helvetica" pitchFamily="34" charset="0"/>
                <a:ea typeface="Helvetica" pitchFamily="34" charset="-122"/>
                <a:cs typeface="Helvetica"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ounded Rectangle 2"/>
          <p:cNvSpPr/>
          <p:nvPr/>
        </p:nvSpPr>
        <p:spPr>
          <a:xfrm>
            <a:off x="571501" y="610344"/>
            <a:ext cx="1935956" cy="228600"/>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ounded Rectangle 3"/>
          <p:cNvSpPr/>
          <p:nvPr/>
        </p:nvSpPr>
        <p:spPr>
          <a:xfrm>
            <a:off x="4991035" y="898945"/>
            <a:ext cx="3391029" cy="3345610"/>
          </a:xfrm>
          <a:prstGeom prst="roundRect">
            <a:avLst>
              <a:gd name="adj" fmla="val 256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pic>
        <p:nvPicPr>
          <p:cNvPr id="5" name="Picture 4" descr="image.png"/>
          <p:cNvPicPr>
            <a:picLocks noChangeAspect="1"/>
          </p:cNvPicPr>
          <p:nvPr/>
        </p:nvPicPr>
        <p:blipFill>
          <a:blip r:embed="rId3"/>
          <a:stretch>
            <a:fillRect/>
          </a:stretch>
        </p:blipFill>
        <p:spPr>
          <a:xfrm>
            <a:off x="5123125" y="1019070"/>
            <a:ext cx="3138815" cy="2877072"/>
          </a:xfrm>
          <a:prstGeom prst="rect">
            <a:avLst/>
          </a:prstGeom>
        </p:spPr>
      </p:pic>
      <p:pic>
        <p:nvPicPr>
          <p:cNvPr id="6" name="Picture 5" descr="image.png"/>
          <p:cNvPicPr>
            <a:picLocks noChangeAspect="1"/>
          </p:cNvPicPr>
          <p:nvPr/>
        </p:nvPicPr>
        <p:blipFill>
          <a:blip r:embed="rId4"/>
          <a:stretch>
            <a:fillRect/>
          </a:stretch>
        </p:blipFill>
        <p:spPr>
          <a:xfrm>
            <a:off x="571500" y="2095351"/>
            <a:ext cx="200025" cy="207169"/>
          </a:xfrm>
          <a:prstGeom prst="rect">
            <a:avLst/>
          </a:prstGeom>
        </p:spPr>
      </p:pic>
      <p:pic>
        <p:nvPicPr>
          <p:cNvPr id="7" name="Picture 6" descr="image.png"/>
          <p:cNvPicPr>
            <a:picLocks noChangeAspect="1"/>
          </p:cNvPicPr>
          <p:nvPr/>
        </p:nvPicPr>
        <p:blipFill>
          <a:blip r:embed="rId5"/>
          <a:stretch>
            <a:fillRect/>
          </a:stretch>
        </p:blipFill>
        <p:spPr>
          <a:xfrm>
            <a:off x="571500" y="2555342"/>
            <a:ext cx="228600" cy="207169"/>
          </a:xfrm>
          <a:prstGeom prst="rect">
            <a:avLst/>
          </a:prstGeom>
        </p:spPr>
      </p:pic>
      <p:pic>
        <p:nvPicPr>
          <p:cNvPr id="8" name="Picture 7" descr="image.png"/>
          <p:cNvPicPr>
            <a:picLocks noChangeAspect="1"/>
          </p:cNvPicPr>
          <p:nvPr/>
        </p:nvPicPr>
        <p:blipFill>
          <a:blip r:embed="rId6"/>
          <a:stretch>
            <a:fillRect/>
          </a:stretch>
        </p:blipFill>
        <p:spPr>
          <a:xfrm>
            <a:off x="571500" y="3275298"/>
            <a:ext cx="200025" cy="207169"/>
          </a:xfrm>
          <a:prstGeom prst="rect">
            <a:avLst/>
          </a:prstGeom>
        </p:spPr>
      </p:pic>
      <p:pic>
        <p:nvPicPr>
          <p:cNvPr id="9" name="Picture 8" descr="image.png"/>
          <p:cNvPicPr>
            <a:picLocks noChangeAspect="1"/>
          </p:cNvPicPr>
          <p:nvPr/>
        </p:nvPicPr>
        <p:blipFill>
          <a:blip r:embed="rId7"/>
          <a:stretch>
            <a:fillRect/>
          </a:stretch>
        </p:blipFill>
        <p:spPr>
          <a:xfrm>
            <a:off x="571501" y="3995254"/>
            <a:ext cx="250031" cy="207169"/>
          </a:xfrm>
          <a:prstGeom prst="rect">
            <a:avLst/>
          </a:prstGeom>
        </p:spPr>
      </p:pic>
      <p:sp>
        <p:nvSpPr>
          <p:cNvPr id="10" name="TextBox 9"/>
          <p:cNvSpPr txBox="1"/>
          <p:nvPr/>
        </p:nvSpPr>
        <p:spPr>
          <a:xfrm>
            <a:off x="671513" y="653207"/>
            <a:ext cx="1807369" cy="138499"/>
          </a:xfrm>
          <a:prstGeom prst="rect">
            <a:avLst/>
          </a:prstGeom>
          <a:noFill/>
        </p:spPr>
        <p:txBody>
          <a:bodyPr wrap="square" lIns="0" tIns="0" rIns="0" bIns="0" anchor="t">
            <a:spAutoFit/>
          </a:bodyPr>
          <a:lstStyle/>
          <a:p>
            <a:pPr algn="l"/>
            <a:r>
              <a:rPr sz="900" b="1">
                <a:solidFill>
                  <a:srgbClr val="1D4ED8"/>
                </a:solidFill>
                <a:latin typeface="Inter"/>
              </a:rPr>
              <a:t>ENTRADAS DEL DISEÑO 1 DE 3</a:t>
            </a:r>
          </a:p>
        </p:txBody>
      </p:sp>
      <p:sp>
        <p:nvSpPr>
          <p:cNvPr id="11" name="TextBox 10"/>
          <p:cNvSpPr txBox="1"/>
          <p:nvPr/>
        </p:nvSpPr>
        <p:spPr>
          <a:xfrm>
            <a:off x="571500" y="967531"/>
            <a:ext cx="4035504" cy="820738"/>
          </a:xfrm>
          <a:prstGeom prst="rect">
            <a:avLst/>
          </a:prstGeom>
          <a:noFill/>
        </p:spPr>
        <p:txBody>
          <a:bodyPr wrap="square" lIns="0" tIns="0" rIns="0" bIns="0" anchor="t">
            <a:spAutoFit/>
          </a:bodyPr>
          <a:lstStyle/>
          <a:p>
            <a:pPr>
              <a:lnSpc>
                <a:spcPts val="3217"/>
              </a:lnSpc>
            </a:pPr>
            <a:r>
              <a:rPr sz="2925" b="1">
                <a:solidFill>
                  <a:srgbClr val="111827"/>
                </a:solidFill>
                <a:latin typeface="Inter"/>
              </a:rPr>
              <a:t>Requerimientos</a:t>
            </a:r>
            <a:r>
              <a:rPr sz="1350"/>
              <a:t>
</a:t>
            </a:r>
            <a:r>
              <a:rPr sz="2925" b="1">
                <a:solidFill>
                  <a:srgbClr val="111827"/>
                </a:solidFill>
                <a:latin typeface="Inter"/>
              </a:rPr>
              <a:t> No Funcionales</a:t>
            </a:r>
          </a:p>
        </p:txBody>
      </p:sp>
      <p:sp>
        <p:nvSpPr>
          <p:cNvPr id="12" name="TextBox 11"/>
          <p:cNvSpPr txBox="1"/>
          <p:nvPr/>
        </p:nvSpPr>
        <p:spPr>
          <a:xfrm>
            <a:off x="914400" y="2070348"/>
            <a:ext cx="3500438" cy="225126"/>
          </a:xfrm>
          <a:prstGeom prst="rect">
            <a:avLst/>
          </a:prstGeom>
          <a:noFill/>
        </p:spPr>
        <p:txBody>
          <a:bodyPr wrap="square" lIns="0" tIns="0" rIns="0" bIns="0" anchor="t">
            <a:spAutoFit/>
          </a:bodyPr>
          <a:lstStyle/>
          <a:p>
            <a:pPr algn="l"/>
            <a:r>
              <a:rPr sz="1463" b="1">
                <a:solidFill>
                  <a:srgbClr val="374151"/>
                </a:solidFill>
                <a:latin typeface="Inter"/>
              </a:rPr>
              <a:t>Rendimiento: Carga del menú en &lt; 1s.</a:t>
            </a:r>
          </a:p>
        </p:txBody>
      </p:sp>
      <p:sp>
        <p:nvSpPr>
          <p:cNvPr id="13" name="TextBox 12"/>
          <p:cNvSpPr txBox="1"/>
          <p:nvPr/>
        </p:nvSpPr>
        <p:spPr>
          <a:xfrm>
            <a:off x="942975" y="2530338"/>
            <a:ext cx="3471863" cy="450251"/>
          </a:xfrm>
          <a:prstGeom prst="rect">
            <a:avLst/>
          </a:prstGeom>
          <a:noFill/>
        </p:spPr>
        <p:txBody>
          <a:bodyPr wrap="square" lIns="0" tIns="0" rIns="0" bIns="0" anchor="t">
            <a:spAutoFit/>
          </a:bodyPr>
          <a:lstStyle/>
          <a:p>
            <a:pPr algn="l"/>
            <a:r>
              <a:rPr sz="1463" b="1">
                <a:solidFill>
                  <a:srgbClr val="374151"/>
                </a:solidFill>
                <a:latin typeface="Inter"/>
              </a:rPr>
              <a:t>Picos de Carga: 40% de pedidos entre 11:30 y 13:30.</a:t>
            </a:r>
          </a:p>
        </p:txBody>
      </p:sp>
      <p:sp>
        <p:nvSpPr>
          <p:cNvPr id="14" name="TextBox 13"/>
          <p:cNvSpPr txBox="1"/>
          <p:nvPr/>
        </p:nvSpPr>
        <p:spPr>
          <a:xfrm>
            <a:off x="914400" y="3250294"/>
            <a:ext cx="3500438" cy="450251"/>
          </a:xfrm>
          <a:prstGeom prst="rect">
            <a:avLst/>
          </a:prstGeom>
          <a:noFill/>
        </p:spPr>
        <p:txBody>
          <a:bodyPr wrap="square" lIns="0" tIns="0" rIns="0" bIns="0" anchor="t">
            <a:spAutoFit/>
          </a:bodyPr>
          <a:lstStyle/>
          <a:p>
            <a:pPr algn="l"/>
            <a:r>
              <a:rPr sz="1463" b="1">
                <a:solidFill>
                  <a:srgbClr val="374151"/>
                </a:solidFill>
                <a:latin typeface="Inter"/>
              </a:rPr>
              <a:t>Resiliencia: Pedidos cobrados inmutables a caídas.</a:t>
            </a:r>
          </a:p>
        </p:txBody>
      </p:sp>
      <p:sp>
        <p:nvSpPr>
          <p:cNvPr id="15" name="TextBox 14"/>
          <p:cNvSpPr txBox="1"/>
          <p:nvPr/>
        </p:nvSpPr>
        <p:spPr>
          <a:xfrm>
            <a:off x="964407" y="3970250"/>
            <a:ext cx="3450431" cy="225126"/>
          </a:xfrm>
          <a:prstGeom prst="rect">
            <a:avLst/>
          </a:prstGeom>
          <a:noFill/>
        </p:spPr>
        <p:txBody>
          <a:bodyPr wrap="square" lIns="0" tIns="0" rIns="0" bIns="0" anchor="t">
            <a:spAutoFit/>
          </a:bodyPr>
          <a:lstStyle/>
          <a:p>
            <a:pPr algn="l"/>
            <a:r>
              <a:rPr sz="1463" b="1">
                <a:solidFill>
                  <a:srgbClr val="374151"/>
                </a:solidFill>
                <a:latin typeface="Inter"/>
              </a:rPr>
              <a:t>Concurrencia: 1 repartidor = 1 pedido activo.</a:t>
            </a:r>
          </a:p>
        </p:txBody>
      </p:sp>
      <p:sp>
        <p:nvSpPr>
          <p:cNvPr id="16" name="TextBox 15"/>
          <p:cNvSpPr txBox="1"/>
          <p:nvPr/>
        </p:nvSpPr>
        <p:spPr>
          <a:xfrm>
            <a:off x="4735693" y="3824723"/>
            <a:ext cx="3754676" cy="138499"/>
          </a:xfrm>
          <a:prstGeom prst="rect">
            <a:avLst/>
          </a:prstGeom>
          <a:noFill/>
        </p:spPr>
        <p:txBody>
          <a:bodyPr wrap="square" lIns="0" tIns="0" rIns="0" bIns="0" anchor="t">
            <a:spAutoFit/>
          </a:bodyPr>
          <a:lstStyle/>
          <a:p>
            <a:pPr algn="ctr"/>
            <a:r>
              <a:rPr sz="900" i="1">
                <a:solidFill>
                  <a:srgbClr val="6B7280"/>
                </a:solidFill>
                <a:latin typeface="Inter"/>
              </a:rPr>
              <a:t>"El sistema aguantará", dijeron.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ounded Rectangle 2"/>
          <p:cNvSpPr/>
          <p:nvPr/>
        </p:nvSpPr>
        <p:spPr>
          <a:xfrm>
            <a:off x="571500" y="480417"/>
            <a:ext cx="1957388" cy="228600"/>
          </a:xfrm>
          <a:prstGeom prst="roundRect">
            <a:avLst>
              <a:gd name="adj" fmla="val 50000"/>
            </a:avLst>
          </a:prstGeom>
          <a:solidFill>
            <a:srgbClr val="FC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ounded Rectangle 3"/>
          <p:cNvSpPr/>
          <p:nvPr/>
        </p:nvSpPr>
        <p:spPr>
          <a:xfrm>
            <a:off x="5250579" y="1473394"/>
            <a:ext cx="2871942" cy="2196713"/>
          </a:xfrm>
          <a:prstGeom prst="roundRect">
            <a:avLst>
              <a:gd name="adj" fmla="val 390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pic>
        <p:nvPicPr>
          <p:cNvPr id="5" name="Picture 4" descr="image.png"/>
          <p:cNvPicPr>
            <a:picLocks noChangeAspect="1"/>
          </p:cNvPicPr>
          <p:nvPr/>
        </p:nvPicPr>
        <p:blipFill>
          <a:blip r:embed="rId3"/>
          <a:stretch>
            <a:fillRect/>
          </a:stretch>
        </p:blipFill>
        <p:spPr>
          <a:xfrm>
            <a:off x="5368798" y="1591612"/>
            <a:ext cx="2627525" cy="1731814"/>
          </a:xfrm>
          <a:prstGeom prst="rect">
            <a:avLst/>
          </a:prstGeom>
        </p:spPr>
      </p:pic>
      <p:pic>
        <p:nvPicPr>
          <p:cNvPr id="6" name="Picture 5" descr="image.png"/>
          <p:cNvPicPr>
            <a:picLocks noChangeAspect="1"/>
          </p:cNvPicPr>
          <p:nvPr/>
        </p:nvPicPr>
        <p:blipFill>
          <a:blip r:embed="rId4"/>
          <a:stretch>
            <a:fillRect/>
          </a:stretch>
        </p:blipFill>
        <p:spPr>
          <a:xfrm>
            <a:off x="571500" y="1965424"/>
            <a:ext cx="228600" cy="207169"/>
          </a:xfrm>
          <a:prstGeom prst="rect">
            <a:avLst/>
          </a:prstGeom>
        </p:spPr>
      </p:pic>
      <p:pic>
        <p:nvPicPr>
          <p:cNvPr id="7" name="Picture 6" descr="image.png"/>
          <p:cNvPicPr>
            <a:picLocks noChangeAspect="1"/>
          </p:cNvPicPr>
          <p:nvPr/>
        </p:nvPicPr>
        <p:blipFill>
          <a:blip r:embed="rId5"/>
          <a:stretch>
            <a:fillRect/>
          </a:stretch>
        </p:blipFill>
        <p:spPr>
          <a:xfrm>
            <a:off x="571500" y="2685381"/>
            <a:ext cx="150019" cy="207169"/>
          </a:xfrm>
          <a:prstGeom prst="rect">
            <a:avLst/>
          </a:prstGeom>
        </p:spPr>
      </p:pic>
      <p:pic>
        <p:nvPicPr>
          <p:cNvPr id="8" name="Picture 7" descr="image.png"/>
          <p:cNvPicPr>
            <a:picLocks noChangeAspect="1"/>
          </p:cNvPicPr>
          <p:nvPr/>
        </p:nvPicPr>
        <p:blipFill>
          <a:blip r:embed="rId6"/>
          <a:stretch>
            <a:fillRect/>
          </a:stretch>
        </p:blipFill>
        <p:spPr>
          <a:xfrm>
            <a:off x="571500" y="3405336"/>
            <a:ext cx="228600" cy="207169"/>
          </a:xfrm>
          <a:prstGeom prst="rect">
            <a:avLst/>
          </a:prstGeom>
        </p:spPr>
      </p:pic>
      <p:pic>
        <p:nvPicPr>
          <p:cNvPr id="9" name="Picture 8" descr="image.png"/>
          <p:cNvPicPr>
            <a:picLocks noChangeAspect="1"/>
          </p:cNvPicPr>
          <p:nvPr/>
        </p:nvPicPr>
        <p:blipFill>
          <a:blip r:embed="rId7"/>
          <a:stretch>
            <a:fillRect/>
          </a:stretch>
        </p:blipFill>
        <p:spPr>
          <a:xfrm>
            <a:off x="571501" y="4125292"/>
            <a:ext cx="250031" cy="207169"/>
          </a:xfrm>
          <a:prstGeom prst="rect">
            <a:avLst/>
          </a:prstGeom>
        </p:spPr>
      </p:pic>
      <p:sp>
        <p:nvSpPr>
          <p:cNvPr id="10" name="TextBox 9"/>
          <p:cNvSpPr txBox="1"/>
          <p:nvPr/>
        </p:nvSpPr>
        <p:spPr>
          <a:xfrm>
            <a:off x="671513" y="523280"/>
            <a:ext cx="1828800" cy="138499"/>
          </a:xfrm>
          <a:prstGeom prst="rect">
            <a:avLst/>
          </a:prstGeom>
          <a:noFill/>
        </p:spPr>
        <p:txBody>
          <a:bodyPr wrap="square" lIns="0" tIns="0" rIns="0" bIns="0" anchor="t">
            <a:spAutoFit/>
          </a:bodyPr>
          <a:lstStyle/>
          <a:p>
            <a:pPr algn="l"/>
            <a:r>
              <a:rPr sz="900" b="1">
                <a:solidFill>
                  <a:srgbClr val="BE185D"/>
                </a:solidFill>
                <a:latin typeface="Inter"/>
              </a:rPr>
              <a:t>ENTRADAS DEL DISEÑO 2 DE 3</a:t>
            </a:r>
          </a:p>
        </p:txBody>
      </p:sp>
      <p:sp>
        <p:nvSpPr>
          <p:cNvPr id="11" name="TextBox 10"/>
          <p:cNvSpPr txBox="1"/>
          <p:nvPr/>
        </p:nvSpPr>
        <p:spPr>
          <a:xfrm>
            <a:off x="571500" y="837604"/>
            <a:ext cx="4035504" cy="820738"/>
          </a:xfrm>
          <a:prstGeom prst="rect">
            <a:avLst/>
          </a:prstGeom>
          <a:noFill/>
        </p:spPr>
        <p:txBody>
          <a:bodyPr wrap="square" lIns="0" tIns="0" rIns="0" bIns="0" anchor="t">
            <a:spAutoFit/>
          </a:bodyPr>
          <a:lstStyle/>
          <a:p>
            <a:pPr>
              <a:lnSpc>
                <a:spcPts val="3217"/>
              </a:lnSpc>
            </a:pPr>
            <a:r>
              <a:rPr sz="2925" b="1">
                <a:solidFill>
                  <a:srgbClr val="111827"/>
                </a:solidFill>
                <a:latin typeface="Inter"/>
              </a:rPr>
              <a:t>Reglas del</a:t>
            </a:r>
            <a:r>
              <a:rPr sz="1350"/>
              <a:t>
</a:t>
            </a:r>
            <a:r>
              <a:rPr sz="2925" b="1">
                <a:solidFill>
                  <a:srgbClr val="111827"/>
                </a:solidFill>
                <a:latin typeface="Inter"/>
              </a:rPr>
              <a:t> Dominio</a:t>
            </a:r>
          </a:p>
        </p:txBody>
      </p:sp>
      <p:sp>
        <p:nvSpPr>
          <p:cNvPr id="12" name="TextBox 11"/>
          <p:cNvSpPr txBox="1"/>
          <p:nvPr/>
        </p:nvSpPr>
        <p:spPr>
          <a:xfrm>
            <a:off x="942975" y="1940421"/>
            <a:ext cx="3471863" cy="450251"/>
          </a:xfrm>
          <a:prstGeom prst="rect">
            <a:avLst/>
          </a:prstGeom>
          <a:noFill/>
        </p:spPr>
        <p:txBody>
          <a:bodyPr wrap="square" lIns="0" tIns="0" rIns="0" bIns="0" anchor="t">
            <a:spAutoFit/>
          </a:bodyPr>
          <a:lstStyle/>
          <a:p>
            <a:pPr algn="l"/>
            <a:r>
              <a:rPr sz="1463" b="1">
                <a:solidFill>
                  <a:srgbClr val="374151"/>
                </a:solidFill>
                <a:latin typeface="Inter"/>
              </a:rPr>
              <a:t>Disponibilidad: Validar horario y zona de cobertura.</a:t>
            </a:r>
          </a:p>
        </p:txBody>
      </p:sp>
      <p:sp>
        <p:nvSpPr>
          <p:cNvPr id="13" name="TextBox 12"/>
          <p:cNvSpPr txBox="1"/>
          <p:nvPr/>
        </p:nvSpPr>
        <p:spPr>
          <a:xfrm>
            <a:off x="864394" y="2660377"/>
            <a:ext cx="3550444" cy="225126"/>
          </a:xfrm>
          <a:prstGeom prst="rect">
            <a:avLst/>
          </a:prstGeom>
          <a:noFill/>
        </p:spPr>
        <p:txBody>
          <a:bodyPr wrap="square" lIns="0" tIns="0" rIns="0" bIns="0" anchor="t">
            <a:spAutoFit/>
          </a:bodyPr>
          <a:lstStyle/>
          <a:p>
            <a:pPr algn="l"/>
            <a:r>
              <a:rPr sz="1463" b="1">
                <a:solidFill>
                  <a:srgbClr val="374151"/>
                </a:solidFill>
                <a:latin typeface="Inter"/>
              </a:rPr>
              <a:t>Liquidación: Total = Platos + Envío + Propina.</a:t>
            </a:r>
          </a:p>
        </p:txBody>
      </p:sp>
      <p:sp>
        <p:nvSpPr>
          <p:cNvPr id="14" name="TextBox 13"/>
          <p:cNvSpPr txBox="1"/>
          <p:nvPr/>
        </p:nvSpPr>
        <p:spPr>
          <a:xfrm>
            <a:off x="942975" y="3380332"/>
            <a:ext cx="3471863" cy="450251"/>
          </a:xfrm>
          <a:prstGeom prst="rect">
            <a:avLst/>
          </a:prstGeom>
          <a:noFill/>
        </p:spPr>
        <p:txBody>
          <a:bodyPr wrap="square" lIns="0" tIns="0" rIns="0" bIns="0" anchor="t">
            <a:spAutoFit/>
          </a:bodyPr>
          <a:lstStyle/>
          <a:p>
            <a:pPr algn="l"/>
            <a:r>
              <a:rPr sz="1463" b="1">
                <a:solidFill>
                  <a:srgbClr val="374151"/>
                </a:solidFill>
                <a:latin typeface="Inter"/>
              </a:rPr>
              <a:t>Transaccionalidad: Sin pago exitoso no hay pedido.</a:t>
            </a:r>
          </a:p>
        </p:txBody>
      </p:sp>
      <p:sp>
        <p:nvSpPr>
          <p:cNvPr id="15" name="TextBox 14"/>
          <p:cNvSpPr txBox="1"/>
          <p:nvPr/>
        </p:nvSpPr>
        <p:spPr>
          <a:xfrm>
            <a:off x="964407" y="4100289"/>
            <a:ext cx="3450431" cy="225126"/>
          </a:xfrm>
          <a:prstGeom prst="rect">
            <a:avLst/>
          </a:prstGeom>
          <a:noFill/>
        </p:spPr>
        <p:txBody>
          <a:bodyPr wrap="square" lIns="0" tIns="0" rIns="0" bIns="0" anchor="t">
            <a:spAutoFit/>
          </a:bodyPr>
          <a:lstStyle/>
          <a:p>
            <a:pPr algn="l"/>
            <a:r>
              <a:rPr sz="1463" b="1">
                <a:solidFill>
                  <a:srgbClr val="374151"/>
                </a:solidFill>
                <a:latin typeface="Inter"/>
              </a:rPr>
              <a:t>Exclusividad: 1 pedido = 1 solo restaurante.</a:t>
            </a:r>
          </a:p>
        </p:txBody>
      </p:sp>
      <p:sp>
        <p:nvSpPr>
          <p:cNvPr id="16" name="TextBox 15"/>
          <p:cNvSpPr txBox="1"/>
          <p:nvPr/>
        </p:nvSpPr>
        <p:spPr>
          <a:xfrm>
            <a:off x="5107236" y="3319347"/>
            <a:ext cx="3218961" cy="138499"/>
          </a:xfrm>
          <a:prstGeom prst="rect">
            <a:avLst/>
          </a:prstGeom>
          <a:noFill/>
        </p:spPr>
        <p:txBody>
          <a:bodyPr wrap="square" lIns="0" tIns="0" rIns="0" bIns="0" anchor="t">
            <a:spAutoFit/>
          </a:bodyPr>
          <a:lstStyle/>
          <a:p>
            <a:pPr algn="ctr"/>
            <a:r>
              <a:rPr sz="900" i="1">
                <a:solidFill>
                  <a:srgbClr val="6B7280"/>
                </a:solidFill>
                <a:latin typeface="Inter"/>
              </a:rPr>
              <a:t>Calculando el recargo por lluvia y propina...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ounded Rectangle 2"/>
          <p:cNvSpPr/>
          <p:nvPr/>
        </p:nvSpPr>
        <p:spPr>
          <a:xfrm>
            <a:off x="571501" y="668834"/>
            <a:ext cx="1964531" cy="228600"/>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ectangle 3"/>
          <p:cNvSpPr/>
          <p:nvPr/>
        </p:nvSpPr>
        <p:spPr>
          <a:xfrm>
            <a:off x="571500" y="3705932"/>
            <a:ext cx="3771900" cy="725760"/>
          </a:xfrm>
          <a:prstGeom prst="rect">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ounded Rectangle 4"/>
          <p:cNvSpPr/>
          <p:nvPr/>
        </p:nvSpPr>
        <p:spPr>
          <a:xfrm>
            <a:off x="5049859" y="1257447"/>
            <a:ext cx="3273380" cy="2628493"/>
          </a:xfrm>
          <a:prstGeom prst="roundRect">
            <a:avLst>
              <a:gd name="adj" fmla="val 326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 name="Rectangle 5"/>
          <p:cNvSpPr/>
          <p:nvPr/>
        </p:nvSpPr>
        <p:spPr>
          <a:xfrm>
            <a:off x="571500" y="3705932"/>
            <a:ext cx="42863" cy="72576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pic>
        <p:nvPicPr>
          <p:cNvPr id="7" name="Picture 6" descr="image.png"/>
          <p:cNvPicPr>
            <a:picLocks noChangeAspect="1"/>
          </p:cNvPicPr>
          <p:nvPr/>
        </p:nvPicPr>
        <p:blipFill>
          <a:blip r:embed="rId3"/>
          <a:stretch>
            <a:fillRect/>
          </a:stretch>
        </p:blipFill>
        <p:spPr>
          <a:xfrm>
            <a:off x="5170126" y="1373725"/>
            <a:ext cx="3036836" cy="2167373"/>
          </a:xfrm>
          <a:prstGeom prst="rect">
            <a:avLst/>
          </a:prstGeom>
        </p:spPr>
      </p:pic>
      <p:pic>
        <p:nvPicPr>
          <p:cNvPr id="8" name="Picture 7" descr="image.png"/>
          <p:cNvPicPr>
            <a:picLocks noChangeAspect="1"/>
          </p:cNvPicPr>
          <p:nvPr/>
        </p:nvPicPr>
        <p:blipFill>
          <a:blip r:embed="rId4"/>
          <a:stretch>
            <a:fillRect/>
          </a:stretch>
        </p:blipFill>
        <p:spPr>
          <a:xfrm>
            <a:off x="571500" y="1745307"/>
            <a:ext cx="228600" cy="207169"/>
          </a:xfrm>
          <a:prstGeom prst="rect">
            <a:avLst/>
          </a:prstGeom>
        </p:spPr>
      </p:pic>
      <p:pic>
        <p:nvPicPr>
          <p:cNvPr id="9" name="Picture 8" descr="image.png"/>
          <p:cNvPicPr>
            <a:picLocks noChangeAspect="1"/>
          </p:cNvPicPr>
          <p:nvPr/>
        </p:nvPicPr>
        <p:blipFill>
          <a:blip r:embed="rId5"/>
          <a:stretch>
            <a:fillRect/>
          </a:stretch>
        </p:blipFill>
        <p:spPr>
          <a:xfrm>
            <a:off x="571500" y="2465263"/>
            <a:ext cx="178594" cy="207169"/>
          </a:xfrm>
          <a:prstGeom prst="rect">
            <a:avLst/>
          </a:prstGeom>
        </p:spPr>
      </p:pic>
      <p:pic>
        <p:nvPicPr>
          <p:cNvPr id="10" name="Picture 9" descr="image.png"/>
          <p:cNvPicPr>
            <a:picLocks noChangeAspect="1"/>
          </p:cNvPicPr>
          <p:nvPr/>
        </p:nvPicPr>
        <p:blipFill>
          <a:blip r:embed="rId6"/>
          <a:stretch>
            <a:fillRect/>
          </a:stretch>
        </p:blipFill>
        <p:spPr>
          <a:xfrm>
            <a:off x="571500" y="3167359"/>
            <a:ext cx="171450" cy="242888"/>
          </a:xfrm>
          <a:prstGeom prst="rect">
            <a:avLst/>
          </a:prstGeom>
        </p:spPr>
      </p:pic>
      <p:sp>
        <p:nvSpPr>
          <p:cNvPr id="11" name="TextBox 10"/>
          <p:cNvSpPr txBox="1"/>
          <p:nvPr/>
        </p:nvSpPr>
        <p:spPr>
          <a:xfrm>
            <a:off x="671513" y="711697"/>
            <a:ext cx="1835944" cy="138499"/>
          </a:xfrm>
          <a:prstGeom prst="rect">
            <a:avLst/>
          </a:prstGeom>
          <a:noFill/>
        </p:spPr>
        <p:txBody>
          <a:bodyPr wrap="square" lIns="0" tIns="0" rIns="0" bIns="0" anchor="t">
            <a:spAutoFit/>
          </a:bodyPr>
          <a:lstStyle/>
          <a:p>
            <a:pPr algn="l"/>
            <a:r>
              <a:rPr sz="900" b="1">
                <a:solidFill>
                  <a:srgbClr val="B45309"/>
                </a:solidFill>
                <a:latin typeface="Inter"/>
              </a:rPr>
              <a:t>ENTRADAS DEL DISEÑO 3 DE 3</a:t>
            </a:r>
          </a:p>
        </p:txBody>
      </p:sp>
      <p:sp>
        <p:nvSpPr>
          <p:cNvPr id="12" name="TextBox 11"/>
          <p:cNvSpPr txBox="1"/>
          <p:nvPr/>
        </p:nvSpPr>
        <p:spPr>
          <a:xfrm>
            <a:off x="571500" y="1026021"/>
            <a:ext cx="2042097" cy="410369"/>
          </a:xfrm>
          <a:prstGeom prst="rect">
            <a:avLst/>
          </a:prstGeom>
          <a:noFill/>
        </p:spPr>
        <p:txBody>
          <a:bodyPr wrap="none" lIns="0" tIns="0" rIns="0" bIns="0" anchor="t">
            <a:spAutoFit/>
          </a:bodyPr>
          <a:lstStyle/>
          <a:p>
            <a:pPr>
              <a:lnSpc>
                <a:spcPts val="3217"/>
              </a:lnSpc>
            </a:pPr>
            <a:r>
              <a:rPr sz="2925" b="1">
                <a:solidFill>
                  <a:srgbClr val="111827"/>
                </a:solidFill>
                <a:latin typeface="Inter"/>
              </a:rPr>
              <a:t>Restricciones</a:t>
            </a:r>
          </a:p>
        </p:txBody>
      </p:sp>
      <p:sp>
        <p:nvSpPr>
          <p:cNvPr id="13" name="TextBox 12"/>
          <p:cNvSpPr txBox="1"/>
          <p:nvPr/>
        </p:nvSpPr>
        <p:spPr>
          <a:xfrm>
            <a:off x="942975" y="1720304"/>
            <a:ext cx="3471863" cy="450251"/>
          </a:xfrm>
          <a:prstGeom prst="rect">
            <a:avLst/>
          </a:prstGeom>
          <a:noFill/>
        </p:spPr>
        <p:txBody>
          <a:bodyPr wrap="square" lIns="0" tIns="0" rIns="0" bIns="0" anchor="t">
            <a:spAutoFit/>
          </a:bodyPr>
          <a:lstStyle/>
          <a:p>
            <a:pPr algn="l"/>
            <a:r>
              <a:rPr sz="1463" b="1">
                <a:solidFill>
                  <a:srgbClr val="374151"/>
                </a:solidFill>
                <a:latin typeface="Inter"/>
              </a:rPr>
              <a:t>Presupuesto: Minimizar consultas (API externa cobra).</a:t>
            </a:r>
          </a:p>
        </p:txBody>
      </p:sp>
      <p:sp>
        <p:nvSpPr>
          <p:cNvPr id="14" name="TextBox 13"/>
          <p:cNvSpPr txBox="1"/>
          <p:nvPr/>
        </p:nvSpPr>
        <p:spPr>
          <a:xfrm>
            <a:off x="892969" y="2440260"/>
            <a:ext cx="3521869" cy="450251"/>
          </a:xfrm>
          <a:prstGeom prst="rect">
            <a:avLst/>
          </a:prstGeom>
          <a:noFill/>
        </p:spPr>
        <p:txBody>
          <a:bodyPr wrap="square" lIns="0" tIns="0" rIns="0" bIns="0" anchor="t">
            <a:spAutoFit/>
          </a:bodyPr>
          <a:lstStyle/>
          <a:p>
            <a:pPr algn="l"/>
            <a:r>
              <a:rPr sz="1463" b="1">
                <a:solidFill>
                  <a:srgbClr val="374151"/>
                </a:solidFill>
                <a:latin typeface="Inter"/>
              </a:rPr>
              <a:t>Legado: BD relacional ya existe e inmodificable.</a:t>
            </a:r>
          </a:p>
        </p:txBody>
      </p:sp>
      <p:sp>
        <p:nvSpPr>
          <p:cNvPr id="15" name="TextBox 14"/>
          <p:cNvSpPr txBox="1"/>
          <p:nvPr/>
        </p:nvSpPr>
        <p:spPr>
          <a:xfrm>
            <a:off x="885825" y="3160216"/>
            <a:ext cx="3529013" cy="276999"/>
          </a:xfrm>
          <a:prstGeom prst="rect">
            <a:avLst/>
          </a:prstGeom>
          <a:noFill/>
        </p:spPr>
        <p:txBody>
          <a:bodyPr wrap="square" lIns="0" tIns="0" rIns="0" bIns="0" anchor="t">
            <a:spAutoFit/>
          </a:bodyPr>
          <a:lstStyle/>
          <a:p>
            <a:pPr algn="l"/>
            <a:r>
              <a:rPr>
                <a:solidFill>
                  <a:srgbClr val="0F172A"/>
                </a:solidFill>
                <a:latin typeface="Inter"/>
              </a:rPr>
              <a:t> </a:t>
            </a:r>
            <a:r>
              <a:rPr sz="1463" b="1">
                <a:solidFill>
                  <a:srgbClr val="374151"/>
                </a:solidFill>
                <a:latin typeface="Inter"/>
              </a:rPr>
              <a:t>Equipo:</a:t>
            </a:r>
            <a:r>
              <a:rPr sz="1463">
                <a:solidFill>
                  <a:srgbClr val="374151"/>
                </a:solidFill>
                <a:latin typeface="Inter"/>
              </a:rPr>
              <a:t> 4 desarrolladores, stack Java.</a:t>
            </a:r>
          </a:p>
        </p:txBody>
      </p:sp>
      <p:sp>
        <p:nvSpPr>
          <p:cNvPr id="16" name="TextBox 15"/>
          <p:cNvSpPr txBox="1"/>
          <p:nvPr/>
        </p:nvSpPr>
        <p:spPr>
          <a:xfrm>
            <a:off x="785813" y="3848807"/>
            <a:ext cx="3457575" cy="423449"/>
          </a:xfrm>
          <a:prstGeom prst="rect">
            <a:avLst/>
          </a:prstGeom>
          <a:noFill/>
        </p:spPr>
        <p:txBody>
          <a:bodyPr wrap="square" lIns="0" tIns="0" rIns="0" bIns="0" anchor="t">
            <a:spAutoFit/>
          </a:bodyPr>
          <a:lstStyle/>
          <a:p>
            <a:pPr>
              <a:lnSpc>
                <a:spcPts val="1733"/>
              </a:lnSpc>
            </a:pPr>
            <a:r>
              <a:rPr sz="1238" b="1">
                <a:solidFill>
                  <a:srgbClr val="991B1B"/>
                </a:solidFill>
                <a:latin typeface="Inter"/>
              </a:rPr>
              <a:t>"Si estas líneas no están claras, no estamos diseñando: estamos adivinando."</a:t>
            </a:r>
          </a:p>
        </p:txBody>
      </p:sp>
      <p:sp>
        <p:nvSpPr>
          <p:cNvPr id="17" name="TextBox 16"/>
          <p:cNvSpPr txBox="1"/>
          <p:nvPr/>
        </p:nvSpPr>
        <p:spPr>
          <a:xfrm>
            <a:off x="4790836" y="3574447"/>
            <a:ext cx="3753014" cy="138499"/>
          </a:xfrm>
          <a:prstGeom prst="rect">
            <a:avLst/>
          </a:prstGeom>
          <a:noFill/>
        </p:spPr>
        <p:txBody>
          <a:bodyPr wrap="square" lIns="0" tIns="0" rIns="0" bIns="0" anchor="t">
            <a:spAutoFit/>
          </a:bodyPr>
          <a:lstStyle/>
          <a:p>
            <a:pPr algn="ctr"/>
            <a:r>
              <a:rPr sz="900" i="1" dirty="0">
                <a:solidFill>
                  <a:srgbClr val="6B7280"/>
                </a:solidFill>
                <a:latin typeface="Inter"/>
              </a:rPr>
              <a:t>Todo el </a:t>
            </a:r>
            <a:r>
              <a:rPr sz="900" i="1" dirty="0" err="1">
                <a:solidFill>
                  <a:srgbClr val="6B7280"/>
                </a:solidFill>
                <a:latin typeface="Inter"/>
              </a:rPr>
              <a:t>equipo</a:t>
            </a:r>
            <a:r>
              <a:rPr sz="900" i="1" dirty="0">
                <a:solidFill>
                  <a:srgbClr val="6B7280"/>
                </a:solidFill>
                <a:latin typeface="Inter"/>
              </a:rPr>
              <a:t> </a:t>
            </a:r>
            <a:r>
              <a:rPr sz="900" i="1" dirty="0" err="1">
                <a:solidFill>
                  <a:srgbClr val="6B7280"/>
                </a:solidFill>
                <a:latin typeface="Inter"/>
              </a:rPr>
              <a:t>trabajando</a:t>
            </a:r>
            <a:r>
              <a:rPr sz="900" i="1" dirty="0">
                <a:solidFill>
                  <a:srgbClr val="6B7280"/>
                </a:solidFill>
                <a:latin typeface="Inter"/>
              </a:rPr>
              <a:t> con Java </a:t>
            </a:r>
            <a:r>
              <a:rPr sz="900" i="1" dirty="0" err="1">
                <a:solidFill>
                  <a:srgbClr val="6B7280"/>
                </a:solidFill>
                <a:latin typeface="Inter"/>
              </a:rPr>
              <a:t>en</a:t>
            </a:r>
            <a:r>
              <a:rPr sz="900" i="1" dirty="0">
                <a:solidFill>
                  <a:srgbClr val="6B7280"/>
                </a:solidFill>
                <a:latin typeface="Inter"/>
              </a:rPr>
              <a:t> 202</a:t>
            </a:r>
            <a:r>
              <a:rPr lang="es-CO" sz="900" i="1" dirty="0">
                <a:solidFill>
                  <a:srgbClr val="6B7280"/>
                </a:solidFill>
                <a:latin typeface="Inter"/>
              </a:rPr>
              <a:t>6</a:t>
            </a:r>
            <a:r>
              <a:rPr sz="900" i="1" dirty="0">
                <a:solidFill>
                  <a:srgbClr val="6B7280"/>
                </a:solidFill>
                <a:latin typeface="Inter"/>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04800"/>
            <a:ext cx="8394192" cy="312837"/>
          </a:xfrm>
          <a:prstGeom prst="rect">
            <a:avLst/>
          </a:prstGeom>
          <a:noFill/>
          <a:ln/>
        </p:spPr>
        <p:txBody>
          <a:bodyPr wrap="square" lIns="0" tIns="0" rIns="0" bIns="0" rtlCol="0" anchor="t"/>
          <a:lstStyle/>
          <a:p>
            <a:pPr marL="0" indent="0" algn="l">
              <a:lnSpc>
                <a:spcPts val="2464"/>
              </a:lnSpc>
              <a:spcBef>
                <a:spcPts val="2400"/>
              </a:spcBef>
              <a:buNone/>
            </a:pPr>
            <a:r>
              <a:rPr lang="en-US" sz="2200" b="1" dirty="0">
                <a:solidFill>
                  <a:srgbClr val="111111"/>
                </a:solidFill>
                <a:latin typeface="Helvetica" pitchFamily="34" charset="0"/>
                <a:ea typeface="Helvetica" pitchFamily="34" charset="-122"/>
                <a:cs typeface="Helvetica" pitchFamily="34" charset="-120"/>
              </a:rPr>
              <a:t>Descomposición del problema</a:t>
            </a:r>
            <a:endParaRPr lang="en-US" sz="2200" dirty="0"/>
          </a:p>
        </p:txBody>
      </p:sp>
      <p:sp>
        <p:nvSpPr>
          <p:cNvPr id="3" name="Text 1"/>
          <p:cNvSpPr/>
          <p:nvPr/>
        </p:nvSpPr>
        <p:spPr>
          <a:xfrm>
            <a:off x="622250" y="693837"/>
            <a:ext cx="8089850" cy="749498"/>
          </a:xfrm>
          <a:prstGeom prst="rect">
            <a:avLst/>
          </a:prstGeom>
          <a:noFill/>
          <a:ln/>
        </p:spPr>
        <p:txBody>
          <a:bodyPr wrap="square" lIns="0" tIns="0" rIns="0" bIns="0" rtlCol="0" anchor="t"/>
          <a:lstStyle/>
          <a:p>
            <a:pPr marL="342900" indent="-342900" algn="l">
              <a:lnSpc>
                <a:spcPts val="1326"/>
              </a:lnSpc>
              <a:spcAft>
                <a:spcPts val="300"/>
              </a:spcAft>
              <a:buSzPct val="100000"/>
              <a:buChar char="•"/>
            </a:pPr>
            <a:r>
              <a:rPr lang="en-US" sz="1020" b="1" dirty="0">
                <a:solidFill>
                  <a:srgbClr val="111111"/>
                </a:solidFill>
                <a:latin typeface="Helvetica" pitchFamily="34" charset="0"/>
                <a:ea typeface="Helvetica" pitchFamily="34" charset="-122"/>
                <a:cs typeface="Helvetica" pitchFamily="34" charset="-120"/>
              </a:rPr>
              <a:t>API Móvil:</a:t>
            </a:r>
            <a:r>
              <a:rPr lang="en-US" sz="1020" dirty="0">
                <a:solidFill>
                  <a:srgbClr val="111111"/>
                </a:solidFill>
                <a:latin typeface="Helvetica" pitchFamily="34" charset="0"/>
                <a:ea typeface="Helvetica" pitchFamily="34" charset="-122"/>
                <a:cs typeface="Helvetica" pitchFamily="34" charset="-120"/>
              </a:rPr>
              <a:t> se encarga de hablar con la app (HTTP, JSON, la conexión en vivo para el seguimiento) para que el resto del sistema no tenga que preocuparse por eso.</a:t>
            </a:r>
            <a:endParaRPr lang="en-US" sz="1020" dirty="0"/>
          </a:p>
          <a:p>
            <a:pPr marL="342900" indent="-342900" algn="l">
              <a:lnSpc>
                <a:spcPts val="1326"/>
              </a:lnSpc>
              <a:spcAft>
                <a:spcPts val="300"/>
              </a:spcAft>
              <a:buSzPct val="100000"/>
              <a:buChar char="•"/>
            </a:pPr>
            <a:r>
              <a:rPr lang="en-US" sz="1020" b="1" dirty="0">
                <a:solidFill>
                  <a:srgbClr val="111111"/>
                </a:solidFill>
                <a:latin typeface="Helvetica" pitchFamily="34" charset="0"/>
                <a:ea typeface="Helvetica" pitchFamily="34" charset="-122"/>
                <a:cs typeface="Helvetica" pitchFamily="34" charset="-120"/>
              </a:rPr>
              <a:t>Motor de Notificaciones:</a:t>
            </a:r>
            <a:r>
              <a:rPr lang="en-US" sz="1020" dirty="0">
                <a:solidFill>
                  <a:srgbClr val="111111"/>
                </a:solidFill>
                <a:latin typeface="Helvetica" pitchFamily="34" charset="0"/>
                <a:ea typeface="Helvetica" pitchFamily="34" charset="-122"/>
                <a:cs typeface="Helvetica" pitchFamily="34" charset="-120"/>
              </a:rPr>
              <a:t> está especializado en armar mensajes a partir de plantillas y entregarlos por el canal que corresponda.</a:t>
            </a:r>
            <a:endParaRPr lang="en-US" sz="1020" dirty="0"/>
          </a:p>
          <a:p>
            <a:pPr marL="342900" indent="-342900" algn="l">
              <a:lnSpc>
                <a:spcPts val="1326"/>
              </a:lnSpc>
              <a:spcAft>
                <a:spcPts val="300"/>
              </a:spcAft>
              <a:buSzPct val="100000"/>
              <a:buChar char="•"/>
            </a:pPr>
            <a:r>
              <a:rPr lang="en-US" sz="1020" b="1" dirty="0">
                <a:solidFill>
                  <a:srgbClr val="111111"/>
                </a:solidFill>
                <a:latin typeface="Helvetica" pitchFamily="34" charset="0"/>
                <a:ea typeface="Helvetica" pitchFamily="34" charset="-122"/>
                <a:cs typeface="Helvetica" pitchFamily="34" charset="-120"/>
              </a:rPr>
              <a:t>Núcleo de Pedidos:</a:t>
            </a:r>
            <a:r>
              <a:rPr lang="en-US" sz="1020" dirty="0">
                <a:solidFill>
                  <a:srgbClr val="111111"/>
                </a:solidFill>
                <a:latin typeface="Helvetica" pitchFamily="34" charset="0"/>
                <a:ea typeface="Helvetica" pitchFamily="34" charset="-122"/>
                <a:cs typeface="Helvetica" pitchFamily="34" charset="-120"/>
              </a:rPr>
              <a:t> hace todo lo demás. </a:t>
            </a:r>
            <a:r>
              <a:rPr lang="en-US" sz="1020" b="1" dirty="0">
                <a:solidFill>
                  <a:srgbClr val="0B84D9"/>
                </a:solidFill>
                <a:latin typeface="Helvetica" pitchFamily="34" charset="0"/>
                <a:ea typeface="Helvetica" pitchFamily="34" charset="-122"/>
                <a:cs typeface="Helvetica" pitchFamily="34" charset="-120"/>
              </a:rPr>
              <a:t>Es el componente que vamos a diseñar.</a:t>
            </a:r>
            <a:endParaRPr lang="en-US" sz="1020" dirty="0"/>
          </a:p>
        </p:txBody>
      </p:sp>
      <p:pic>
        <p:nvPicPr>
          <p:cNvPr id="4" name="Image 0" descr="/home/claude/work/build/img/decomp.png"/>
          <p:cNvPicPr>
            <a:picLocks noChangeAspect="1"/>
          </p:cNvPicPr>
          <p:nvPr/>
        </p:nvPicPr>
        <p:blipFill>
          <a:blip r:embed="rId3"/>
          <a:stretch>
            <a:fillRect/>
          </a:stretch>
        </p:blipFill>
        <p:spPr>
          <a:xfrm>
            <a:off x="1015901" y="1544836"/>
            <a:ext cx="7111901" cy="3213050"/>
          </a:xfrm>
          <a:prstGeom prst="rect">
            <a:avLst/>
          </a:prstGeom>
        </p:spPr>
      </p:pic>
      <p:sp>
        <p:nvSpPr>
          <p:cNvPr id="5" name="Text 2"/>
          <p:cNvSpPr/>
          <p:nvPr/>
        </p:nvSpPr>
        <p:spPr>
          <a:xfrm>
            <a:off x="8800951" y="4842570"/>
            <a:ext cx="64972" cy="148530"/>
          </a:xfrm>
          <a:prstGeom prst="rect">
            <a:avLst/>
          </a:prstGeom>
          <a:noFill/>
          <a:ln/>
        </p:spPr>
        <p:txBody>
          <a:bodyPr wrap="square" lIns="0" tIns="0" rIns="0" bIns="0" rtlCol="0" anchor="t"/>
          <a:lstStyle/>
          <a:p>
            <a:pPr marL="0" indent="0" algn="l">
              <a:lnSpc>
                <a:spcPts val="1170"/>
              </a:lnSpc>
              <a:buNone/>
            </a:pPr>
            <a:r>
              <a:rPr lang="en-US" sz="900" dirty="0">
                <a:solidFill>
                  <a:srgbClr val="9A9A9A"/>
                </a:solidFill>
                <a:latin typeface="Helvetica" pitchFamily="34" charset="0"/>
                <a:ea typeface="Helvetica" pitchFamily="34" charset="-122"/>
                <a:cs typeface="Helvetica" pitchFamily="34" charset="-120"/>
              </a:rPr>
              <a:t>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4" name="Rectangle 3"/>
          <p:cNvSpPr/>
          <p:nvPr/>
        </p:nvSpPr>
        <p:spPr>
          <a:xfrm>
            <a:off x="1000125" y="2336006"/>
            <a:ext cx="3286125" cy="1071563"/>
          </a:xfrm>
          <a:prstGeom prst="rect">
            <a:avLst/>
          </a:prstGeom>
          <a:solidFill>
            <a:srgbClr val="EFC4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p:cNvSpPr/>
          <p:nvPr/>
        </p:nvSpPr>
        <p:spPr>
          <a:xfrm>
            <a:off x="4857750" y="2336006"/>
            <a:ext cx="3286125" cy="1071563"/>
          </a:xfrm>
          <a:prstGeom prst="rect">
            <a:avLst/>
          </a:prstGeom>
          <a:solidFill>
            <a:srgbClr val="EFC4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 name="Rectangle 5"/>
          <p:cNvSpPr/>
          <p:nvPr/>
        </p:nvSpPr>
        <p:spPr>
          <a:xfrm>
            <a:off x="1000125" y="3864769"/>
            <a:ext cx="3286125" cy="1071563"/>
          </a:xfrm>
          <a:prstGeom prst="rect">
            <a:avLst/>
          </a:prstGeom>
          <a:solidFill>
            <a:srgbClr val="EFC4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 name="Rectangle 6"/>
          <p:cNvSpPr/>
          <p:nvPr/>
        </p:nvSpPr>
        <p:spPr>
          <a:xfrm>
            <a:off x="4857750" y="3864769"/>
            <a:ext cx="3286125" cy="1071563"/>
          </a:xfrm>
          <a:prstGeom prst="rect">
            <a:avLst/>
          </a:prstGeom>
          <a:solidFill>
            <a:srgbClr val="EFC4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TextBox 7"/>
          <p:cNvSpPr txBox="1"/>
          <p:nvPr/>
        </p:nvSpPr>
        <p:spPr>
          <a:xfrm>
            <a:off x="3410399" y="400051"/>
            <a:ext cx="2323201" cy="450123"/>
          </a:xfrm>
          <a:prstGeom prst="rect">
            <a:avLst/>
          </a:prstGeom>
          <a:noFill/>
        </p:spPr>
        <p:txBody>
          <a:bodyPr wrap="none" lIns="0" tIns="0" rIns="0" bIns="0" anchor="t">
            <a:spAutoFit/>
          </a:bodyPr>
          <a:lstStyle/>
          <a:p>
            <a:pPr algn="ctr"/>
            <a:r>
              <a:rPr sz="2925" b="1">
                <a:solidFill>
                  <a:srgbClr val="000000"/>
                </a:solidFill>
                <a:latin typeface="Inter"/>
              </a:rPr>
              <a:t>Objetos y roles</a:t>
            </a:r>
          </a:p>
        </p:txBody>
      </p:sp>
      <p:sp>
        <p:nvSpPr>
          <p:cNvPr id="9" name="TextBox 8"/>
          <p:cNvSpPr txBox="1"/>
          <p:nvPr/>
        </p:nvSpPr>
        <p:spPr>
          <a:xfrm>
            <a:off x="-22323" y="1200150"/>
            <a:ext cx="9188648" cy="261162"/>
          </a:xfrm>
          <a:prstGeom prst="rect">
            <a:avLst/>
          </a:prstGeom>
          <a:noFill/>
        </p:spPr>
        <p:txBody>
          <a:bodyPr wrap="square" lIns="0" tIns="0" rIns="0" bIns="0" anchor="t">
            <a:spAutoFit/>
          </a:bodyPr>
          <a:lstStyle/>
          <a:p>
            <a:pPr algn="ctr">
              <a:lnSpc>
                <a:spcPts val="2194"/>
              </a:lnSpc>
            </a:pPr>
            <a:r>
              <a:rPr sz="1463" b="1" dirty="0">
                <a:solidFill>
                  <a:srgbClr val="111827"/>
                </a:solidFill>
                <a:latin typeface="Inter"/>
              </a:rPr>
              <a:t>¿</a:t>
            </a:r>
            <a:r>
              <a:rPr sz="1463" b="1" dirty="0" err="1">
                <a:solidFill>
                  <a:srgbClr val="111827"/>
                </a:solidFill>
                <a:latin typeface="Inter"/>
              </a:rPr>
              <a:t>Quiénes</a:t>
            </a:r>
            <a:r>
              <a:rPr sz="1463" b="1" dirty="0">
                <a:solidFill>
                  <a:srgbClr val="111827"/>
                </a:solidFill>
                <a:latin typeface="Inter"/>
              </a:rPr>
              <a:t> </a:t>
            </a:r>
            <a:r>
              <a:rPr sz="1463" b="1" dirty="0" err="1">
                <a:solidFill>
                  <a:srgbClr val="111827"/>
                </a:solidFill>
                <a:latin typeface="Inter"/>
              </a:rPr>
              <a:t>participan</a:t>
            </a:r>
            <a:r>
              <a:rPr sz="1463" b="1" dirty="0">
                <a:solidFill>
                  <a:srgbClr val="111827"/>
                </a:solidFill>
                <a:latin typeface="Inter"/>
              </a:rPr>
              <a:t> </a:t>
            </a:r>
            <a:r>
              <a:rPr sz="1463" b="1" dirty="0" err="1">
                <a:solidFill>
                  <a:srgbClr val="111827"/>
                </a:solidFill>
                <a:latin typeface="Inter"/>
              </a:rPr>
              <a:t>en</a:t>
            </a:r>
            <a:r>
              <a:rPr sz="1463" b="1" dirty="0">
                <a:solidFill>
                  <a:srgbClr val="111827"/>
                </a:solidFill>
                <a:latin typeface="Inter"/>
              </a:rPr>
              <a:t> la </a:t>
            </a:r>
            <a:r>
              <a:rPr sz="1463" b="1" dirty="0" err="1">
                <a:solidFill>
                  <a:srgbClr val="111827"/>
                </a:solidFill>
                <a:latin typeface="Inter"/>
              </a:rPr>
              <a:t>solución</a:t>
            </a:r>
            <a:r>
              <a:rPr sz="1463" b="1" dirty="0">
                <a:solidFill>
                  <a:srgbClr val="111827"/>
                </a:solidFill>
                <a:latin typeface="Inter"/>
              </a:rPr>
              <a:t>?</a:t>
            </a:r>
          </a:p>
        </p:txBody>
      </p:sp>
      <p:sp>
        <p:nvSpPr>
          <p:cNvPr id="10" name="TextBox 9"/>
          <p:cNvSpPr txBox="1"/>
          <p:nvPr/>
        </p:nvSpPr>
        <p:spPr>
          <a:xfrm>
            <a:off x="817960" y="2577412"/>
            <a:ext cx="3650456" cy="588751"/>
          </a:xfrm>
          <a:prstGeom prst="rect">
            <a:avLst/>
          </a:prstGeom>
          <a:noFill/>
        </p:spPr>
        <p:txBody>
          <a:bodyPr wrap="square" lIns="0" tIns="0" rIns="0" bIns="0" anchor="ctr">
            <a:spAutoFit/>
          </a:bodyPr>
          <a:lstStyle/>
          <a:p>
            <a:pPr algn="ctr"/>
            <a:r>
              <a:rPr sz="1913" dirty="0" err="1">
                <a:solidFill>
                  <a:srgbClr val="000000"/>
                </a:solidFill>
                <a:latin typeface="Inter"/>
              </a:rPr>
              <a:t>Identificar</a:t>
            </a:r>
            <a:r>
              <a:rPr sz="1913" dirty="0">
                <a:solidFill>
                  <a:srgbClr val="000000"/>
                </a:solidFill>
                <a:latin typeface="Inter"/>
              </a:rPr>
              <a:t> </a:t>
            </a:r>
            <a:r>
              <a:rPr sz="1913" dirty="0" err="1">
                <a:solidFill>
                  <a:srgbClr val="000000"/>
                </a:solidFill>
                <a:latin typeface="Inter"/>
              </a:rPr>
              <a:t>objetos</a:t>
            </a:r>
            <a:r>
              <a:rPr sz="1350" dirty="0"/>
              <a:t>
</a:t>
            </a:r>
            <a:r>
              <a:rPr sz="1913" dirty="0">
                <a:solidFill>
                  <a:srgbClr val="000000"/>
                </a:solidFill>
                <a:latin typeface="Inter"/>
              </a:rPr>
              <a:t> y roles </a:t>
            </a:r>
            <a:r>
              <a:rPr sz="1913" dirty="0" err="1">
                <a:solidFill>
                  <a:srgbClr val="000000"/>
                </a:solidFill>
                <a:latin typeface="Inter"/>
              </a:rPr>
              <a:t>candidatos</a:t>
            </a:r>
            <a:endParaRPr sz="1913" dirty="0">
              <a:solidFill>
                <a:srgbClr val="000000"/>
              </a:solidFill>
              <a:latin typeface="Inter"/>
            </a:endParaRPr>
          </a:p>
        </p:txBody>
      </p:sp>
      <p:sp>
        <p:nvSpPr>
          <p:cNvPr id="11" name="TextBox 10"/>
          <p:cNvSpPr txBox="1"/>
          <p:nvPr/>
        </p:nvSpPr>
        <p:spPr>
          <a:xfrm>
            <a:off x="4675585" y="2577412"/>
            <a:ext cx="3650456" cy="588751"/>
          </a:xfrm>
          <a:prstGeom prst="rect">
            <a:avLst/>
          </a:prstGeom>
          <a:noFill/>
        </p:spPr>
        <p:txBody>
          <a:bodyPr wrap="square" lIns="0" tIns="0" rIns="0" bIns="0" anchor="ctr">
            <a:spAutoFit/>
          </a:bodyPr>
          <a:lstStyle/>
          <a:p>
            <a:pPr algn="ctr"/>
            <a:r>
              <a:rPr sz="1913">
                <a:solidFill>
                  <a:srgbClr val="000000"/>
                </a:solidFill>
                <a:latin typeface="Inter"/>
              </a:rPr>
              <a:t>Asignarles</a:t>
            </a:r>
            <a:r>
              <a:rPr sz="1350"/>
              <a:t>
</a:t>
            </a:r>
            <a:r>
              <a:rPr sz="1913">
                <a:solidFill>
                  <a:srgbClr val="000000"/>
                </a:solidFill>
                <a:latin typeface="Inter"/>
              </a:rPr>
              <a:t> estereotipos</a:t>
            </a:r>
          </a:p>
        </p:txBody>
      </p:sp>
      <p:sp>
        <p:nvSpPr>
          <p:cNvPr id="12" name="TextBox 11"/>
          <p:cNvSpPr txBox="1"/>
          <p:nvPr/>
        </p:nvSpPr>
        <p:spPr>
          <a:xfrm>
            <a:off x="817960" y="4106175"/>
            <a:ext cx="3650456" cy="588751"/>
          </a:xfrm>
          <a:prstGeom prst="rect">
            <a:avLst/>
          </a:prstGeom>
          <a:noFill/>
        </p:spPr>
        <p:txBody>
          <a:bodyPr wrap="square" lIns="0" tIns="0" rIns="0" bIns="0" anchor="ctr">
            <a:spAutoFit/>
          </a:bodyPr>
          <a:lstStyle/>
          <a:p>
            <a:pPr algn="ctr"/>
            <a:r>
              <a:rPr sz="1913">
                <a:solidFill>
                  <a:srgbClr val="000000"/>
                </a:solidFill>
                <a:latin typeface="Inter"/>
              </a:rPr>
              <a:t>Describir brevemente</a:t>
            </a:r>
            <a:r>
              <a:rPr sz="1350"/>
              <a:t>
</a:t>
            </a:r>
            <a:r>
              <a:rPr sz="1913">
                <a:solidFill>
                  <a:srgbClr val="000000"/>
                </a:solidFill>
                <a:latin typeface="Inter"/>
              </a:rPr>
              <a:t> cada candidato</a:t>
            </a:r>
          </a:p>
        </p:txBody>
      </p:sp>
      <p:sp>
        <p:nvSpPr>
          <p:cNvPr id="13" name="TextBox 12"/>
          <p:cNvSpPr txBox="1"/>
          <p:nvPr/>
        </p:nvSpPr>
        <p:spPr>
          <a:xfrm>
            <a:off x="4675585" y="4106175"/>
            <a:ext cx="3650456" cy="588751"/>
          </a:xfrm>
          <a:prstGeom prst="rect">
            <a:avLst/>
          </a:prstGeom>
          <a:noFill/>
        </p:spPr>
        <p:txBody>
          <a:bodyPr wrap="square" lIns="0" tIns="0" rIns="0" bIns="0" anchor="ctr">
            <a:spAutoFit/>
          </a:bodyPr>
          <a:lstStyle/>
          <a:p>
            <a:pPr algn="ctr"/>
            <a:r>
              <a:rPr sz="1913">
                <a:solidFill>
                  <a:srgbClr val="000000"/>
                </a:solidFill>
                <a:latin typeface="Inter"/>
              </a:rPr>
              <a:t>Buscar agrupaciones</a:t>
            </a:r>
            <a:r>
              <a:rPr sz="1350"/>
              <a:t>
</a:t>
            </a:r>
            <a:r>
              <a:rPr sz="1913">
                <a:solidFill>
                  <a:srgbClr val="000000"/>
                </a:solidFill>
                <a:latin typeface="Inter"/>
              </a:rPr>
              <a:t> entre ellos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ounded Rectangle 2"/>
          <p:cNvSpPr/>
          <p:nvPr/>
        </p:nvSpPr>
        <p:spPr>
          <a:xfrm>
            <a:off x="571500" y="4236244"/>
            <a:ext cx="8001000" cy="507206"/>
          </a:xfrm>
          <a:prstGeom prst="roundRect">
            <a:avLst>
              <a:gd name="adj" fmla="val 19718"/>
            </a:avLst>
          </a:prstGeom>
          <a:solidFill>
            <a:srgbClr val="FFF1F2"/>
          </a:solidFill>
          <a:ln w="9525">
            <a:solidFill>
              <a:srgbClr val="FE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ounded Rectangle 3"/>
          <p:cNvSpPr/>
          <p:nvPr/>
        </p:nvSpPr>
        <p:spPr>
          <a:xfrm>
            <a:off x="3572543" y="113641"/>
            <a:ext cx="1743075" cy="221456"/>
          </a:xfrm>
          <a:prstGeom prst="roundRect">
            <a:avLst>
              <a:gd name="adj" fmla="val 50000"/>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ounded Rectangle 4"/>
          <p:cNvSpPr/>
          <p:nvPr/>
        </p:nvSpPr>
        <p:spPr>
          <a:xfrm>
            <a:off x="571500" y="1257300"/>
            <a:ext cx="1903809" cy="2864644"/>
          </a:xfrm>
          <a:prstGeom prst="roundRect">
            <a:avLst>
              <a:gd name="adj" fmla="val 600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 name="Rounded Rectangle 5"/>
          <p:cNvSpPr/>
          <p:nvPr/>
        </p:nvSpPr>
        <p:spPr>
          <a:xfrm>
            <a:off x="2603897" y="1257300"/>
            <a:ext cx="1903809" cy="2864644"/>
          </a:xfrm>
          <a:prstGeom prst="roundRect">
            <a:avLst>
              <a:gd name="adj" fmla="val 600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 name="Rounded Rectangle 6"/>
          <p:cNvSpPr/>
          <p:nvPr/>
        </p:nvSpPr>
        <p:spPr>
          <a:xfrm>
            <a:off x="4636294" y="1257300"/>
            <a:ext cx="1903809" cy="2864644"/>
          </a:xfrm>
          <a:prstGeom prst="roundRect">
            <a:avLst>
              <a:gd name="adj" fmla="val 600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Rounded Rectangle 7"/>
          <p:cNvSpPr/>
          <p:nvPr/>
        </p:nvSpPr>
        <p:spPr>
          <a:xfrm>
            <a:off x="6668690" y="1257300"/>
            <a:ext cx="1903809" cy="2864644"/>
          </a:xfrm>
          <a:prstGeom prst="roundRect">
            <a:avLst>
              <a:gd name="adj" fmla="val 600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 name="Rectangle 8"/>
          <p:cNvSpPr/>
          <p:nvPr/>
        </p:nvSpPr>
        <p:spPr>
          <a:xfrm>
            <a:off x="571500" y="1257300"/>
            <a:ext cx="1903809" cy="35719"/>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 name="Rectangle 9"/>
          <p:cNvSpPr/>
          <p:nvPr/>
        </p:nvSpPr>
        <p:spPr>
          <a:xfrm>
            <a:off x="2603897" y="1257300"/>
            <a:ext cx="1903809" cy="35719"/>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1" name="Rectangle 10"/>
          <p:cNvSpPr/>
          <p:nvPr/>
        </p:nvSpPr>
        <p:spPr>
          <a:xfrm>
            <a:off x="4636294" y="1257300"/>
            <a:ext cx="1903809" cy="357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 name="Rectangle 11"/>
          <p:cNvSpPr/>
          <p:nvPr/>
        </p:nvSpPr>
        <p:spPr>
          <a:xfrm>
            <a:off x="6668690" y="1257300"/>
            <a:ext cx="1903809" cy="357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3" name="Rounded Rectangle 12"/>
          <p:cNvSpPr/>
          <p:nvPr/>
        </p:nvSpPr>
        <p:spPr>
          <a:xfrm>
            <a:off x="714375" y="1793082"/>
            <a:ext cx="585788" cy="235744"/>
          </a:xfrm>
          <a:prstGeom prst="roundRect">
            <a:avLst>
              <a:gd name="adj" fmla="val 24242"/>
            </a:avLst>
          </a:prstGeom>
          <a:solidFill>
            <a:srgbClr val="F5F3FF"/>
          </a:solidFill>
          <a:ln w="9525">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4" name="Rounded Rectangle 13"/>
          <p:cNvSpPr/>
          <p:nvPr/>
        </p:nvSpPr>
        <p:spPr>
          <a:xfrm>
            <a:off x="1357312" y="1793082"/>
            <a:ext cx="814388" cy="235744"/>
          </a:xfrm>
          <a:prstGeom prst="roundRect">
            <a:avLst>
              <a:gd name="adj" fmla="val 24242"/>
            </a:avLst>
          </a:prstGeom>
          <a:solidFill>
            <a:srgbClr val="F5F3FF"/>
          </a:solidFill>
          <a:ln w="9525">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5" name="Rounded Rectangle 14"/>
          <p:cNvSpPr/>
          <p:nvPr/>
        </p:nvSpPr>
        <p:spPr>
          <a:xfrm>
            <a:off x="714376" y="2085975"/>
            <a:ext cx="450056" cy="235744"/>
          </a:xfrm>
          <a:prstGeom prst="roundRect">
            <a:avLst>
              <a:gd name="adj" fmla="val 24242"/>
            </a:avLst>
          </a:prstGeom>
          <a:solidFill>
            <a:srgbClr val="F5F3FF"/>
          </a:solidFill>
          <a:ln w="9525">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6" name="Rounded Rectangle 15"/>
          <p:cNvSpPr/>
          <p:nvPr/>
        </p:nvSpPr>
        <p:spPr>
          <a:xfrm>
            <a:off x="1221581" y="2085975"/>
            <a:ext cx="542925" cy="235744"/>
          </a:xfrm>
          <a:prstGeom prst="roundRect">
            <a:avLst>
              <a:gd name="adj" fmla="val 24242"/>
            </a:avLst>
          </a:prstGeom>
          <a:solidFill>
            <a:srgbClr val="F5F3FF"/>
          </a:solidFill>
          <a:ln w="9525">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7" name="Rounded Rectangle 16"/>
          <p:cNvSpPr/>
          <p:nvPr/>
        </p:nvSpPr>
        <p:spPr>
          <a:xfrm>
            <a:off x="714375" y="2378869"/>
            <a:ext cx="800100" cy="235744"/>
          </a:xfrm>
          <a:prstGeom prst="roundRect">
            <a:avLst>
              <a:gd name="adj" fmla="val 24242"/>
            </a:avLst>
          </a:prstGeom>
          <a:solidFill>
            <a:srgbClr val="F5F3FF"/>
          </a:solidFill>
          <a:ln w="9525">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8" name="Rounded Rectangle 17"/>
          <p:cNvSpPr/>
          <p:nvPr/>
        </p:nvSpPr>
        <p:spPr>
          <a:xfrm>
            <a:off x="1571625" y="2378869"/>
            <a:ext cx="542925" cy="235744"/>
          </a:xfrm>
          <a:prstGeom prst="roundRect">
            <a:avLst>
              <a:gd name="adj" fmla="val 24242"/>
            </a:avLst>
          </a:prstGeom>
          <a:solidFill>
            <a:srgbClr val="F5F3FF"/>
          </a:solidFill>
          <a:ln w="9525">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9" name="Rounded Rectangle 18"/>
          <p:cNvSpPr/>
          <p:nvPr/>
        </p:nvSpPr>
        <p:spPr>
          <a:xfrm>
            <a:off x="714375" y="2671763"/>
            <a:ext cx="728663" cy="235744"/>
          </a:xfrm>
          <a:prstGeom prst="roundRect">
            <a:avLst>
              <a:gd name="adj" fmla="val 24242"/>
            </a:avLst>
          </a:prstGeom>
          <a:solidFill>
            <a:srgbClr val="F5F3FF"/>
          </a:solidFill>
          <a:ln w="9525">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0" name="Rounded Rectangle 19"/>
          <p:cNvSpPr/>
          <p:nvPr/>
        </p:nvSpPr>
        <p:spPr>
          <a:xfrm>
            <a:off x="1500188" y="2671763"/>
            <a:ext cx="685800" cy="235744"/>
          </a:xfrm>
          <a:prstGeom prst="roundRect">
            <a:avLst>
              <a:gd name="adj" fmla="val 24242"/>
            </a:avLst>
          </a:prstGeom>
          <a:solidFill>
            <a:srgbClr val="F5F3FF"/>
          </a:solidFill>
          <a:ln w="9525">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1" name="Rounded Rectangle 20"/>
          <p:cNvSpPr/>
          <p:nvPr/>
        </p:nvSpPr>
        <p:spPr>
          <a:xfrm>
            <a:off x="714376" y="2964657"/>
            <a:ext cx="450056" cy="235744"/>
          </a:xfrm>
          <a:prstGeom prst="roundRect">
            <a:avLst>
              <a:gd name="adj" fmla="val 24242"/>
            </a:avLst>
          </a:prstGeom>
          <a:solidFill>
            <a:srgbClr val="F5F3FF"/>
          </a:solidFill>
          <a:ln w="9525">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2" name="Rounded Rectangle 21"/>
          <p:cNvSpPr/>
          <p:nvPr/>
        </p:nvSpPr>
        <p:spPr>
          <a:xfrm>
            <a:off x="2746772" y="1793082"/>
            <a:ext cx="878681" cy="235744"/>
          </a:xfrm>
          <a:prstGeom prst="roundRect">
            <a:avLst>
              <a:gd name="adj" fmla="val 24242"/>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3" name="Rounded Rectangle 22"/>
          <p:cNvSpPr/>
          <p:nvPr/>
        </p:nvSpPr>
        <p:spPr>
          <a:xfrm>
            <a:off x="2746771" y="2085975"/>
            <a:ext cx="1185863" cy="235744"/>
          </a:xfrm>
          <a:prstGeom prst="roundRect">
            <a:avLst>
              <a:gd name="adj" fmla="val 24242"/>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4" name="Rounded Rectangle 23"/>
          <p:cNvSpPr/>
          <p:nvPr/>
        </p:nvSpPr>
        <p:spPr>
          <a:xfrm>
            <a:off x="2746772" y="2378869"/>
            <a:ext cx="992981" cy="235744"/>
          </a:xfrm>
          <a:prstGeom prst="roundRect">
            <a:avLst>
              <a:gd name="adj" fmla="val 24242"/>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5" name="Rounded Rectangle 24"/>
          <p:cNvSpPr/>
          <p:nvPr/>
        </p:nvSpPr>
        <p:spPr>
          <a:xfrm>
            <a:off x="2746771" y="2671763"/>
            <a:ext cx="842963" cy="235744"/>
          </a:xfrm>
          <a:prstGeom prst="roundRect">
            <a:avLst>
              <a:gd name="adj" fmla="val 24242"/>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6" name="Rounded Rectangle 25"/>
          <p:cNvSpPr/>
          <p:nvPr/>
        </p:nvSpPr>
        <p:spPr>
          <a:xfrm>
            <a:off x="4779169" y="1793082"/>
            <a:ext cx="857250" cy="235744"/>
          </a:xfrm>
          <a:prstGeom prst="roundRect">
            <a:avLst>
              <a:gd name="adj" fmla="val 24242"/>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7" name="Rounded Rectangle 26"/>
          <p:cNvSpPr/>
          <p:nvPr/>
        </p:nvSpPr>
        <p:spPr>
          <a:xfrm>
            <a:off x="4779169" y="2085975"/>
            <a:ext cx="1050131" cy="235744"/>
          </a:xfrm>
          <a:prstGeom prst="roundRect">
            <a:avLst>
              <a:gd name="adj" fmla="val 24242"/>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8" name="Rounded Rectangle 27"/>
          <p:cNvSpPr/>
          <p:nvPr/>
        </p:nvSpPr>
        <p:spPr>
          <a:xfrm>
            <a:off x="4779169" y="2378869"/>
            <a:ext cx="964406" cy="235744"/>
          </a:xfrm>
          <a:prstGeom prst="roundRect">
            <a:avLst>
              <a:gd name="adj" fmla="val 24242"/>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9" name="Rounded Rectangle 28"/>
          <p:cNvSpPr/>
          <p:nvPr/>
        </p:nvSpPr>
        <p:spPr>
          <a:xfrm>
            <a:off x="4779169" y="2671763"/>
            <a:ext cx="814388" cy="235744"/>
          </a:xfrm>
          <a:prstGeom prst="roundRect">
            <a:avLst>
              <a:gd name="adj" fmla="val 24242"/>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0" name="Rounded Rectangle 29"/>
          <p:cNvSpPr/>
          <p:nvPr/>
        </p:nvSpPr>
        <p:spPr>
          <a:xfrm>
            <a:off x="5650707" y="2671763"/>
            <a:ext cx="707231" cy="235744"/>
          </a:xfrm>
          <a:prstGeom prst="roundRect">
            <a:avLst>
              <a:gd name="adj" fmla="val 24242"/>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1" name="Rounded Rectangle 30"/>
          <p:cNvSpPr/>
          <p:nvPr/>
        </p:nvSpPr>
        <p:spPr>
          <a:xfrm>
            <a:off x="6811565" y="1793082"/>
            <a:ext cx="1618059" cy="264319"/>
          </a:xfrm>
          <a:prstGeom prst="roundRect">
            <a:avLst>
              <a:gd name="adj" fmla="val 21621"/>
            </a:avLst>
          </a:prstGeom>
          <a:solidFill>
            <a:srgbClr val="FFFBEB"/>
          </a:solidFill>
          <a:ln w="9525">
            <a:solidFill>
              <a:srgbClr val="FDE6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pic>
        <p:nvPicPr>
          <p:cNvPr id="32" name="Picture 31" descr="image.png"/>
          <p:cNvPicPr>
            <a:picLocks noChangeAspect="1"/>
          </p:cNvPicPr>
          <p:nvPr/>
        </p:nvPicPr>
        <p:blipFill>
          <a:blip r:embed="rId3"/>
          <a:stretch>
            <a:fillRect/>
          </a:stretch>
        </p:blipFill>
        <p:spPr>
          <a:xfrm>
            <a:off x="721519" y="4346972"/>
            <a:ext cx="307181" cy="285750"/>
          </a:xfrm>
          <a:prstGeom prst="rect">
            <a:avLst/>
          </a:prstGeom>
        </p:spPr>
      </p:pic>
      <p:pic>
        <p:nvPicPr>
          <p:cNvPr id="33" name="Picture 32" descr="image.png"/>
          <p:cNvPicPr>
            <a:picLocks noChangeAspect="1"/>
          </p:cNvPicPr>
          <p:nvPr/>
        </p:nvPicPr>
        <p:blipFill>
          <a:blip r:embed="rId4"/>
          <a:stretch>
            <a:fillRect/>
          </a:stretch>
        </p:blipFill>
        <p:spPr>
          <a:xfrm>
            <a:off x="792957" y="4418409"/>
            <a:ext cx="164306" cy="142875"/>
          </a:xfrm>
          <a:prstGeom prst="rect">
            <a:avLst/>
          </a:prstGeom>
        </p:spPr>
      </p:pic>
      <p:pic>
        <p:nvPicPr>
          <p:cNvPr id="34" name="Picture 33" descr="image.png"/>
          <p:cNvPicPr>
            <a:picLocks noChangeAspect="1"/>
          </p:cNvPicPr>
          <p:nvPr/>
        </p:nvPicPr>
        <p:blipFill>
          <a:blip r:embed="rId5"/>
          <a:stretch>
            <a:fillRect/>
          </a:stretch>
        </p:blipFill>
        <p:spPr>
          <a:xfrm>
            <a:off x="714375" y="1435894"/>
            <a:ext cx="257175" cy="257175"/>
          </a:xfrm>
          <a:prstGeom prst="rect">
            <a:avLst/>
          </a:prstGeom>
        </p:spPr>
      </p:pic>
      <p:pic>
        <p:nvPicPr>
          <p:cNvPr id="35" name="Picture 34" descr="image.png"/>
          <p:cNvPicPr>
            <a:picLocks noChangeAspect="1"/>
          </p:cNvPicPr>
          <p:nvPr/>
        </p:nvPicPr>
        <p:blipFill>
          <a:blip r:embed="rId6"/>
          <a:stretch>
            <a:fillRect/>
          </a:stretch>
        </p:blipFill>
        <p:spPr>
          <a:xfrm>
            <a:off x="2671762" y="1435894"/>
            <a:ext cx="257175" cy="257175"/>
          </a:xfrm>
          <a:prstGeom prst="rect">
            <a:avLst/>
          </a:prstGeom>
        </p:spPr>
      </p:pic>
      <p:pic>
        <p:nvPicPr>
          <p:cNvPr id="36" name="Picture 35" descr="image.png"/>
          <p:cNvPicPr>
            <a:picLocks noChangeAspect="1"/>
          </p:cNvPicPr>
          <p:nvPr/>
        </p:nvPicPr>
        <p:blipFill>
          <a:blip r:embed="rId7"/>
          <a:stretch>
            <a:fillRect/>
          </a:stretch>
        </p:blipFill>
        <p:spPr>
          <a:xfrm>
            <a:off x="4779169" y="1435894"/>
            <a:ext cx="257175" cy="257175"/>
          </a:xfrm>
          <a:prstGeom prst="rect">
            <a:avLst/>
          </a:prstGeom>
        </p:spPr>
      </p:pic>
      <p:pic>
        <p:nvPicPr>
          <p:cNvPr id="37" name="Picture 36" descr="image.png"/>
          <p:cNvPicPr>
            <a:picLocks noChangeAspect="1"/>
          </p:cNvPicPr>
          <p:nvPr/>
        </p:nvPicPr>
        <p:blipFill>
          <a:blip r:embed="rId8"/>
          <a:stretch>
            <a:fillRect/>
          </a:stretch>
        </p:blipFill>
        <p:spPr>
          <a:xfrm>
            <a:off x="6811565" y="1435894"/>
            <a:ext cx="257175" cy="257175"/>
          </a:xfrm>
          <a:prstGeom prst="rect">
            <a:avLst/>
          </a:prstGeom>
        </p:spPr>
      </p:pic>
      <p:pic>
        <p:nvPicPr>
          <p:cNvPr id="38" name="Picture 37" descr="image.png"/>
          <p:cNvPicPr>
            <a:picLocks noChangeAspect="1"/>
          </p:cNvPicPr>
          <p:nvPr/>
        </p:nvPicPr>
        <p:blipFill>
          <a:blip r:embed="rId9"/>
          <a:stretch>
            <a:fillRect/>
          </a:stretch>
        </p:blipFill>
        <p:spPr>
          <a:xfrm>
            <a:off x="778669" y="1500187"/>
            <a:ext cx="128588" cy="128588"/>
          </a:xfrm>
          <a:prstGeom prst="rect">
            <a:avLst/>
          </a:prstGeom>
        </p:spPr>
      </p:pic>
      <p:pic>
        <p:nvPicPr>
          <p:cNvPr id="39" name="Picture 38" descr="image.png"/>
          <p:cNvPicPr>
            <a:picLocks noChangeAspect="1"/>
          </p:cNvPicPr>
          <p:nvPr/>
        </p:nvPicPr>
        <p:blipFill>
          <a:blip r:embed="rId10"/>
          <a:stretch>
            <a:fillRect/>
          </a:stretch>
        </p:blipFill>
        <p:spPr>
          <a:xfrm>
            <a:off x="2718197" y="1500187"/>
            <a:ext cx="164306" cy="128588"/>
          </a:xfrm>
          <a:prstGeom prst="rect">
            <a:avLst/>
          </a:prstGeom>
        </p:spPr>
      </p:pic>
      <p:pic>
        <p:nvPicPr>
          <p:cNvPr id="40" name="Picture 39" descr="image.png"/>
          <p:cNvPicPr>
            <a:picLocks noChangeAspect="1"/>
          </p:cNvPicPr>
          <p:nvPr/>
        </p:nvPicPr>
        <p:blipFill>
          <a:blip r:embed="rId11"/>
          <a:stretch>
            <a:fillRect/>
          </a:stretch>
        </p:blipFill>
        <p:spPr>
          <a:xfrm>
            <a:off x="4836319" y="1500187"/>
            <a:ext cx="142875" cy="128588"/>
          </a:xfrm>
          <a:prstGeom prst="rect">
            <a:avLst/>
          </a:prstGeom>
        </p:spPr>
      </p:pic>
      <p:pic>
        <p:nvPicPr>
          <p:cNvPr id="41" name="Picture 40" descr="image.png"/>
          <p:cNvPicPr>
            <a:picLocks noChangeAspect="1"/>
          </p:cNvPicPr>
          <p:nvPr/>
        </p:nvPicPr>
        <p:blipFill>
          <a:blip r:embed="rId12"/>
          <a:stretch>
            <a:fillRect/>
          </a:stretch>
        </p:blipFill>
        <p:spPr>
          <a:xfrm>
            <a:off x="6868715" y="1500187"/>
            <a:ext cx="142875" cy="128588"/>
          </a:xfrm>
          <a:prstGeom prst="rect">
            <a:avLst/>
          </a:prstGeom>
        </p:spPr>
      </p:pic>
      <p:sp>
        <p:nvSpPr>
          <p:cNvPr id="42" name="TextBox 41"/>
          <p:cNvSpPr txBox="1"/>
          <p:nvPr/>
        </p:nvSpPr>
        <p:spPr>
          <a:xfrm>
            <a:off x="3468958" y="156503"/>
            <a:ext cx="1950244" cy="129907"/>
          </a:xfrm>
          <a:prstGeom prst="rect">
            <a:avLst/>
          </a:prstGeom>
          <a:noFill/>
        </p:spPr>
        <p:txBody>
          <a:bodyPr wrap="square" lIns="0" tIns="0" rIns="0" bIns="0" anchor="t">
            <a:spAutoFit/>
          </a:bodyPr>
          <a:lstStyle/>
          <a:p>
            <a:pPr algn="ctr"/>
            <a:r>
              <a:rPr sz="844" b="1" dirty="0">
                <a:solidFill>
                  <a:srgbClr val="3730A3"/>
                </a:solidFill>
                <a:latin typeface="Inter"/>
              </a:rPr>
              <a:t>FASE DE DESCUBRIMIENTO</a:t>
            </a:r>
          </a:p>
        </p:txBody>
      </p:sp>
      <p:sp>
        <p:nvSpPr>
          <p:cNvPr id="43" name="TextBox 42"/>
          <p:cNvSpPr txBox="1"/>
          <p:nvPr/>
        </p:nvSpPr>
        <p:spPr>
          <a:xfrm>
            <a:off x="1951555" y="366699"/>
            <a:ext cx="4761048" cy="363626"/>
          </a:xfrm>
          <a:prstGeom prst="rect">
            <a:avLst/>
          </a:prstGeom>
          <a:noFill/>
        </p:spPr>
        <p:txBody>
          <a:bodyPr wrap="none" lIns="0" tIns="0" rIns="0" bIns="0" anchor="t">
            <a:spAutoFit/>
          </a:bodyPr>
          <a:lstStyle/>
          <a:p>
            <a:pPr algn="ctr"/>
            <a:r>
              <a:rPr sz="2363" b="1" dirty="0" err="1">
                <a:solidFill>
                  <a:srgbClr val="111827"/>
                </a:solidFill>
                <a:latin typeface="Inter"/>
              </a:rPr>
              <a:t>Identificar</a:t>
            </a:r>
            <a:r>
              <a:rPr sz="2363" b="1" dirty="0">
                <a:solidFill>
                  <a:srgbClr val="111827"/>
                </a:solidFill>
                <a:latin typeface="Inter"/>
              </a:rPr>
              <a:t> </a:t>
            </a:r>
            <a:r>
              <a:rPr sz="2363" b="1" dirty="0" err="1">
                <a:solidFill>
                  <a:srgbClr val="111827"/>
                </a:solidFill>
                <a:latin typeface="Inter"/>
              </a:rPr>
              <a:t>Objetos</a:t>
            </a:r>
            <a:r>
              <a:rPr sz="2363" b="1" dirty="0">
                <a:solidFill>
                  <a:srgbClr val="111827"/>
                </a:solidFill>
                <a:latin typeface="Inter"/>
              </a:rPr>
              <a:t> y Roles </a:t>
            </a:r>
            <a:r>
              <a:rPr sz="2363" b="1" dirty="0" err="1">
                <a:solidFill>
                  <a:srgbClr val="111827"/>
                </a:solidFill>
                <a:latin typeface="Inter"/>
              </a:rPr>
              <a:t>Candidatos</a:t>
            </a:r>
            <a:endParaRPr sz="2363" b="1" dirty="0">
              <a:solidFill>
                <a:srgbClr val="111827"/>
              </a:solidFill>
              <a:latin typeface="Inter"/>
            </a:endParaRPr>
          </a:p>
        </p:txBody>
      </p:sp>
      <p:sp>
        <p:nvSpPr>
          <p:cNvPr id="44" name="TextBox 43"/>
          <p:cNvSpPr txBox="1"/>
          <p:nvPr/>
        </p:nvSpPr>
        <p:spPr>
          <a:xfrm>
            <a:off x="1143000" y="831769"/>
            <a:ext cx="7158446" cy="333425"/>
          </a:xfrm>
          <a:prstGeom prst="rect">
            <a:avLst/>
          </a:prstGeom>
          <a:noFill/>
        </p:spPr>
        <p:txBody>
          <a:bodyPr wrap="square" lIns="0" tIns="0" rIns="0" bIns="0" anchor="t">
            <a:spAutoFit/>
          </a:bodyPr>
          <a:lstStyle/>
          <a:p>
            <a:pPr>
              <a:lnSpc>
                <a:spcPts val="1300"/>
              </a:lnSpc>
              <a:spcAft>
                <a:spcPts val="800"/>
              </a:spcAft>
            </a:pPr>
            <a:r>
              <a:rPr lang="en-US" sz="1200" dirty="0">
                <a:solidFill>
                  <a:srgbClr val="4A4A4A"/>
                </a:solidFill>
                <a:latin typeface="Helvetica" pitchFamily="34" charset="0"/>
                <a:ea typeface="Helvetica" pitchFamily="34" charset="-122"/>
                <a:cs typeface="Helvetica" pitchFamily="34" charset="-120"/>
              </a:rPr>
              <a:t>Los primeros </a:t>
            </a:r>
            <a:r>
              <a:rPr lang="en-US" sz="1200" dirty="0" err="1">
                <a:solidFill>
                  <a:srgbClr val="4A4A4A"/>
                </a:solidFill>
                <a:latin typeface="Helvetica" pitchFamily="34" charset="0"/>
                <a:ea typeface="Helvetica" pitchFamily="34" charset="-122"/>
                <a:cs typeface="Helvetica" pitchFamily="34" charset="-120"/>
              </a:rPr>
              <a:t>candidatos</a:t>
            </a:r>
            <a:r>
              <a:rPr lang="en-US" sz="1200" dirty="0">
                <a:solidFill>
                  <a:srgbClr val="4A4A4A"/>
                </a:solidFill>
                <a:latin typeface="Helvetica" pitchFamily="34" charset="0"/>
                <a:ea typeface="Helvetica" pitchFamily="34" charset="-122"/>
                <a:cs typeface="Helvetica" pitchFamily="34" charset="-120"/>
              </a:rPr>
              <a:t>, </a:t>
            </a:r>
            <a:r>
              <a:rPr lang="en-US" sz="1200" dirty="0" err="1">
                <a:solidFill>
                  <a:srgbClr val="4A4A4A"/>
                </a:solidFill>
                <a:latin typeface="Helvetica" pitchFamily="34" charset="0"/>
                <a:ea typeface="Helvetica" pitchFamily="34" charset="-122"/>
                <a:cs typeface="Helvetica" pitchFamily="34" charset="-120"/>
              </a:rPr>
              <a:t>agrupados</a:t>
            </a:r>
            <a:r>
              <a:rPr lang="en-US" sz="1200" dirty="0">
                <a:solidFill>
                  <a:srgbClr val="4A4A4A"/>
                </a:solidFill>
                <a:latin typeface="Helvetica" pitchFamily="34" charset="0"/>
                <a:ea typeface="Helvetica" pitchFamily="34" charset="-122"/>
                <a:cs typeface="Helvetica" pitchFamily="34" charset="-120"/>
              </a:rPr>
              <a:t> </a:t>
            </a:r>
            <a:r>
              <a:rPr lang="en-US" sz="1200" dirty="0" err="1">
                <a:solidFill>
                  <a:srgbClr val="4A4A4A"/>
                </a:solidFill>
                <a:latin typeface="Helvetica" pitchFamily="34" charset="0"/>
                <a:ea typeface="Helvetica" pitchFamily="34" charset="-122"/>
                <a:cs typeface="Helvetica" pitchFamily="34" charset="-120"/>
              </a:rPr>
              <a:t>según</a:t>
            </a:r>
            <a:r>
              <a:rPr lang="en-US" sz="1200" dirty="0">
                <a:solidFill>
                  <a:srgbClr val="4A4A4A"/>
                </a:solidFill>
                <a:latin typeface="Helvetica" pitchFamily="34" charset="0"/>
                <a:ea typeface="Helvetica" pitchFamily="34" charset="-122"/>
                <a:cs typeface="Helvetica" pitchFamily="34" charset="-120"/>
              </a:rPr>
              <a:t> la </a:t>
            </a:r>
            <a:r>
              <a:rPr lang="en-US" sz="1200" dirty="0" err="1">
                <a:solidFill>
                  <a:srgbClr val="4A4A4A"/>
                </a:solidFill>
                <a:latin typeface="Helvetica" pitchFamily="34" charset="0"/>
                <a:ea typeface="Helvetica" pitchFamily="34" charset="-122"/>
                <a:cs typeface="Helvetica" pitchFamily="34" charset="-120"/>
              </a:rPr>
              <a:t>perspectiva</a:t>
            </a:r>
            <a:r>
              <a:rPr lang="en-US" sz="1200" dirty="0">
                <a:solidFill>
                  <a:srgbClr val="4A4A4A"/>
                </a:solidFill>
                <a:latin typeface="Helvetica" pitchFamily="34" charset="0"/>
                <a:ea typeface="Helvetica" pitchFamily="34" charset="-122"/>
                <a:cs typeface="Helvetica" pitchFamily="34" charset="-120"/>
              </a:rPr>
              <a:t> </a:t>
            </a:r>
            <a:r>
              <a:rPr lang="en-US" sz="1200" dirty="0" err="1">
                <a:solidFill>
                  <a:srgbClr val="4A4A4A"/>
                </a:solidFill>
                <a:latin typeface="Helvetica" pitchFamily="34" charset="0"/>
                <a:ea typeface="Helvetica" pitchFamily="34" charset="-122"/>
                <a:cs typeface="Helvetica" pitchFamily="34" charset="-120"/>
              </a:rPr>
              <a:t>que</a:t>
            </a:r>
            <a:r>
              <a:rPr lang="en-US" sz="1200" dirty="0">
                <a:solidFill>
                  <a:srgbClr val="4A4A4A"/>
                </a:solidFill>
                <a:latin typeface="Helvetica" pitchFamily="34" charset="0"/>
                <a:ea typeface="Helvetica" pitchFamily="34" charset="-122"/>
                <a:cs typeface="Helvetica" pitchFamily="34" charset="-120"/>
              </a:rPr>
              <a:t> </a:t>
            </a:r>
            <a:r>
              <a:rPr lang="en-US" sz="1200" dirty="0" err="1">
                <a:solidFill>
                  <a:srgbClr val="4A4A4A"/>
                </a:solidFill>
                <a:latin typeface="Helvetica" pitchFamily="34" charset="0"/>
                <a:ea typeface="Helvetica" pitchFamily="34" charset="-122"/>
                <a:cs typeface="Helvetica" pitchFamily="34" charset="-120"/>
              </a:rPr>
              <a:t>usamos</a:t>
            </a:r>
            <a:r>
              <a:rPr lang="en-US" sz="1200" dirty="0">
                <a:solidFill>
                  <a:srgbClr val="4A4A4A"/>
                </a:solidFill>
                <a:latin typeface="Helvetica" pitchFamily="34" charset="0"/>
                <a:ea typeface="Helvetica" pitchFamily="34" charset="-122"/>
                <a:cs typeface="Helvetica" pitchFamily="34" charset="-120"/>
              </a:rPr>
              <a:t> para </a:t>
            </a:r>
            <a:r>
              <a:rPr lang="en-US" sz="1200" dirty="0" err="1">
                <a:solidFill>
                  <a:srgbClr val="4A4A4A"/>
                </a:solidFill>
                <a:latin typeface="Helvetica" pitchFamily="34" charset="0"/>
                <a:ea typeface="Helvetica" pitchFamily="34" charset="-122"/>
                <a:cs typeface="Helvetica" pitchFamily="34" charset="-120"/>
              </a:rPr>
              <a:t>encontrarlos</a:t>
            </a:r>
            <a:r>
              <a:rPr lang="en-US" sz="1200" dirty="0">
                <a:solidFill>
                  <a:srgbClr val="4A4A4A"/>
                </a:solidFill>
                <a:latin typeface="Helvetica" pitchFamily="34" charset="0"/>
                <a:ea typeface="Helvetica" pitchFamily="34" charset="-122"/>
                <a:cs typeface="Helvetica" pitchFamily="34" charset="-120"/>
              </a:rPr>
              <a:t>. Los </a:t>
            </a:r>
            <a:r>
              <a:rPr lang="en-US" sz="1200" dirty="0" err="1">
                <a:solidFill>
                  <a:srgbClr val="4A4A4A"/>
                </a:solidFill>
                <a:latin typeface="Helvetica" pitchFamily="34" charset="0"/>
                <a:ea typeface="Helvetica" pitchFamily="34" charset="-122"/>
                <a:cs typeface="Helvetica" pitchFamily="34" charset="-120"/>
              </a:rPr>
              <a:t>grupos</a:t>
            </a:r>
            <a:r>
              <a:rPr lang="en-US" sz="1200" dirty="0">
                <a:solidFill>
                  <a:srgbClr val="4A4A4A"/>
                </a:solidFill>
                <a:latin typeface="Helvetica" pitchFamily="34" charset="0"/>
                <a:ea typeface="Helvetica" pitchFamily="34" charset="-122"/>
                <a:cs typeface="Helvetica" pitchFamily="34" charset="-120"/>
              </a:rPr>
              <a:t> no son </a:t>
            </a:r>
            <a:r>
              <a:rPr lang="en-US" sz="1200" dirty="0" err="1">
                <a:solidFill>
                  <a:srgbClr val="4A4A4A"/>
                </a:solidFill>
                <a:latin typeface="Helvetica" pitchFamily="34" charset="0"/>
                <a:ea typeface="Helvetica" pitchFamily="34" charset="-122"/>
                <a:cs typeface="Helvetica" pitchFamily="34" charset="-120"/>
              </a:rPr>
              <a:t>categorías</a:t>
            </a:r>
            <a:r>
              <a:rPr lang="en-US" sz="1200" dirty="0">
                <a:solidFill>
                  <a:srgbClr val="4A4A4A"/>
                </a:solidFill>
                <a:latin typeface="Helvetica" pitchFamily="34" charset="0"/>
                <a:ea typeface="Helvetica" pitchFamily="34" charset="-122"/>
                <a:cs typeface="Helvetica" pitchFamily="34" charset="-120"/>
              </a:rPr>
              <a:t> </a:t>
            </a:r>
            <a:r>
              <a:rPr lang="en-US" sz="1200" dirty="0" err="1">
                <a:solidFill>
                  <a:srgbClr val="4A4A4A"/>
                </a:solidFill>
                <a:latin typeface="Helvetica" pitchFamily="34" charset="0"/>
                <a:ea typeface="Helvetica" pitchFamily="34" charset="-122"/>
                <a:cs typeface="Helvetica" pitchFamily="34" charset="-120"/>
              </a:rPr>
              <a:t>definitivas</a:t>
            </a:r>
            <a:r>
              <a:rPr lang="en-US" sz="1200" dirty="0">
                <a:solidFill>
                  <a:srgbClr val="4A4A4A"/>
                </a:solidFill>
                <a:latin typeface="Helvetica" pitchFamily="34" charset="0"/>
                <a:ea typeface="Helvetica" pitchFamily="34" charset="-122"/>
                <a:cs typeface="Helvetica" pitchFamily="34" charset="-120"/>
              </a:rPr>
              <a:t>: </a:t>
            </a:r>
            <a:r>
              <a:rPr lang="en-US" sz="1200" dirty="0" err="1">
                <a:solidFill>
                  <a:srgbClr val="4A4A4A"/>
                </a:solidFill>
                <a:latin typeface="Helvetica" pitchFamily="34" charset="0"/>
                <a:ea typeface="Helvetica" pitchFamily="34" charset="-122"/>
                <a:cs typeface="Helvetica" pitchFamily="34" charset="-120"/>
              </a:rPr>
              <a:t>solamente</a:t>
            </a:r>
            <a:r>
              <a:rPr lang="en-US" sz="1200" dirty="0">
                <a:solidFill>
                  <a:srgbClr val="4A4A4A"/>
                </a:solidFill>
                <a:latin typeface="Helvetica" pitchFamily="34" charset="0"/>
                <a:ea typeface="Helvetica" pitchFamily="34" charset="-122"/>
                <a:cs typeface="Helvetica" pitchFamily="34" charset="-120"/>
              </a:rPr>
              <a:t> </a:t>
            </a:r>
            <a:r>
              <a:rPr lang="en-US" sz="1200" dirty="0" err="1">
                <a:solidFill>
                  <a:srgbClr val="4A4A4A"/>
                </a:solidFill>
                <a:latin typeface="Helvetica" pitchFamily="34" charset="0"/>
                <a:ea typeface="Helvetica" pitchFamily="34" charset="-122"/>
                <a:cs typeface="Helvetica" pitchFamily="34" charset="-120"/>
              </a:rPr>
              <a:t>muestran</a:t>
            </a:r>
            <a:r>
              <a:rPr lang="en-US" sz="1200" dirty="0">
                <a:solidFill>
                  <a:srgbClr val="4A4A4A"/>
                </a:solidFill>
                <a:latin typeface="Helvetica" pitchFamily="34" charset="0"/>
                <a:ea typeface="Helvetica" pitchFamily="34" charset="-122"/>
                <a:cs typeface="Helvetica" pitchFamily="34" charset="-120"/>
              </a:rPr>
              <a:t> </a:t>
            </a:r>
            <a:r>
              <a:rPr lang="en-US" sz="1200" dirty="0" err="1">
                <a:solidFill>
                  <a:srgbClr val="4A4A4A"/>
                </a:solidFill>
                <a:latin typeface="Helvetica" pitchFamily="34" charset="0"/>
                <a:ea typeface="Helvetica" pitchFamily="34" charset="-122"/>
                <a:cs typeface="Helvetica" pitchFamily="34" charset="-120"/>
              </a:rPr>
              <a:t>en</a:t>
            </a:r>
            <a:r>
              <a:rPr lang="en-US" sz="1200" dirty="0">
                <a:solidFill>
                  <a:srgbClr val="4A4A4A"/>
                </a:solidFill>
                <a:latin typeface="Helvetica" pitchFamily="34" charset="0"/>
                <a:ea typeface="Helvetica" pitchFamily="34" charset="-122"/>
                <a:cs typeface="Helvetica" pitchFamily="34" charset="-120"/>
              </a:rPr>
              <a:t> </a:t>
            </a:r>
            <a:r>
              <a:rPr lang="en-US" sz="1200" dirty="0" err="1">
                <a:solidFill>
                  <a:srgbClr val="4A4A4A"/>
                </a:solidFill>
                <a:latin typeface="Helvetica" pitchFamily="34" charset="0"/>
                <a:ea typeface="Helvetica" pitchFamily="34" charset="-122"/>
                <a:cs typeface="Helvetica" pitchFamily="34" charset="-120"/>
              </a:rPr>
              <a:t>qué</a:t>
            </a:r>
            <a:r>
              <a:rPr lang="en-US" sz="1200" dirty="0">
                <a:solidFill>
                  <a:srgbClr val="4A4A4A"/>
                </a:solidFill>
                <a:latin typeface="Helvetica" pitchFamily="34" charset="0"/>
                <a:ea typeface="Helvetica" pitchFamily="34" charset="-122"/>
                <a:cs typeface="Helvetica" pitchFamily="34" charset="-120"/>
              </a:rPr>
              <a:t> </a:t>
            </a:r>
            <a:r>
              <a:rPr lang="en-US" sz="1200" dirty="0" err="1">
                <a:solidFill>
                  <a:srgbClr val="4A4A4A"/>
                </a:solidFill>
                <a:latin typeface="Helvetica" pitchFamily="34" charset="0"/>
                <a:ea typeface="Helvetica" pitchFamily="34" charset="-122"/>
                <a:cs typeface="Helvetica" pitchFamily="34" charset="-120"/>
              </a:rPr>
              <a:t>momento</a:t>
            </a:r>
            <a:r>
              <a:rPr lang="en-US" sz="1200" dirty="0">
                <a:solidFill>
                  <a:srgbClr val="4A4A4A"/>
                </a:solidFill>
                <a:latin typeface="Helvetica" pitchFamily="34" charset="0"/>
                <a:ea typeface="Helvetica" pitchFamily="34" charset="-122"/>
                <a:cs typeface="Helvetica" pitchFamily="34" charset="-120"/>
              </a:rPr>
              <a:t> </a:t>
            </a:r>
            <a:r>
              <a:rPr lang="en-US" sz="1200" dirty="0" err="1">
                <a:solidFill>
                  <a:srgbClr val="4A4A4A"/>
                </a:solidFill>
                <a:latin typeface="Helvetica" pitchFamily="34" charset="0"/>
                <a:ea typeface="Helvetica" pitchFamily="34" charset="-122"/>
                <a:cs typeface="Helvetica" pitchFamily="34" charset="-120"/>
              </a:rPr>
              <a:t>apareció</a:t>
            </a:r>
            <a:r>
              <a:rPr lang="en-US" sz="1200" dirty="0">
                <a:solidFill>
                  <a:srgbClr val="4A4A4A"/>
                </a:solidFill>
                <a:latin typeface="Helvetica" pitchFamily="34" charset="0"/>
                <a:ea typeface="Helvetica" pitchFamily="34" charset="-122"/>
                <a:cs typeface="Helvetica" pitchFamily="34" charset="-120"/>
              </a:rPr>
              <a:t> </a:t>
            </a:r>
            <a:r>
              <a:rPr lang="en-US" sz="1200" dirty="0" err="1">
                <a:solidFill>
                  <a:srgbClr val="4A4A4A"/>
                </a:solidFill>
                <a:latin typeface="Helvetica" pitchFamily="34" charset="0"/>
                <a:ea typeface="Helvetica" pitchFamily="34" charset="-122"/>
                <a:cs typeface="Helvetica" pitchFamily="34" charset="-120"/>
              </a:rPr>
              <a:t>cada</a:t>
            </a:r>
            <a:r>
              <a:rPr lang="en-US" sz="1200" dirty="0">
                <a:solidFill>
                  <a:srgbClr val="4A4A4A"/>
                </a:solidFill>
                <a:latin typeface="Helvetica" pitchFamily="34" charset="0"/>
                <a:ea typeface="Helvetica" pitchFamily="34" charset="-122"/>
                <a:cs typeface="Helvetica" pitchFamily="34" charset="-120"/>
              </a:rPr>
              <a:t> </a:t>
            </a:r>
            <a:r>
              <a:rPr lang="en-US" sz="1200" dirty="0" err="1">
                <a:solidFill>
                  <a:srgbClr val="4A4A4A"/>
                </a:solidFill>
                <a:latin typeface="Helvetica" pitchFamily="34" charset="0"/>
                <a:ea typeface="Helvetica" pitchFamily="34" charset="-122"/>
                <a:cs typeface="Helvetica" pitchFamily="34" charset="-120"/>
              </a:rPr>
              <a:t>elemento</a:t>
            </a:r>
            <a:r>
              <a:rPr lang="en-US" sz="1200" dirty="0">
                <a:solidFill>
                  <a:srgbClr val="4A4A4A"/>
                </a:solidFill>
                <a:latin typeface="Helvetica" pitchFamily="34" charset="0"/>
                <a:ea typeface="Helvetica" pitchFamily="34" charset="-122"/>
                <a:cs typeface="Helvetica" pitchFamily="34" charset="-120"/>
              </a:rPr>
              <a:t>.</a:t>
            </a:r>
            <a:endParaRPr lang="en-US" sz="1200" dirty="0"/>
          </a:p>
        </p:txBody>
      </p:sp>
      <p:sp>
        <p:nvSpPr>
          <p:cNvPr id="45" name="TextBox 44"/>
          <p:cNvSpPr txBox="1"/>
          <p:nvPr/>
        </p:nvSpPr>
        <p:spPr>
          <a:xfrm>
            <a:off x="1143000" y="4343401"/>
            <a:ext cx="2325958" cy="138499"/>
          </a:xfrm>
          <a:prstGeom prst="rect">
            <a:avLst/>
          </a:prstGeom>
          <a:noFill/>
        </p:spPr>
        <p:txBody>
          <a:bodyPr wrap="none" lIns="0" tIns="0" rIns="0" bIns="0" anchor="t">
            <a:spAutoFit/>
          </a:bodyPr>
          <a:lstStyle/>
          <a:p>
            <a:pPr algn="l"/>
            <a:r>
              <a:rPr sz="900" b="1">
                <a:solidFill>
                  <a:srgbClr val="9F1239"/>
                </a:solidFill>
                <a:latin typeface="Inter"/>
              </a:rPr>
              <a:t>Elementos Externos (Colaboradores del sistema)</a:t>
            </a:r>
          </a:p>
        </p:txBody>
      </p:sp>
      <p:sp>
        <p:nvSpPr>
          <p:cNvPr id="46" name="TextBox 45"/>
          <p:cNvSpPr txBox="1"/>
          <p:nvPr/>
        </p:nvSpPr>
        <p:spPr>
          <a:xfrm>
            <a:off x="1143000" y="4500563"/>
            <a:ext cx="5775620" cy="129907"/>
          </a:xfrm>
          <a:prstGeom prst="rect">
            <a:avLst/>
          </a:prstGeom>
          <a:noFill/>
        </p:spPr>
        <p:txBody>
          <a:bodyPr wrap="none" lIns="0" tIns="0" rIns="0" bIns="0" anchor="t">
            <a:spAutoFit/>
          </a:bodyPr>
          <a:lstStyle/>
          <a:p>
            <a:pPr algn="l"/>
            <a:r>
              <a:rPr sz="844" b="1" dirty="0">
                <a:solidFill>
                  <a:srgbClr val="BE123C"/>
                </a:solidFill>
                <a:latin typeface="Inter"/>
              </a:rPr>
              <a:t>API </a:t>
            </a:r>
            <a:r>
              <a:rPr sz="844" b="1" dirty="0" err="1">
                <a:solidFill>
                  <a:srgbClr val="BE123C"/>
                </a:solidFill>
                <a:latin typeface="Inter"/>
              </a:rPr>
              <a:t>Móvil</a:t>
            </a:r>
            <a:r>
              <a:rPr sz="844" dirty="0">
                <a:solidFill>
                  <a:srgbClr val="BE123C"/>
                </a:solidFill>
                <a:latin typeface="Inter"/>
              </a:rPr>
              <a:t>, </a:t>
            </a:r>
            <a:r>
              <a:rPr sz="844" b="1" dirty="0">
                <a:solidFill>
                  <a:srgbClr val="BE123C"/>
                </a:solidFill>
                <a:latin typeface="Inter"/>
              </a:rPr>
              <a:t>Motor de </a:t>
            </a:r>
            <a:r>
              <a:rPr sz="844" b="1" dirty="0" err="1">
                <a:solidFill>
                  <a:srgbClr val="BE123C"/>
                </a:solidFill>
                <a:latin typeface="Inter"/>
              </a:rPr>
              <a:t>Notificaciones</a:t>
            </a:r>
            <a:r>
              <a:rPr sz="844" dirty="0">
                <a:solidFill>
                  <a:srgbClr val="BE123C"/>
                </a:solidFill>
                <a:latin typeface="Inter"/>
              </a:rPr>
              <a:t>, </a:t>
            </a:r>
            <a:r>
              <a:rPr sz="844" b="1" dirty="0" err="1">
                <a:solidFill>
                  <a:srgbClr val="BE123C"/>
                </a:solidFill>
                <a:latin typeface="Inter"/>
              </a:rPr>
              <a:t>Pasarela</a:t>
            </a:r>
            <a:r>
              <a:rPr sz="844" b="1" dirty="0">
                <a:solidFill>
                  <a:srgbClr val="BE123C"/>
                </a:solidFill>
                <a:latin typeface="Inter"/>
              </a:rPr>
              <a:t> de Pagos</a:t>
            </a:r>
            <a:r>
              <a:rPr sz="844" dirty="0">
                <a:solidFill>
                  <a:srgbClr val="BE123C"/>
                </a:solidFill>
                <a:latin typeface="Inter"/>
              </a:rPr>
              <a:t> y </a:t>
            </a:r>
            <a:r>
              <a:rPr sz="844" b="1" dirty="0">
                <a:solidFill>
                  <a:srgbClr val="BE123C"/>
                </a:solidFill>
                <a:latin typeface="Inter"/>
              </a:rPr>
              <a:t>Servicio de Mapas</a:t>
            </a:r>
            <a:r>
              <a:rPr sz="844" dirty="0">
                <a:solidFill>
                  <a:srgbClr val="BE123C"/>
                </a:solidFill>
                <a:latin typeface="Inter"/>
              </a:rPr>
              <a:t>. No se </a:t>
            </a:r>
            <a:r>
              <a:rPr sz="844" dirty="0" err="1">
                <a:solidFill>
                  <a:srgbClr val="BE123C"/>
                </a:solidFill>
                <a:latin typeface="Inter"/>
              </a:rPr>
              <a:t>diseñan</a:t>
            </a:r>
            <a:r>
              <a:rPr sz="844" dirty="0">
                <a:solidFill>
                  <a:srgbClr val="BE123C"/>
                </a:solidFill>
                <a:latin typeface="Inter"/>
              </a:rPr>
              <a:t>, </a:t>
            </a:r>
            <a:r>
              <a:rPr sz="844" dirty="0" err="1">
                <a:solidFill>
                  <a:srgbClr val="BE123C"/>
                </a:solidFill>
                <a:latin typeface="Inter"/>
              </a:rPr>
              <a:t>pero</a:t>
            </a:r>
            <a:r>
              <a:rPr sz="844" dirty="0">
                <a:solidFill>
                  <a:srgbClr val="BE123C"/>
                </a:solidFill>
                <a:latin typeface="Inter"/>
              </a:rPr>
              <a:t> </a:t>
            </a:r>
            <a:r>
              <a:rPr sz="844" dirty="0" err="1">
                <a:solidFill>
                  <a:srgbClr val="BE123C"/>
                </a:solidFill>
                <a:latin typeface="Inter"/>
              </a:rPr>
              <a:t>interactúan</a:t>
            </a:r>
            <a:r>
              <a:rPr sz="844" dirty="0">
                <a:solidFill>
                  <a:srgbClr val="BE123C"/>
                </a:solidFill>
                <a:latin typeface="Inter"/>
              </a:rPr>
              <a:t> con </a:t>
            </a:r>
            <a:r>
              <a:rPr sz="844" dirty="0" err="1">
                <a:solidFill>
                  <a:srgbClr val="BE123C"/>
                </a:solidFill>
                <a:latin typeface="Inter"/>
              </a:rPr>
              <a:t>los</a:t>
            </a:r>
            <a:r>
              <a:rPr sz="844" dirty="0">
                <a:solidFill>
                  <a:srgbClr val="BE123C"/>
                </a:solidFill>
                <a:latin typeface="Inter"/>
              </a:rPr>
              <a:t> </a:t>
            </a:r>
            <a:r>
              <a:rPr sz="844" dirty="0" err="1">
                <a:solidFill>
                  <a:srgbClr val="BE123C"/>
                </a:solidFill>
                <a:latin typeface="Inter"/>
              </a:rPr>
              <a:t>componentes</a:t>
            </a:r>
            <a:r>
              <a:rPr sz="844" dirty="0">
                <a:solidFill>
                  <a:srgbClr val="BE123C"/>
                </a:solidFill>
                <a:latin typeface="Inter"/>
              </a:rPr>
              <a:t>.</a:t>
            </a:r>
          </a:p>
        </p:txBody>
      </p:sp>
      <p:sp>
        <p:nvSpPr>
          <p:cNvPr id="47" name="TextBox 46"/>
          <p:cNvSpPr txBox="1"/>
          <p:nvPr/>
        </p:nvSpPr>
        <p:spPr>
          <a:xfrm>
            <a:off x="1042988" y="1487351"/>
            <a:ext cx="1338508" cy="153888"/>
          </a:xfrm>
          <a:prstGeom prst="rect">
            <a:avLst/>
          </a:prstGeom>
          <a:noFill/>
        </p:spPr>
        <p:txBody>
          <a:bodyPr wrap="none" lIns="0" tIns="0" rIns="0" bIns="0" anchor="t">
            <a:spAutoFit/>
          </a:bodyPr>
          <a:lstStyle/>
          <a:p>
            <a:pPr>
              <a:lnSpc>
                <a:spcPts val="1215"/>
              </a:lnSpc>
            </a:pPr>
            <a:r>
              <a:rPr sz="1013" b="1" dirty="0">
                <a:solidFill>
                  <a:srgbClr val="1F2937"/>
                </a:solidFill>
                <a:latin typeface="Inter"/>
              </a:rPr>
              <a:t>1. Dominio</a:t>
            </a:r>
            <a:r>
              <a:rPr lang="es-CO" sz="1013" b="1" dirty="0">
                <a:solidFill>
                  <a:srgbClr val="1F2937"/>
                </a:solidFill>
                <a:latin typeface="Inter"/>
              </a:rPr>
              <a:t> del problema</a:t>
            </a:r>
            <a:endParaRPr sz="1013" b="1" dirty="0">
              <a:solidFill>
                <a:srgbClr val="1F2937"/>
              </a:solidFill>
              <a:latin typeface="Inter"/>
            </a:endParaRPr>
          </a:p>
        </p:txBody>
      </p:sp>
      <p:sp>
        <p:nvSpPr>
          <p:cNvPr id="48" name="TextBox 47"/>
          <p:cNvSpPr txBox="1"/>
          <p:nvPr/>
        </p:nvSpPr>
        <p:spPr>
          <a:xfrm>
            <a:off x="800100" y="1835944"/>
            <a:ext cx="485775" cy="129907"/>
          </a:xfrm>
          <a:prstGeom prst="rect">
            <a:avLst/>
          </a:prstGeom>
          <a:noFill/>
        </p:spPr>
        <p:txBody>
          <a:bodyPr wrap="square" lIns="0" tIns="0" rIns="0" bIns="0" anchor="t">
            <a:spAutoFit/>
          </a:bodyPr>
          <a:lstStyle/>
          <a:p>
            <a:pPr algn="l"/>
            <a:r>
              <a:rPr sz="844" b="1">
                <a:solidFill>
                  <a:srgbClr val="6D28D9"/>
                </a:solidFill>
                <a:latin typeface="Inter"/>
              </a:rPr>
              <a:t>Usuario</a:t>
            </a:r>
          </a:p>
        </p:txBody>
      </p:sp>
      <p:sp>
        <p:nvSpPr>
          <p:cNvPr id="49" name="TextBox 48"/>
          <p:cNvSpPr txBox="1"/>
          <p:nvPr/>
        </p:nvSpPr>
        <p:spPr>
          <a:xfrm>
            <a:off x="1443038" y="1835944"/>
            <a:ext cx="714375" cy="129907"/>
          </a:xfrm>
          <a:prstGeom prst="rect">
            <a:avLst/>
          </a:prstGeom>
          <a:noFill/>
        </p:spPr>
        <p:txBody>
          <a:bodyPr wrap="square" lIns="0" tIns="0" rIns="0" bIns="0" anchor="t">
            <a:spAutoFit/>
          </a:bodyPr>
          <a:lstStyle/>
          <a:p>
            <a:pPr algn="l"/>
            <a:r>
              <a:rPr sz="844" b="1">
                <a:solidFill>
                  <a:srgbClr val="6D28D9"/>
                </a:solidFill>
                <a:latin typeface="Inter"/>
              </a:rPr>
              <a:t>Restaurante</a:t>
            </a:r>
          </a:p>
        </p:txBody>
      </p:sp>
      <p:sp>
        <p:nvSpPr>
          <p:cNvPr id="50" name="TextBox 49"/>
          <p:cNvSpPr txBox="1"/>
          <p:nvPr/>
        </p:nvSpPr>
        <p:spPr>
          <a:xfrm>
            <a:off x="800100" y="2128838"/>
            <a:ext cx="350044" cy="129907"/>
          </a:xfrm>
          <a:prstGeom prst="rect">
            <a:avLst/>
          </a:prstGeom>
          <a:noFill/>
        </p:spPr>
        <p:txBody>
          <a:bodyPr wrap="square" lIns="0" tIns="0" rIns="0" bIns="0" anchor="t">
            <a:spAutoFit/>
          </a:bodyPr>
          <a:lstStyle/>
          <a:p>
            <a:pPr algn="l"/>
            <a:r>
              <a:rPr sz="844" b="1">
                <a:solidFill>
                  <a:srgbClr val="6D28D9"/>
                </a:solidFill>
                <a:latin typeface="Inter"/>
              </a:rPr>
              <a:t>Plato</a:t>
            </a:r>
          </a:p>
        </p:txBody>
      </p:sp>
      <p:sp>
        <p:nvSpPr>
          <p:cNvPr id="51" name="TextBox 50"/>
          <p:cNvSpPr txBox="1"/>
          <p:nvPr/>
        </p:nvSpPr>
        <p:spPr>
          <a:xfrm>
            <a:off x="1307306" y="2128838"/>
            <a:ext cx="442913" cy="129907"/>
          </a:xfrm>
          <a:prstGeom prst="rect">
            <a:avLst/>
          </a:prstGeom>
          <a:noFill/>
        </p:spPr>
        <p:txBody>
          <a:bodyPr wrap="square" lIns="0" tIns="0" rIns="0" bIns="0" anchor="t">
            <a:spAutoFit/>
          </a:bodyPr>
          <a:lstStyle/>
          <a:p>
            <a:pPr algn="l"/>
            <a:r>
              <a:rPr sz="844" b="1">
                <a:solidFill>
                  <a:srgbClr val="6D28D9"/>
                </a:solidFill>
                <a:latin typeface="Inter"/>
              </a:rPr>
              <a:t>Carrito</a:t>
            </a:r>
          </a:p>
        </p:txBody>
      </p:sp>
      <p:sp>
        <p:nvSpPr>
          <p:cNvPr id="52" name="TextBox 51"/>
          <p:cNvSpPr txBox="1"/>
          <p:nvPr/>
        </p:nvSpPr>
        <p:spPr>
          <a:xfrm>
            <a:off x="800100" y="2421732"/>
            <a:ext cx="700088" cy="129907"/>
          </a:xfrm>
          <a:prstGeom prst="rect">
            <a:avLst/>
          </a:prstGeom>
          <a:noFill/>
        </p:spPr>
        <p:txBody>
          <a:bodyPr wrap="square" lIns="0" tIns="0" rIns="0" bIns="0" anchor="t">
            <a:spAutoFit/>
          </a:bodyPr>
          <a:lstStyle/>
          <a:p>
            <a:pPr algn="l"/>
            <a:r>
              <a:rPr sz="844" b="1">
                <a:solidFill>
                  <a:srgbClr val="6D28D9"/>
                </a:solidFill>
                <a:latin typeface="Inter"/>
              </a:rPr>
              <a:t>Item Carrito</a:t>
            </a:r>
          </a:p>
        </p:txBody>
      </p:sp>
      <p:sp>
        <p:nvSpPr>
          <p:cNvPr id="53" name="TextBox 52"/>
          <p:cNvSpPr txBox="1"/>
          <p:nvPr/>
        </p:nvSpPr>
        <p:spPr>
          <a:xfrm>
            <a:off x="1657350" y="2421732"/>
            <a:ext cx="442913" cy="129907"/>
          </a:xfrm>
          <a:prstGeom prst="rect">
            <a:avLst/>
          </a:prstGeom>
          <a:noFill/>
        </p:spPr>
        <p:txBody>
          <a:bodyPr wrap="square" lIns="0" tIns="0" rIns="0" bIns="0" anchor="t">
            <a:spAutoFit/>
          </a:bodyPr>
          <a:lstStyle/>
          <a:p>
            <a:pPr algn="l"/>
            <a:r>
              <a:rPr sz="844" b="1">
                <a:solidFill>
                  <a:srgbClr val="6D28D9"/>
                </a:solidFill>
                <a:latin typeface="Inter"/>
              </a:rPr>
              <a:t>Pedido</a:t>
            </a:r>
          </a:p>
        </p:txBody>
      </p:sp>
      <p:sp>
        <p:nvSpPr>
          <p:cNvPr id="54" name="TextBox 53"/>
          <p:cNvSpPr txBox="1"/>
          <p:nvPr/>
        </p:nvSpPr>
        <p:spPr>
          <a:xfrm>
            <a:off x="800100" y="2714626"/>
            <a:ext cx="628650" cy="129907"/>
          </a:xfrm>
          <a:prstGeom prst="rect">
            <a:avLst/>
          </a:prstGeom>
          <a:noFill/>
        </p:spPr>
        <p:txBody>
          <a:bodyPr wrap="square" lIns="0" tIns="0" rIns="0" bIns="0" anchor="t">
            <a:spAutoFit/>
          </a:bodyPr>
          <a:lstStyle/>
          <a:p>
            <a:pPr algn="l"/>
            <a:r>
              <a:rPr sz="844" b="1">
                <a:solidFill>
                  <a:srgbClr val="6D28D9"/>
                </a:solidFill>
                <a:latin typeface="Inter"/>
              </a:rPr>
              <a:t>Repartidor</a:t>
            </a:r>
          </a:p>
        </p:txBody>
      </p:sp>
      <p:sp>
        <p:nvSpPr>
          <p:cNvPr id="55" name="TextBox 54"/>
          <p:cNvSpPr txBox="1"/>
          <p:nvPr/>
        </p:nvSpPr>
        <p:spPr>
          <a:xfrm>
            <a:off x="1585912" y="2714626"/>
            <a:ext cx="585788" cy="129907"/>
          </a:xfrm>
          <a:prstGeom prst="rect">
            <a:avLst/>
          </a:prstGeom>
          <a:noFill/>
        </p:spPr>
        <p:txBody>
          <a:bodyPr wrap="square" lIns="0" tIns="0" rIns="0" bIns="0" anchor="t">
            <a:spAutoFit/>
          </a:bodyPr>
          <a:lstStyle/>
          <a:p>
            <a:pPr algn="l"/>
            <a:r>
              <a:rPr sz="844" b="1">
                <a:solidFill>
                  <a:srgbClr val="6D28D9"/>
                </a:solidFill>
                <a:latin typeface="Inter"/>
              </a:rPr>
              <a:t>Dirección</a:t>
            </a:r>
          </a:p>
        </p:txBody>
      </p:sp>
      <p:sp>
        <p:nvSpPr>
          <p:cNvPr id="56" name="TextBox 55"/>
          <p:cNvSpPr txBox="1"/>
          <p:nvPr/>
        </p:nvSpPr>
        <p:spPr>
          <a:xfrm>
            <a:off x="800100" y="3007519"/>
            <a:ext cx="350044" cy="129907"/>
          </a:xfrm>
          <a:prstGeom prst="rect">
            <a:avLst/>
          </a:prstGeom>
          <a:noFill/>
        </p:spPr>
        <p:txBody>
          <a:bodyPr wrap="square" lIns="0" tIns="0" rIns="0" bIns="0" anchor="t">
            <a:spAutoFit/>
          </a:bodyPr>
          <a:lstStyle/>
          <a:p>
            <a:pPr algn="l"/>
            <a:r>
              <a:rPr sz="844" b="1">
                <a:solidFill>
                  <a:srgbClr val="6D28D9"/>
                </a:solidFill>
                <a:latin typeface="Inter"/>
              </a:rPr>
              <a:t>Pago</a:t>
            </a:r>
          </a:p>
        </p:txBody>
      </p:sp>
      <p:sp>
        <p:nvSpPr>
          <p:cNvPr id="57" name="TextBox 56"/>
          <p:cNvSpPr txBox="1"/>
          <p:nvPr/>
        </p:nvSpPr>
        <p:spPr>
          <a:xfrm>
            <a:off x="2961433" y="1487351"/>
            <a:ext cx="1522853" cy="153888"/>
          </a:xfrm>
          <a:prstGeom prst="rect">
            <a:avLst/>
          </a:prstGeom>
          <a:noFill/>
        </p:spPr>
        <p:txBody>
          <a:bodyPr wrap="none" lIns="0" tIns="0" rIns="0" bIns="0" anchor="t">
            <a:spAutoFit/>
          </a:bodyPr>
          <a:lstStyle/>
          <a:p>
            <a:pPr>
              <a:lnSpc>
                <a:spcPts val="1215"/>
              </a:lnSpc>
            </a:pPr>
            <a:r>
              <a:rPr sz="1013" b="1" dirty="0">
                <a:solidFill>
                  <a:srgbClr val="1F2937"/>
                </a:solidFill>
                <a:latin typeface="Inter"/>
              </a:rPr>
              <a:t>2. </a:t>
            </a:r>
            <a:r>
              <a:rPr lang="es-CO" sz="1013" b="1" dirty="0">
                <a:solidFill>
                  <a:srgbClr val="1F2937"/>
                </a:solidFill>
                <a:latin typeface="Inter"/>
              </a:rPr>
              <a:t>De lo que hace el sistema</a:t>
            </a:r>
            <a:endParaRPr sz="1013" b="1" dirty="0">
              <a:solidFill>
                <a:srgbClr val="1F2937"/>
              </a:solidFill>
              <a:latin typeface="Inter"/>
            </a:endParaRPr>
          </a:p>
        </p:txBody>
      </p:sp>
      <p:sp>
        <p:nvSpPr>
          <p:cNvPr id="58" name="TextBox 57"/>
          <p:cNvSpPr txBox="1"/>
          <p:nvPr/>
        </p:nvSpPr>
        <p:spPr>
          <a:xfrm>
            <a:off x="2832497" y="1835944"/>
            <a:ext cx="778669" cy="129907"/>
          </a:xfrm>
          <a:prstGeom prst="rect">
            <a:avLst/>
          </a:prstGeom>
          <a:noFill/>
        </p:spPr>
        <p:txBody>
          <a:bodyPr wrap="square" lIns="0" tIns="0" rIns="0" bIns="0" anchor="t">
            <a:spAutoFit/>
          </a:bodyPr>
          <a:lstStyle/>
          <a:p>
            <a:pPr algn="l"/>
            <a:r>
              <a:rPr sz="844" b="1">
                <a:solidFill>
                  <a:srgbClr val="1D4ED8"/>
                </a:solidFill>
                <a:latin typeface="Inter"/>
              </a:rPr>
              <a:t>Despachador</a:t>
            </a:r>
          </a:p>
        </p:txBody>
      </p:sp>
      <p:sp>
        <p:nvSpPr>
          <p:cNvPr id="59" name="TextBox 58"/>
          <p:cNvSpPr txBox="1"/>
          <p:nvPr/>
        </p:nvSpPr>
        <p:spPr>
          <a:xfrm>
            <a:off x="2832497" y="2128838"/>
            <a:ext cx="1085850" cy="129907"/>
          </a:xfrm>
          <a:prstGeom prst="rect">
            <a:avLst/>
          </a:prstGeom>
          <a:noFill/>
        </p:spPr>
        <p:txBody>
          <a:bodyPr wrap="square" lIns="0" tIns="0" rIns="0" bIns="0" anchor="t">
            <a:spAutoFit/>
          </a:bodyPr>
          <a:lstStyle/>
          <a:p>
            <a:pPr algn="l"/>
            <a:r>
              <a:rPr sz="844" b="1">
                <a:solidFill>
                  <a:srgbClr val="1D4ED8"/>
                </a:solidFill>
                <a:latin typeface="Inter"/>
              </a:rPr>
              <a:t>Manejador Carritos</a:t>
            </a:r>
          </a:p>
        </p:txBody>
      </p:sp>
      <p:sp>
        <p:nvSpPr>
          <p:cNvPr id="60" name="TextBox 59"/>
          <p:cNvSpPr txBox="1"/>
          <p:nvPr/>
        </p:nvSpPr>
        <p:spPr>
          <a:xfrm>
            <a:off x="2832497" y="2421732"/>
            <a:ext cx="892969" cy="129907"/>
          </a:xfrm>
          <a:prstGeom prst="rect">
            <a:avLst/>
          </a:prstGeom>
          <a:noFill/>
        </p:spPr>
        <p:txBody>
          <a:bodyPr wrap="square" lIns="0" tIns="0" rIns="0" bIns="0" anchor="t">
            <a:spAutoFit/>
          </a:bodyPr>
          <a:lstStyle/>
          <a:p>
            <a:pPr algn="l"/>
            <a:r>
              <a:rPr sz="844" b="1">
                <a:solidFill>
                  <a:srgbClr val="1D4ED8"/>
                </a:solidFill>
                <a:latin typeface="Inter"/>
              </a:rPr>
              <a:t>Buscador Fotos</a:t>
            </a:r>
          </a:p>
        </p:txBody>
      </p:sp>
      <p:sp>
        <p:nvSpPr>
          <p:cNvPr id="61" name="TextBox 60"/>
          <p:cNvSpPr txBox="1"/>
          <p:nvPr/>
        </p:nvSpPr>
        <p:spPr>
          <a:xfrm>
            <a:off x="2832497" y="2714626"/>
            <a:ext cx="742950" cy="129907"/>
          </a:xfrm>
          <a:prstGeom prst="rect">
            <a:avLst/>
          </a:prstGeom>
          <a:noFill/>
        </p:spPr>
        <p:txBody>
          <a:bodyPr wrap="square" lIns="0" tIns="0" rIns="0" bIns="0" anchor="t">
            <a:spAutoFit/>
          </a:bodyPr>
          <a:lstStyle/>
          <a:p>
            <a:pPr algn="l"/>
            <a:r>
              <a:rPr sz="844" b="1">
                <a:solidFill>
                  <a:srgbClr val="1D4ED8"/>
                </a:solidFill>
                <a:latin typeface="Inter"/>
              </a:rPr>
              <a:t>Conector DB</a:t>
            </a:r>
          </a:p>
        </p:txBody>
      </p:sp>
      <p:sp>
        <p:nvSpPr>
          <p:cNvPr id="62" name="TextBox 61"/>
          <p:cNvSpPr txBox="1"/>
          <p:nvPr/>
        </p:nvSpPr>
        <p:spPr>
          <a:xfrm>
            <a:off x="5107782" y="1487351"/>
            <a:ext cx="899285" cy="153888"/>
          </a:xfrm>
          <a:prstGeom prst="rect">
            <a:avLst/>
          </a:prstGeom>
          <a:noFill/>
        </p:spPr>
        <p:txBody>
          <a:bodyPr wrap="none" lIns="0" tIns="0" rIns="0" bIns="0" anchor="t">
            <a:spAutoFit/>
          </a:bodyPr>
          <a:lstStyle/>
          <a:p>
            <a:pPr>
              <a:lnSpc>
                <a:spcPts val="1215"/>
              </a:lnSpc>
            </a:pPr>
            <a:r>
              <a:rPr sz="1013" b="1" dirty="0">
                <a:solidFill>
                  <a:srgbClr val="1F2937"/>
                </a:solidFill>
                <a:latin typeface="Inter"/>
              </a:rPr>
              <a:t>3. </a:t>
            </a:r>
            <a:r>
              <a:rPr sz="1013" b="1" dirty="0" err="1">
                <a:solidFill>
                  <a:srgbClr val="1F2937"/>
                </a:solidFill>
                <a:latin typeface="Inter"/>
              </a:rPr>
              <a:t>Flujo</a:t>
            </a:r>
            <a:r>
              <a:rPr sz="1013" b="1" dirty="0">
                <a:solidFill>
                  <a:srgbClr val="1F2937"/>
                </a:solidFill>
                <a:latin typeface="Inter"/>
              </a:rPr>
              <a:t> de Datos</a:t>
            </a:r>
          </a:p>
        </p:txBody>
      </p:sp>
      <p:sp>
        <p:nvSpPr>
          <p:cNvPr id="63" name="TextBox 62"/>
          <p:cNvSpPr txBox="1"/>
          <p:nvPr/>
        </p:nvSpPr>
        <p:spPr>
          <a:xfrm>
            <a:off x="4864894" y="1835944"/>
            <a:ext cx="757238" cy="129907"/>
          </a:xfrm>
          <a:prstGeom prst="rect">
            <a:avLst/>
          </a:prstGeom>
          <a:noFill/>
        </p:spPr>
        <p:txBody>
          <a:bodyPr wrap="square" lIns="0" tIns="0" rIns="0" bIns="0" anchor="t">
            <a:spAutoFit/>
          </a:bodyPr>
          <a:lstStyle/>
          <a:p>
            <a:pPr algn="l"/>
            <a:r>
              <a:rPr sz="844" b="1">
                <a:solidFill>
                  <a:srgbClr val="047857"/>
                </a:solidFill>
                <a:latin typeface="Inter"/>
              </a:rPr>
              <a:t>Conexión DB</a:t>
            </a:r>
          </a:p>
        </p:txBody>
      </p:sp>
      <p:sp>
        <p:nvSpPr>
          <p:cNvPr id="64" name="TextBox 63"/>
          <p:cNvSpPr txBox="1"/>
          <p:nvPr/>
        </p:nvSpPr>
        <p:spPr>
          <a:xfrm>
            <a:off x="4864894" y="2128838"/>
            <a:ext cx="950119" cy="129907"/>
          </a:xfrm>
          <a:prstGeom prst="rect">
            <a:avLst/>
          </a:prstGeom>
          <a:noFill/>
        </p:spPr>
        <p:txBody>
          <a:bodyPr wrap="square" lIns="0" tIns="0" rIns="0" bIns="0" anchor="t">
            <a:spAutoFit/>
          </a:bodyPr>
          <a:lstStyle/>
          <a:p>
            <a:pPr algn="l"/>
            <a:r>
              <a:rPr sz="844" b="1">
                <a:solidFill>
                  <a:srgbClr val="047857"/>
                </a:solidFill>
                <a:latin typeface="Inter"/>
              </a:rPr>
              <a:t>Resultado Query</a:t>
            </a:r>
          </a:p>
        </p:txBody>
      </p:sp>
      <p:sp>
        <p:nvSpPr>
          <p:cNvPr id="65" name="TextBox 64"/>
          <p:cNvSpPr txBox="1"/>
          <p:nvPr/>
        </p:nvSpPr>
        <p:spPr>
          <a:xfrm>
            <a:off x="4864894" y="2421732"/>
            <a:ext cx="864394" cy="129907"/>
          </a:xfrm>
          <a:prstGeom prst="rect">
            <a:avLst/>
          </a:prstGeom>
          <a:noFill/>
        </p:spPr>
        <p:txBody>
          <a:bodyPr wrap="square" lIns="0" tIns="0" rIns="0" bIns="0" anchor="t">
            <a:spAutoFit/>
          </a:bodyPr>
          <a:lstStyle/>
          <a:p>
            <a:pPr algn="l"/>
            <a:r>
              <a:rPr sz="844" b="1">
                <a:solidFill>
                  <a:srgbClr val="047857"/>
                </a:solidFill>
                <a:latin typeface="Inter"/>
              </a:rPr>
              <a:t>Cambio Estado</a:t>
            </a:r>
          </a:p>
        </p:txBody>
      </p:sp>
      <p:sp>
        <p:nvSpPr>
          <p:cNvPr id="66" name="TextBox 65"/>
          <p:cNvSpPr txBox="1"/>
          <p:nvPr/>
        </p:nvSpPr>
        <p:spPr>
          <a:xfrm>
            <a:off x="4864894" y="2714626"/>
            <a:ext cx="714375" cy="129907"/>
          </a:xfrm>
          <a:prstGeom prst="rect">
            <a:avLst/>
          </a:prstGeom>
          <a:noFill/>
        </p:spPr>
        <p:txBody>
          <a:bodyPr wrap="square" lIns="0" tIns="0" rIns="0" bIns="0" anchor="t">
            <a:spAutoFit/>
          </a:bodyPr>
          <a:lstStyle/>
          <a:p>
            <a:pPr algn="l"/>
            <a:r>
              <a:rPr sz="844" b="1">
                <a:solidFill>
                  <a:srgbClr val="047857"/>
                </a:solidFill>
                <a:latin typeface="Inter"/>
              </a:rPr>
              <a:t>Notificación</a:t>
            </a:r>
          </a:p>
        </p:txBody>
      </p:sp>
      <p:sp>
        <p:nvSpPr>
          <p:cNvPr id="67" name="TextBox 66"/>
          <p:cNvSpPr txBox="1"/>
          <p:nvPr/>
        </p:nvSpPr>
        <p:spPr>
          <a:xfrm>
            <a:off x="5736432" y="2714626"/>
            <a:ext cx="607219" cy="129907"/>
          </a:xfrm>
          <a:prstGeom prst="rect">
            <a:avLst/>
          </a:prstGeom>
          <a:noFill/>
        </p:spPr>
        <p:txBody>
          <a:bodyPr wrap="square" lIns="0" tIns="0" rIns="0" bIns="0" anchor="t">
            <a:spAutoFit/>
          </a:bodyPr>
          <a:lstStyle/>
          <a:p>
            <a:pPr algn="l"/>
            <a:r>
              <a:rPr sz="844" b="1">
                <a:solidFill>
                  <a:srgbClr val="047857"/>
                </a:solidFill>
                <a:latin typeface="Inter"/>
              </a:rPr>
              <a:t>Ubicación</a:t>
            </a:r>
          </a:p>
        </p:txBody>
      </p:sp>
      <p:sp>
        <p:nvSpPr>
          <p:cNvPr id="68" name="TextBox 67"/>
          <p:cNvSpPr txBox="1"/>
          <p:nvPr/>
        </p:nvSpPr>
        <p:spPr>
          <a:xfrm>
            <a:off x="7140178" y="1487351"/>
            <a:ext cx="820738" cy="153888"/>
          </a:xfrm>
          <a:prstGeom prst="rect">
            <a:avLst/>
          </a:prstGeom>
          <a:noFill/>
        </p:spPr>
        <p:txBody>
          <a:bodyPr wrap="none" lIns="0" tIns="0" rIns="0" bIns="0" anchor="t">
            <a:spAutoFit/>
          </a:bodyPr>
          <a:lstStyle/>
          <a:p>
            <a:pPr>
              <a:lnSpc>
                <a:spcPts val="1215"/>
              </a:lnSpc>
            </a:pPr>
            <a:r>
              <a:rPr sz="1013" b="1" dirty="0">
                <a:solidFill>
                  <a:srgbClr val="1F2937"/>
                </a:solidFill>
                <a:latin typeface="Inter"/>
              </a:rPr>
              <a:t>4. </a:t>
            </a:r>
            <a:r>
              <a:rPr sz="1013" b="1" dirty="0" err="1">
                <a:solidFill>
                  <a:srgbClr val="1F2937"/>
                </a:solidFill>
                <a:latin typeface="Inter"/>
              </a:rPr>
              <a:t>Agrupadores</a:t>
            </a:r>
            <a:endParaRPr sz="1013" b="1" dirty="0">
              <a:solidFill>
                <a:srgbClr val="1F2937"/>
              </a:solidFill>
              <a:latin typeface="Inter"/>
            </a:endParaRPr>
          </a:p>
        </p:txBody>
      </p:sp>
      <p:sp>
        <p:nvSpPr>
          <p:cNvPr id="69" name="TextBox 68"/>
          <p:cNvSpPr txBox="1"/>
          <p:nvPr/>
        </p:nvSpPr>
        <p:spPr>
          <a:xfrm>
            <a:off x="6695033" y="1850232"/>
            <a:ext cx="1851124" cy="129907"/>
          </a:xfrm>
          <a:prstGeom prst="rect">
            <a:avLst/>
          </a:prstGeom>
          <a:noFill/>
        </p:spPr>
        <p:txBody>
          <a:bodyPr wrap="square" lIns="0" tIns="0" rIns="0" bIns="0" anchor="t">
            <a:spAutoFit/>
          </a:bodyPr>
          <a:lstStyle/>
          <a:p>
            <a:pPr algn="ctr"/>
            <a:r>
              <a:rPr sz="844" b="1" dirty="0" err="1">
                <a:solidFill>
                  <a:srgbClr val="B45309"/>
                </a:solidFill>
                <a:latin typeface="Inter"/>
              </a:rPr>
              <a:t>Catálogo</a:t>
            </a:r>
            <a:r>
              <a:rPr sz="844" b="1" dirty="0">
                <a:solidFill>
                  <a:srgbClr val="B45309"/>
                </a:solidFill>
                <a:latin typeface="Inter"/>
              </a:rPr>
              <a:t> </a:t>
            </a:r>
            <a:r>
              <a:rPr sz="844" b="1" dirty="0" err="1">
                <a:solidFill>
                  <a:srgbClr val="B45309"/>
                </a:solidFill>
                <a:latin typeface="Inter"/>
              </a:rPr>
              <a:t>Restaurantes</a:t>
            </a:r>
            <a:endParaRPr sz="844" b="1" dirty="0">
              <a:solidFill>
                <a:srgbClr val="B45309"/>
              </a:solidFill>
              <a:latin typeface="Inter"/>
            </a:endParaRPr>
          </a:p>
        </p:txBody>
      </p:sp>
      <p:sp>
        <p:nvSpPr>
          <p:cNvPr id="70" name="TextBox 69"/>
          <p:cNvSpPr txBox="1"/>
          <p:nvPr/>
        </p:nvSpPr>
        <p:spPr>
          <a:xfrm>
            <a:off x="6811565" y="2157413"/>
            <a:ext cx="1689497" cy="450316"/>
          </a:xfrm>
          <a:prstGeom prst="rect">
            <a:avLst/>
          </a:prstGeom>
          <a:noFill/>
        </p:spPr>
        <p:txBody>
          <a:bodyPr wrap="square" lIns="0" tIns="0" rIns="0" bIns="0" anchor="t">
            <a:spAutoFit/>
          </a:bodyPr>
          <a:lstStyle/>
          <a:p>
            <a:pPr>
              <a:lnSpc>
                <a:spcPts val="1225"/>
              </a:lnSpc>
              <a:spcBef>
                <a:spcPts val="500"/>
              </a:spcBef>
              <a:spcAft>
                <a:spcPts val="300"/>
              </a:spcAft>
            </a:pPr>
            <a:r>
              <a:rPr lang="en-US" sz="800" dirty="0" err="1">
                <a:solidFill>
                  <a:srgbClr val="5E5E5E"/>
                </a:solidFill>
                <a:latin typeface="Inter"/>
                <a:ea typeface="Helvetica" pitchFamily="34" charset="-122"/>
                <a:cs typeface="Helvetica" pitchFamily="34" charset="-120"/>
              </a:rPr>
              <a:t>Apareció</a:t>
            </a:r>
            <a:r>
              <a:rPr lang="en-US" sz="800" dirty="0">
                <a:solidFill>
                  <a:srgbClr val="5E5E5E"/>
                </a:solidFill>
                <a:latin typeface="Inter"/>
                <a:ea typeface="Helvetica" pitchFamily="34" charset="-122"/>
                <a:cs typeface="Helvetica" pitchFamily="34" charset="-120"/>
              </a:rPr>
              <a:t> </a:t>
            </a:r>
            <a:r>
              <a:rPr lang="en-US" sz="800" dirty="0" err="1">
                <a:solidFill>
                  <a:srgbClr val="5E5E5E"/>
                </a:solidFill>
                <a:latin typeface="Inter"/>
                <a:ea typeface="Helvetica" pitchFamily="34" charset="-122"/>
                <a:cs typeface="Helvetica" pitchFamily="34" charset="-120"/>
              </a:rPr>
              <a:t>porque</a:t>
            </a:r>
            <a:r>
              <a:rPr lang="en-US" sz="800" dirty="0">
                <a:solidFill>
                  <a:srgbClr val="5E5E5E"/>
                </a:solidFill>
                <a:latin typeface="Inter"/>
                <a:ea typeface="Helvetica" pitchFamily="34" charset="-122"/>
                <a:cs typeface="Helvetica" pitchFamily="34" charset="-120"/>
              </a:rPr>
              <a:t> </a:t>
            </a:r>
            <a:r>
              <a:rPr lang="en-US" sz="800" dirty="0" err="1">
                <a:solidFill>
                  <a:srgbClr val="5E5E5E"/>
                </a:solidFill>
                <a:latin typeface="Inter"/>
                <a:ea typeface="Helvetica" pitchFamily="34" charset="-122"/>
                <a:cs typeface="Helvetica" pitchFamily="34" charset="-120"/>
              </a:rPr>
              <a:t>alguien</a:t>
            </a:r>
            <a:r>
              <a:rPr lang="en-US" sz="800" dirty="0">
                <a:solidFill>
                  <a:srgbClr val="5E5E5E"/>
                </a:solidFill>
                <a:latin typeface="Inter"/>
                <a:ea typeface="Helvetica" pitchFamily="34" charset="-122"/>
                <a:cs typeface="Helvetica" pitchFamily="34" charset="-120"/>
              </a:rPr>
              <a:t> </a:t>
            </a:r>
            <a:r>
              <a:rPr lang="en-US" sz="800" dirty="0" err="1">
                <a:solidFill>
                  <a:srgbClr val="5E5E5E"/>
                </a:solidFill>
                <a:latin typeface="Inter"/>
                <a:ea typeface="Helvetica" pitchFamily="34" charset="-122"/>
                <a:cs typeface="Helvetica" pitchFamily="34" charset="-120"/>
              </a:rPr>
              <a:t>tiene</a:t>
            </a:r>
            <a:r>
              <a:rPr lang="en-US" sz="800" dirty="0">
                <a:solidFill>
                  <a:srgbClr val="5E5E5E"/>
                </a:solidFill>
                <a:latin typeface="Inter"/>
                <a:ea typeface="Helvetica" pitchFamily="34" charset="-122"/>
                <a:cs typeface="Helvetica" pitchFamily="34" charset="-120"/>
              </a:rPr>
              <a:t> </a:t>
            </a:r>
            <a:r>
              <a:rPr lang="en-US" sz="800" dirty="0" err="1">
                <a:solidFill>
                  <a:srgbClr val="5E5E5E"/>
                </a:solidFill>
                <a:latin typeface="Inter"/>
                <a:ea typeface="Helvetica" pitchFamily="34" charset="-122"/>
                <a:cs typeface="Helvetica" pitchFamily="34" charset="-120"/>
              </a:rPr>
              <a:t>que</a:t>
            </a:r>
            <a:r>
              <a:rPr lang="en-US" sz="800" dirty="0">
                <a:solidFill>
                  <a:srgbClr val="5E5E5E"/>
                </a:solidFill>
                <a:latin typeface="Inter"/>
                <a:ea typeface="Helvetica" pitchFamily="34" charset="-122"/>
                <a:cs typeface="Helvetica" pitchFamily="34" charset="-120"/>
              </a:rPr>
              <a:t> </a:t>
            </a:r>
            <a:r>
              <a:rPr lang="en-US" sz="800" dirty="0" err="1">
                <a:solidFill>
                  <a:srgbClr val="5E5E5E"/>
                </a:solidFill>
                <a:latin typeface="Inter"/>
                <a:ea typeface="Helvetica" pitchFamily="34" charset="-122"/>
                <a:cs typeface="Helvetica" pitchFamily="34" charset="-120"/>
              </a:rPr>
              <a:t>mantener</a:t>
            </a:r>
            <a:r>
              <a:rPr lang="en-US" sz="800" dirty="0">
                <a:solidFill>
                  <a:srgbClr val="5E5E5E"/>
                </a:solidFill>
                <a:latin typeface="Inter"/>
                <a:ea typeface="Helvetica" pitchFamily="34" charset="-122"/>
                <a:cs typeface="Helvetica" pitchFamily="34" charset="-120"/>
              </a:rPr>
              <a:t> </a:t>
            </a:r>
            <a:r>
              <a:rPr lang="en-US" sz="800" dirty="0" err="1">
                <a:solidFill>
                  <a:srgbClr val="5E5E5E"/>
                </a:solidFill>
                <a:latin typeface="Inter"/>
                <a:ea typeface="Helvetica" pitchFamily="34" charset="-122"/>
                <a:cs typeface="Helvetica" pitchFamily="34" charset="-120"/>
              </a:rPr>
              <a:t>juntos</a:t>
            </a:r>
            <a:r>
              <a:rPr lang="en-US" sz="800" dirty="0">
                <a:solidFill>
                  <a:srgbClr val="5E5E5E"/>
                </a:solidFill>
                <a:latin typeface="Inter"/>
                <a:ea typeface="Helvetica" pitchFamily="34" charset="-122"/>
                <a:cs typeface="Helvetica" pitchFamily="34" charset="-120"/>
              </a:rPr>
              <a:t> </a:t>
            </a:r>
            <a:r>
              <a:rPr lang="en-US" sz="800" dirty="0" err="1">
                <a:solidFill>
                  <a:srgbClr val="5E5E5E"/>
                </a:solidFill>
                <a:latin typeface="Inter"/>
                <a:ea typeface="Helvetica" pitchFamily="34" charset="-122"/>
                <a:cs typeface="Helvetica" pitchFamily="34" charset="-120"/>
              </a:rPr>
              <a:t>los</a:t>
            </a:r>
            <a:r>
              <a:rPr lang="en-US" sz="800" dirty="0">
                <a:solidFill>
                  <a:srgbClr val="5E5E5E"/>
                </a:solidFill>
                <a:latin typeface="Inter"/>
                <a:ea typeface="Helvetica" pitchFamily="34" charset="-122"/>
                <a:cs typeface="Helvetica" pitchFamily="34" charset="-120"/>
              </a:rPr>
              <a:t> </a:t>
            </a:r>
            <a:r>
              <a:rPr lang="en-US" sz="800" dirty="0" err="1">
                <a:solidFill>
                  <a:srgbClr val="5E5E5E"/>
                </a:solidFill>
                <a:latin typeface="Inter"/>
                <a:ea typeface="Helvetica" pitchFamily="34" charset="-122"/>
                <a:cs typeface="Helvetica" pitchFamily="34" charset="-120"/>
              </a:rPr>
              <a:t>restaurantes</a:t>
            </a:r>
            <a:r>
              <a:rPr lang="en-US" sz="800" dirty="0">
                <a:solidFill>
                  <a:srgbClr val="5E5E5E"/>
                </a:solidFill>
                <a:latin typeface="Inter"/>
                <a:ea typeface="Helvetica" pitchFamily="34" charset="-122"/>
                <a:cs typeface="Helvetica" pitchFamily="34" charset="-120"/>
              </a:rPr>
              <a:t> y </a:t>
            </a:r>
            <a:r>
              <a:rPr lang="en-US" sz="800" dirty="0" err="1">
                <a:solidFill>
                  <a:srgbClr val="5E5E5E"/>
                </a:solidFill>
                <a:latin typeface="Inter"/>
                <a:ea typeface="Helvetica" pitchFamily="34" charset="-122"/>
                <a:cs typeface="Helvetica" pitchFamily="34" charset="-120"/>
              </a:rPr>
              <a:t>poder</a:t>
            </a:r>
            <a:r>
              <a:rPr lang="en-US" sz="800" dirty="0">
                <a:solidFill>
                  <a:srgbClr val="5E5E5E"/>
                </a:solidFill>
                <a:latin typeface="Inter"/>
                <a:ea typeface="Helvetica" pitchFamily="34" charset="-122"/>
                <a:cs typeface="Helvetica" pitchFamily="34" charset="-120"/>
              </a:rPr>
              <a:t> </a:t>
            </a:r>
            <a:r>
              <a:rPr lang="en-US" sz="800" dirty="0" err="1">
                <a:solidFill>
                  <a:srgbClr val="5E5E5E"/>
                </a:solidFill>
                <a:latin typeface="Inter"/>
                <a:ea typeface="Helvetica" pitchFamily="34" charset="-122"/>
                <a:cs typeface="Helvetica" pitchFamily="34" charset="-120"/>
              </a:rPr>
              <a:t>encontrarlos</a:t>
            </a:r>
            <a:r>
              <a:rPr lang="en-US" sz="800" dirty="0">
                <a:solidFill>
                  <a:srgbClr val="5E5E5E"/>
                </a:solidFill>
                <a:latin typeface="Inter"/>
                <a:ea typeface="Helvetica" pitchFamily="34" charset="-122"/>
                <a:cs typeface="Helvetica" pitchFamily="34" charset="-120"/>
              </a:rPr>
              <a:t> </a:t>
            </a:r>
            <a:r>
              <a:rPr lang="en-US" sz="800" dirty="0" err="1">
                <a:solidFill>
                  <a:srgbClr val="5E5E5E"/>
                </a:solidFill>
                <a:latin typeface="Inter"/>
                <a:ea typeface="Helvetica" pitchFamily="34" charset="-122"/>
                <a:cs typeface="Helvetica" pitchFamily="34" charset="-120"/>
              </a:rPr>
              <a:t>por</a:t>
            </a:r>
            <a:r>
              <a:rPr lang="en-US" sz="800" dirty="0">
                <a:solidFill>
                  <a:srgbClr val="5E5E5E"/>
                </a:solidFill>
                <a:latin typeface="Inter"/>
                <a:ea typeface="Helvetica" pitchFamily="34" charset="-122"/>
                <a:cs typeface="Helvetica" pitchFamily="34" charset="-120"/>
              </a:rPr>
              <a:t> </a:t>
            </a:r>
            <a:r>
              <a:rPr lang="en-US" sz="800" dirty="0" err="1">
                <a:solidFill>
                  <a:srgbClr val="5E5E5E"/>
                </a:solidFill>
                <a:latin typeface="Inter"/>
                <a:ea typeface="Helvetica" pitchFamily="34" charset="-122"/>
                <a:cs typeface="Helvetica" pitchFamily="34" charset="-120"/>
              </a:rPr>
              <a:t>su</a:t>
            </a:r>
            <a:r>
              <a:rPr lang="en-US" sz="800" dirty="0">
                <a:solidFill>
                  <a:srgbClr val="5E5E5E"/>
                </a:solidFill>
                <a:latin typeface="Inter"/>
                <a:ea typeface="Helvetica" pitchFamily="34" charset="-122"/>
                <a:cs typeface="Helvetica" pitchFamily="34" charset="-120"/>
              </a:rPr>
              <a:t> </a:t>
            </a:r>
            <a:r>
              <a:rPr lang="en-US" sz="800" dirty="0" err="1">
                <a:solidFill>
                  <a:srgbClr val="5E5E5E"/>
                </a:solidFill>
                <a:latin typeface="Inter"/>
                <a:ea typeface="Helvetica" pitchFamily="34" charset="-122"/>
                <a:cs typeface="Helvetica" pitchFamily="34" charset="-120"/>
              </a:rPr>
              <a:t>identificador</a:t>
            </a:r>
            <a:r>
              <a:rPr lang="en-US" sz="800" dirty="0">
                <a:solidFill>
                  <a:srgbClr val="5E5E5E"/>
                </a:solidFill>
                <a:latin typeface="Inter"/>
                <a:ea typeface="Helvetica" pitchFamily="34" charset="-122"/>
                <a:cs typeface="Helvetica" pitchFamily="34" charset="-120"/>
              </a:rPr>
              <a:t>.</a:t>
            </a:r>
            <a:endParaRPr lang="en-US" sz="800" dirty="0">
              <a:latin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04800"/>
            <a:ext cx="8394192" cy="312837"/>
          </a:xfrm>
          <a:prstGeom prst="rect">
            <a:avLst/>
          </a:prstGeom>
          <a:noFill/>
          <a:ln/>
        </p:spPr>
        <p:txBody>
          <a:bodyPr wrap="square" lIns="0" tIns="0" rIns="0" bIns="0" rtlCol="0" anchor="t"/>
          <a:lstStyle/>
          <a:p>
            <a:pPr marL="0" indent="0" algn="l">
              <a:lnSpc>
                <a:spcPts val="2464"/>
              </a:lnSpc>
              <a:spcBef>
                <a:spcPts val="2400"/>
              </a:spcBef>
              <a:buNone/>
            </a:pPr>
            <a:r>
              <a:rPr lang="en-US" sz="2200" b="1" dirty="0">
                <a:solidFill>
                  <a:srgbClr val="111111"/>
                </a:solidFill>
                <a:latin typeface="Helvetica" pitchFamily="34" charset="0"/>
                <a:ea typeface="Helvetica" pitchFamily="34" charset="-122"/>
                <a:cs typeface="Helvetica" pitchFamily="34" charset="-120"/>
              </a:rPr>
              <a:t>Asignar estereotipos</a:t>
            </a:r>
            <a:endParaRPr lang="en-US" sz="2200" dirty="0"/>
          </a:p>
        </p:txBody>
      </p:sp>
      <p:sp>
        <p:nvSpPr>
          <p:cNvPr id="3" name="Text 1"/>
          <p:cNvSpPr/>
          <p:nvPr/>
        </p:nvSpPr>
        <p:spPr>
          <a:xfrm>
            <a:off x="431750" y="693837"/>
            <a:ext cx="8445957" cy="329803"/>
          </a:xfrm>
          <a:prstGeom prst="rect">
            <a:avLst/>
          </a:prstGeom>
          <a:noFill/>
          <a:ln/>
        </p:spPr>
        <p:txBody>
          <a:bodyPr wrap="square" lIns="0" tIns="0" rIns="0" bIns="0" rtlCol="0" anchor="t"/>
          <a:lstStyle/>
          <a:p>
            <a:pPr marL="0" indent="0" algn="l">
              <a:lnSpc>
                <a:spcPts val="1300"/>
              </a:lnSpc>
              <a:spcAft>
                <a:spcPts val="800"/>
              </a:spcAft>
              <a:buNone/>
            </a:pPr>
            <a:r>
              <a:rPr lang="en-US" sz="1000" dirty="0">
                <a:solidFill>
                  <a:srgbClr val="4A4A4A"/>
                </a:solidFill>
                <a:latin typeface="Helvetica" pitchFamily="34" charset="0"/>
                <a:ea typeface="Helvetica" pitchFamily="34" charset="-122"/>
                <a:cs typeface="Helvetica" pitchFamily="34" charset="-120"/>
              </a:rPr>
              <a:t>Los elementos sin estereotipo marcado son </a:t>
            </a:r>
            <a:r>
              <a:rPr lang="en-US" sz="1000" b="1" dirty="0">
                <a:solidFill>
                  <a:srgbClr val="4A4A4A"/>
                </a:solidFill>
                <a:latin typeface="Helvetica" pitchFamily="34" charset="0"/>
                <a:ea typeface="Helvetica" pitchFamily="34" charset="-122"/>
                <a:cs typeface="Helvetica" pitchFamily="34" charset="-120"/>
              </a:rPr>
              <a:t>«information holder»</a:t>
            </a:r>
            <a:r>
              <a:rPr lang="en-US" sz="1000" dirty="0">
                <a:solidFill>
                  <a:srgbClr val="4A4A4A"/>
                </a:solidFill>
                <a:latin typeface="Helvetica" pitchFamily="34" charset="0"/>
                <a:ea typeface="Helvetica" pitchFamily="34" charset="-122"/>
                <a:cs typeface="Helvetica" pitchFamily="34" charset="-120"/>
              </a:rPr>
              <a:t>. Esta asignación no es precisa ni definitiva, pero ya nos empieza a dar ideas sobre las responsabilidades que le vamos a poner a cada uno.</a:t>
            </a:r>
            <a:endParaRPr lang="en-US" sz="1000" dirty="0"/>
          </a:p>
        </p:txBody>
      </p:sp>
      <p:sp>
        <p:nvSpPr>
          <p:cNvPr id="4" name="Text 2"/>
          <p:cNvSpPr/>
          <p:nvPr/>
        </p:nvSpPr>
        <p:spPr>
          <a:xfrm>
            <a:off x="431750" y="1125141"/>
            <a:ext cx="1278582" cy="641152"/>
          </a:xfrm>
          <a:prstGeom prst="roundRect">
            <a:avLst>
              <a:gd name="adj" fmla="val 7923"/>
            </a:avLst>
          </a:prstGeom>
          <a:solidFill>
            <a:srgbClr val="E9F4FF"/>
          </a:solidFill>
          <a:ln w="9525">
            <a:solidFill>
              <a:srgbClr val="4FA8E8"/>
            </a:solidFill>
          </a:ln>
        </p:spPr>
        <p:txBody>
          <a:bodyPr wrap="square" rtlCol="0" anchor="ctr"/>
          <a:lstStyle/>
          <a:p>
            <a:pPr marL="0" indent="0">
              <a:buNone/>
            </a:pPr>
            <a:endParaRPr lang="en-US" dirty="0"/>
          </a:p>
        </p:txBody>
      </p:sp>
      <p:sp>
        <p:nvSpPr>
          <p:cNvPr id="5" name="Text 3"/>
          <p:cNvSpPr/>
          <p:nvPr/>
        </p:nvSpPr>
        <p:spPr>
          <a:xfrm>
            <a:off x="467542" y="1185416"/>
            <a:ext cx="1206999" cy="128439"/>
          </a:xfrm>
          <a:prstGeom prst="rect">
            <a:avLst/>
          </a:prstGeom>
          <a:noFill/>
          <a:ln/>
        </p:spPr>
        <p:txBody>
          <a:bodyPr wrap="square" lIns="0" tIns="0" rIns="0" bIns="0" rtlCol="0" anchor="t"/>
          <a:lstStyle/>
          <a:p>
            <a:pPr marL="0" indent="0" algn="ctr">
              <a:lnSpc>
                <a:spcPts val="1012"/>
              </a:lnSpc>
              <a:buNone/>
            </a:pPr>
            <a:r>
              <a:rPr lang="en-US" sz="880" b="1" dirty="0">
                <a:solidFill>
                  <a:srgbClr val="111111"/>
                </a:solidFill>
                <a:latin typeface="Helvetica" pitchFamily="34" charset="0"/>
                <a:ea typeface="Helvetica" pitchFamily="34" charset="-122"/>
                <a:cs typeface="Helvetica" pitchFamily="34" charset="-120"/>
              </a:rPr>
              <a:t>Pedido</a:t>
            </a:r>
            <a:endParaRPr lang="en-US" sz="880" dirty="0"/>
          </a:p>
        </p:txBody>
      </p:sp>
      <p:sp>
        <p:nvSpPr>
          <p:cNvPr id="6" name="Text 4"/>
          <p:cNvSpPr/>
          <p:nvPr/>
        </p:nvSpPr>
        <p:spPr>
          <a:xfrm>
            <a:off x="467542" y="1326505"/>
            <a:ext cx="1206999" cy="125462"/>
          </a:xfrm>
          <a:prstGeom prst="rect">
            <a:avLst/>
          </a:prstGeom>
          <a:noFill/>
          <a:ln/>
        </p:spPr>
        <p:txBody>
          <a:bodyPr wrap="square" lIns="0" tIns="0" rIns="0" bIns="0" rtlCol="0" anchor="t"/>
          <a:lstStyle/>
          <a:p>
            <a:pPr marL="0" indent="0" algn="ctr">
              <a:lnSpc>
                <a:spcPts val="988"/>
              </a:lnSpc>
              <a:spcBef>
                <a:spcPts val="100"/>
              </a:spcBef>
              <a:buNone/>
            </a:pPr>
            <a:r>
              <a:rPr lang="en-US" sz="760" dirty="0">
                <a:solidFill>
                  <a:srgbClr val="0B5C96"/>
                </a:solidFill>
                <a:latin typeface="Helvetica" pitchFamily="34" charset="0"/>
                <a:ea typeface="Helvetica" pitchFamily="34" charset="-122"/>
                <a:cs typeface="Helvetica" pitchFamily="34" charset="-120"/>
              </a:rPr>
              <a:t>«controller»</a:t>
            </a:r>
            <a:endParaRPr lang="en-US" sz="760" dirty="0"/>
          </a:p>
        </p:txBody>
      </p:sp>
      <p:sp>
        <p:nvSpPr>
          <p:cNvPr id="7" name="Text 5"/>
          <p:cNvSpPr/>
          <p:nvPr/>
        </p:nvSpPr>
        <p:spPr>
          <a:xfrm>
            <a:off x="1811834" y="1125141"/>
            <a:ext cx="1278582" cy="641152"/>
          </a:xfrm>
          <a:prstGeom prst="roundRect">
            <a:avLst>
              <a:gd name="adj" fmla="val 7923"/>
            </a:avLst>
          </a:prstGeom>
          <a:solidFill>
            <a:srgbClr val="E9F4FF"/>
          </a:solidFill>
          <a:ln w="9525">
            <a:solidFill>
              <a:srgbClr val="4FA8E8"/>
            </a:solidFill>
          </a:ln>
        </p:spPr>
        <p:txBody>
          <a:bodyPr wrap="square" rtlCol="0" anchor="ctr"/>
          <a:lstStyle/>
          <a:p>
            <a:pPr marL="0" indent="0">
              <a:buNone/>
            </a:pPr>
            <a:endParaRPr lang="en-US" dirty="0"/>
          </a:p>
        </p:txBody>
      </p:sp>
      <p:sp>
        <p:nvSpPr>
          <p:cNvPr id="8" name="Text 6"/>
          <p:cNvSpPr/>
          <p:nvPr/>
        </p:nvSpPr>
        <p:spPr>
          <a:xfrm>
            <a:off x="1847625" y="1185416"/>
            <a:ext cx="1206999" cy="128439"/>
          </a:xfrm>
          <a:prstGeom prst="rect">
            <a:avLst/>
          </a:prstGeom>
          <a:noFill/>
          <a:ln/>
        </p:spPr>
        <p:txBody>
          <a:bodyPr wrap="square" lIns="0" tIns="0" rIns="0" bIns="0" rtlCol="0" anchor="t"/>
          <a:lstStyle/>
          <a:p>
            <a:pPr marL="0" indent="0" algn="ctr">
              <a:lnSpc>
                <a:spcPts val="1012"/>
              </a:lnSpc>
              <a:buNone/>
            </a:pPr>
            <a:r>
              <a:rPr lang="en-US" sz="880" b="1" dirty="0">
                <a:solidFill>
                  <a:srgbClr val="111111"/>
                </a:solidFill>
                <a:latin typeface="Helvetica" pitchFamily="34" charset="0"/>
                <a:ea typeface="Helvetica" pitchFamily="34" charset="-122"/>
                <a:cs typeface="Helvetica" pitchFamily="34" charset="-120"/>
              </a:rPr>
              <a:t>Despachador</a:t>
            </a:r>
            <a:endParaRPr lang="en-US" sz="880" dirty="0"/>
          </a:p>
        </p:txBody>
      </p:sp>
      <p:sp>
        <p:nvSpPr>
          <p:cNvPr id="9" name="Text 7"/>
          <p:cNvSpPr/>
          <p:nvPr/>
        </p:nvSpPr>
        <p:spPr>
          <a:xfrm>
            <a:off x="1847625" y="1326505"/>
            <a:ext cx="1206999" cy="125462"/>
          </a:xfrm>
          <a:prstGeom prst="rect">
            <a:avLst/>
          </a:prstGeom>
          <a:noFill/>
          <a:ln/>
        </p:spPr>
        <p:txBody>
          <a:bodyPr wrap="square" lIns="0" tIns="0" rIns="0" bIns="0" rtlCol="0" anchor="t"/>
          <a:lstStyle/>
          <a:p>
            <a:pPr marL="0" indent="0" algn="ctr">
              <a:lnSpc>
                <a:spcPts val="988"/>
              </a:lnSpc>
              <a:spcBef>
                <a:spcPts val="100"/>
              </a:spcBef>
              <a:buNone/>
            </a:pPr>
            <a:r>
              <a:rPr lang="en-US" sz="760" dirty="0">
                <a:solidFill>
                  <a:srgbClr val="0B5C96"/>
                </a:solidFill>
                <a:latin typeface="Helvetica" pitchFamily="34" charset="0"/>
                <a:ea typeface="Helvetica" pitchFamily="34" charset="-122"/>
                <a:cs typeface="Helvetica" pitchFamily="34" charset="-120"/>
              </a:rPr>
              <a:t>«coordinator»</a:t>
            </a:r>
            <a:endParaRPr lang="en-US" sz="760" dirty="0"/>
          </a:p>
        </p:txBody>
      </p:sp>
      <p:sp>
        <p:nvSpPr>
          <p:cNvPr id="10" name="Text 8"/>
          <p:cNvSpPr/>
          <p:nvPr/>
        </p:nvSpPr>
        <p:spPr>
          <a:xfrm>
            <a:off x="3191917" y="1125141"/>
            <a:ext cx="1278582" cy="641152"/>
          </a:xfrm>
          <a:prstGeom prst="roundRect">
            <a:avLst>
              <a:gd name="adj" fmla="val 7923"/>
            </a:avLst>
          </a:prstGeom>
          <a:solidFill>
            <a:srgbClr val="E9F4FF"/>
          </a:solidFill>
          <a:ln w="9525">
            <a:solidFill>
              <a:srgbClr val="4FA8E8"/>
            </a:solidFill>
          </a:ln>
        </p:spPr>
        <p:txBody>
          <a:bodyPr wrap="square" rtlCol="0" anchor="ctr"/>
          <a:lstStyle/>
          <a:p>
            <a:pPr marL="0" indent="0">
              <a:buNone/>
            </a:pPr>
            <a:endParaRPr lang="en-US" dirty="0"/>
          </a:p>
        </p:txBody>
      </p:sp>
      <p:sp>
        <p:nvSpPr>
          <p:cNvPr id="11" name="Text 9"/>
          <p:cNvSpPr/>
          <p:nvPr/>
        </p:nvSpPr>
        <p:spPr>
          <a:xfrm>
            <a:off x="3227708" y="1185416"/>
            <a:ext cx="1206999" cy="128439"/>
          </a:xfrm>
          <a:prstGeom prst="rect">
            <a:avLst/>
          </a:prstGeom>
          <a:noFill/>
          <a:ln/>
        </p:spPr>
        <p:txBody>
          <a:bodyPr wrap="square" lIns="0" tIns="0" rIns="0" bIns="0" rtlCol="0" anchor="t"/>
          <a:lstStyle/>
          <a:p>
            <a:pPr marL="0" indent="0" algn="ctr">
              <a:lnSpc>
                <a:spcPts val="1012"/>
              </a:lnSpc>
              <a:buNone/>
            </a:pPr>
            <a:r>
              <a:rPr lang="en-US" sz="880" b="1" dirty="0">
                <a:solidFill>
                  <a:srgbClr val="111111"/>
                </a:solidFill>
                <a:latin typeface="Helvetica" pitchFamily="34" charset="0"/>
                <a:ea typeface="Helvetica" pitchFamily="34" charset="-122"/>
                <a:cs typeface="Helvetica" pitchFamily="34" charset="-120"/>
              </a:rPr>
              <a:t>Manejador de Carritos</a:t>
            </a:r>
            <a:endParaRPr lang="en-US" sz="880" dirty="0"/>
          </a:p>
        </p:txBody>
      </p:sp>
      <p:sp>
        <p:nvSpPr>
          <p:cNvPr id="12" name="Text 10"/>
          <p:cNvSpPr/>
          <p:nvPr/>
        </p:nvSpPr>
        <p:spPr>
          <a:xfrm>
            <a:off x="3227708" y="1326505"/>
            <a:ext cx="1206999" cy="125462"/>
          </a:xfrm>
          <a:prstGeom prst="rect">
            <a:avLst/>
          </a:prstGeom>
          <a:noFill/>
          <a:ln/>
        </p:spPr>
        <p:txBody>
          <a:bodyPr wrap="square" lIns="0" tIns="0" rIns="0" bIns="0" rtlCol="0" anchor="t"/>
          <a:lstStyle/>
          <a:p>
            <a:pPr marL="0" indent="0" algn="ctr">
              <a:lnSpc>
                <a:spcPts val="988"/>
              </a:lnSpc>
              <a:spcBef>
                <a:spcPts val="100"/>
              </a:spcBef>
              <a:buNone/>
            </a:pPr>
            <a:r>
              <a:rPr lang="en-US" sz="760" dirty="0">
                <a:solidFill>
                  <a:srgbClr val="0B5C96"/>
                </a:solidFill>
                <a:latin typeface="Helvetica" pitchFamily="34" charset="0"/>
                <a:ea typeface="Helvetica" pitchFamily="34" charset="-122"/>
                <a:cs typeface="Helvetica" pitchFamily="34" charset="-120"/>
              </a:rPr>
              <a:t>«structurer»</a:t>
            </a:r>
            <a:endParaRPr lang="en-US" sz="760" dirty="0"/>
          </a:p>
        </p:txBody>
      </p:sp>
      <p:sp>
        <p:nvSpPr>
          <p:cNvPr id="13" name="Text 11"/>
          <p:cNvSpPr/>
          <p:nvPr/>
        </p:nvSpPr>
        <p:spPr>
          <a:xfrm>
            <a:off x="4572000" y="1125141"/>
            <a:ext cx="1278582" cy="641152"/>
          </a:xfrm>
          <a:prstGeom prst="roundRect">
            <a:avLst>
              <a:gd name="adj" fmla="val 7923"/>
            </a:avLst>
          </a:prstGeom>
          <a:solidFill>
            <a:srgbClr val="E9F4FF"/>
          </a:solidFill>
          <a:ln w="9525">
            <a:solidFill>
              <a:srgbClr val="4FA8E8"/>
            </a:solidFill>
          </a:ln>
        </p:spPr>
        <p:txBody>
          <a:bodyPr wrap="square" rtlCol="0" anchor="ctr"/>
          <a:lstStyle/>
          <a:p>
            <a:pPr marL="0" indent="0">
              <a:buNone/>
            </a:pPr>
            <a:endParaRPr lang="en-US" dirty="0"/>
          </a:p>
        </p:txBody>
      </p:sp>
      <p:sp>
        <p:nvSpPr>
          <p:cNvPr id="14" name="Text 12"/>
          <p:cNvSpPr/>
          <p:nvPr/>
        </p:nvSpPr>
        <p:spPr>
          <a:xfrm>
            <a:off x="4607792" y="1185416"/>
            <a:ext cx="1206999" cy="256877"/>
          </a:xfrm>
          <a:prstGeom prst="rect">
            <a:avLst/>
          </a:prstGeom>
          <a:noFill/>
          <a:ln/>
        </p:spPr>
        <p:txBody>
          <a:bodyPr wrap="square" lIns="0" tIns="0" rIns="0" bIns="0" rtlCol="0" anchor="t"/>
          <a:lstStyle/>
          <a:p>
            <a:pPr marL="0" indent="0" algn="ctr">
              <a:lnSpc>
                <a:spcPts val="1012"/>
              </a:lnSpc>
              <a:buNone/>
            </a:pPr>
            <a:r>
              <a:rPr lang="en-US" sz="880" b="1" dirty="0">
                <a:solidFill>
                  <a:srgbClr val="111111"/>
                </a:solidFill>
                <a:latin typeface="Helvetica" pitchFamily="34" charset="0"/>
                <a:ea typeface="Helvetica" pitchFamily="34" charset="-122"/>
                <a:cs typeface="Helvetica" pitchFamily="34" charset="-120"/>
              </a:rPr>
              <a:t>Catálogo de Restaurantes</a:t>
            </a:r>
            <a:endParaRPr lang="en-US" sz="880" dirty="0"/>
          </a:p>
        </p:txBody>
      </p:sp>
      <p:sp>
        <p:nvSpPr>
          <p:cNvPr id="15" name="Text 13"/>
          <p:cNvSpPr/>
          <p:nvPr/>
        </p:nvSpPr>
        <p:spPr>
          <a:xfrm>
            <a:off x="4607792" y="1454944"/>
            <a:ext cx="1206999" cy="125462"/>
          </a:xfrm>
          <a:prstGeom prst="rect">
            <a:avLst/>
          </a:prstGeom>
          <a:noFill/>
          <a:ln/>
        </p:spPr>
        <p:txBody>
          <a:bodyPr wrap="square" lIns="0" tIns="0" rIns="0" bIns="0" rtlCol="0" anchor="t"/>
          <a:lstStyle/>
          <a:p>
            <a:pPr marL="0" indent="0" algn="ctr">
              <a:lnSpc>
                <a:spcPts val="988"/>
              </a:lnSpc>
              <a:spcBef>
                <a:spcPts val="100"/>
              </a:spcBef>
              <a:buNone/>
            </a:pPr>
            <a:r>
              <a:rPr lang="en-US" sz="760" dirty="0">
                <a:solidFill>
                  <a:srgbClr val="0B5C96"/>
                </a:solidFill>
                <a:latin typeface="Helvetica" pitchFamily="34" charset="0"/>
                <a:ea typeface="Helvetica" pitchFamily="34" charset="-122"/>
                <a:cs typeface="Helvetica" pitchFamily="34" charset="-120"/>
              </a:rPr>
              <a:t>«structurer»</a:t>
            </a:r>
            <a:endParaRPr lang="en-US" sz="760" dirty="0"/>
          </a:p>
        </p:txBody>
      </p:sp>
      <p:sp>
        <p:nvSpPr>
          <p:cNvPr id="16" name="Text 14"/>
          <p:cNvSpPr/>
          <p:nvPr/>
        </p:nvSpPr>
        <p:spPr>
          <a:xfrm>
            <a:off x="5952083" y="1125141"/>
            <a:ext cx="1278582" cy="641152"/>
          </a:xfrm>
          <a:prstGeom prst="roundRect">
            <a:avLst>
              <a:gd name="adj" fmla="val 7923"/>
            </a:avLst>
          </a:prstGeom>
          <a:solidFill>
            <a:srgbClr val="E9F4FF"/>
          </a:solidFill>
          <a:ln w="9525">
            <a:solidFill>
              <a:srgbClr val="4FA8E8"/>
            </a:solidFill>
          </a:ln>
        </p:spPr>
        <p:txBody>
          <a:bodyPr wrap="square" rtlCol="0" anchor="ctr"/>
          <a:lstStyle/>
          <a:p>
            <a:pPr marL="0" indent="0">
              <a:buNone/>
            </a:pPr>
            <a:endParaRPr lang="en-US" dirty="0"/>
          </a:p>
        </p:txBody>
      </p:sp>
      <p:sp>
        <p:nvSpPr>
          <p:cNvPr id="17" name="Text 15"/>
          <p:cNvSpPr/>
          <p:nvPr/>
        </p:nvSpPr>
        <p:spPr>
          <a:xfrm>
            <a:off x="5987875" y="1185416"/>
            <a:ext cx="1206999" cy="128439"/>
          </a:xfrm>
          <a:prstGeom prst="rect">
            <a:avLst/>
          </a:prstGeom>
          <a:noFill/>
          <a:ln/>
        </p:spPr>
        <p:txBody>
          <a:bodyPr wrap="square" lIns="0" tIns="0" rIns="0" bIns="0" rtlCol="0" anchor="t"/>
          <a:lstStyle/>
          <a:p>
            <a:pPr marL="0" indent="0" algn="ctr">
              <a:lnSpc>
                <a:spcPts val="1012"/>
              </a:lnSpc>
              <a:buNone/>
            </a:pPr>
            <a:r>
              <a:rPr lang="en-US" sz="880" b="1" dirty="0">
                <a:solidFill>
                  <a:srgbClr val="111111"/>
                </a:solidFill>
                <a:latin typeface="Helvetica" pitchFamily="34" charset="0"/>
                <a:ea typeface="Helvetica" pitchFamily="34" charset="-122"/>
                <a:cs typeface="Helvetica" pitchFamily="34" charset="-120"/>
              </a:rPr>
              <a:t>Restaurante</a:t>
            </a:r>
            <a:endParaRPr lang="en-US" sz="880" dirty="0"/>
          </a:p>
        </p:txBody>
      </p:sp>
      <p:sp>
        <p:nvSpPr>
          <p:cNvPr id="18" name="Text 16"/>
          <p:cNvSpPr/>
          <p:nvPr/>
        </p:nvSpPr>
        <p:spPr>
          <a:xfrm>
            <a:off x="5987875" y="1326505"/>
            <a:ext cx="1206999" cy="125462"/>
          </a:xfrm>
          <a:prstGeom prst="rect">
            <a:avLst/>
          </a:prstGeom>
          <a:noFill/>
          <a:ln/>
        </p:spPr>
        <p:txBody>
          <a:bodyPr wrap="square" lIns="0" tIns="0" rIns="0" bIns="0" rtlCol="0" anchor="t"/>
          <a:lstStyle/>
          <a:p>
            <a:pPr marL="0" indent="0" algn="ctr">
              <a:lnSpc>
                <a:spcPts val="988"/>
              </a:lnSpc>
              <a:spcBef>
                <a:spcPts val="100"/>
              </a:spcBef>
              <a:buNone/>
            </a:pPr>
            <a:r>
              <a:rPr lang="en-US" sz="760" dirty="0">
                <a:solidFill>
                  <a:srgbClr val="0B5C96"/>
                </a:solidFill>
                <a:latin typeface="Helvetica" pitchFamily="34" charset="0"/>
                <a:ea typeface="Helvetica" pitchFamily="34" charset="-122"/>
                <a:cs typeface="Helvetica" pitchFamily="34" charset="-120"/>
              </a:rPr>
              <a:t>«structurer»</a:t>
            </a:r>
            <a:endParaRPr lang="en-US" sz="760" dirty="0"/>
          </a:p>
        </p:txBody>
      </p:sp>
      <p:sp>
        <p:nvSpPr>
          <p:cNvPr id="19" name="Text 17"/>
          <p:cNvSpPr/>
          <p:nvPr/>
        </p:nvSpPr>
        <p:spPr>
          <a:xfrm>
            <a:off x="7332166" y="1125141"/>
            <a:ext cx="1278582" cy="641152"/>
          </a:xfrm>
          <a:prstGeom prst="roundRect">
            <a:avLst>
              <a:gd name="adj" fmla="val 7923"/>
            </a:avLst>
          </a:prstGeom>
          <a:solidFill>
            <a:srgbClr val="E9F4FF"/>
          </a:solidFill>
          <a:ln w="9525">
            <a:solidFill>
              <a:srgbClr val="4FA8E8"/>
            </a:solidFill>
          </a:ln>
        </p:spPr>
        <p:txBody>
          <a:bodyPr wrap="square" rtlCol="0" anchor="ctr"/>
          <a:lstStyle/>
          <a:p>
            <a:pPr marL="0" indent="0">
              <a:buNone/>
            </a:pPr>
            <a:endParaRPr lang="en-US" dirty="0"/>
          </a:p>
        </p:txBody>
      </p:sp>
      <p:sp>
        <p:nvSpPr>
          <p:cNvPr id="20" name="Text 18"/>
          <p:cNvSpPr/>
          <p:nvPr/>
        </p:nvSpPr>
        <p:spPr>
          <a:xfrm>
            <a:off x="7367958" y="1185416"/>
            <a:ext cx="1206999" cy="128439"/>
          </a:xfrm>
          <a:prstGeom prst="rect">
            <a:avLst/>
          </a:prstGeom>
          <a:noFill/>
          <a:ln/>
        </p:spPr>
        <p:txBody>
          <a:bodyPr wrap="square" lIns="0" tIns="0" rIns="0" bIns="0" rtlCol="0" anchor="t"/>
          <a:lstStyle/>
          <a:p>
            <a:pPr marL="0" indent="0" algn="ctr">
              <a:lnSpc>
                <a:spcPts val="1012"/>
              </a:lnSpc>
              <a:buNone/>
            </a:pPr>
            <a:r>
              <a:rPr lang="en-US" sz="880" b="1" dirty="0">
                <a:solidFill>
                  <a:srgbClr val="111111"/>
                </a:solidFill>
                <a:latin typeface="Helvetica" pitchFamily="34" charset="0"/>
                <a:ea typeface="Helvetica" pitchFamily="34" charset="-122"/>
                <a:cs typeface="Helvetica" pitchFamily="34" charset="-120"/>
              </a:rPr>
              <a:t>Buscador de Fotos</a:t>
            </a:r>
            <a:endParaRPr lang="en-US" sz="880" dirty="0"/>
          </a:p>
        </p:txBody>
      </p:sp>
      <p:sp>
        <p:nvSpPr>
          <p:cNvPr id="21" name="Text 19"/>
          <p:cNvSpPr/>
          <p:nvPr/>
        </p:nvSpPr>
        <p:spPr>
          <a:xfrm>
            <a:off x="7367958" y="1326505"/>
            <a:ext cx="1206999" cy="125462"/>
          </a:xfrm>
          <a:prstGeom prst="rect">
            <a:avLst/>
          </a:prstGeom>
          <a:noFill/>
          <a:ln/>
        </p:spPr>
        <p:txBody>
          <a:bodyPr wrap="square" lIns="0" tIns="0" rIns="0" bIns="0" rtlCol="0" anchor="t"/>
          <a:lstStyle/>
          <a:p>
            <a:pPr marL="0" indent="0" algn="ctr">
              <a:lnSpc>
                <a:spcPts val="988"/>
              </a:lnSpc>
              <a:spcBef>
                <a:spcPts val="100"/>
              </a:spcBef>
              <a:buNone/>
            </a:pPr>
            <a:r>
              <a:rPr lang="en-US" sz="760" dirty="0">
                <a:solidFill>
                  <a:srgbClr val="0B5C96"/>
                </a:solidFill>
                <a:latin typeface="Helvetica" pitchFamily="34" charset="0"/>
                <a:ea typeface="Helvetica" pitchFamily="34" charset="-122"/>
                <a:cs typeface="Helvetica" pitchFamily="34" charset="-120"/>
              </a:rPr>
              <a:t>«structurer»</a:t>
            </a:r>
            <a:endParaRPr lang="en-US" sz="760" dirty="0"/>
          </a:p>
        </p:txBody>
      </p:sp>
      <p:sp>
        <p:nvSpPr>
          <p:cNvPr id="22" name="Text 20"/>
          <p:cNvSpPr/>
          <p:nvPr/>
        </p:nvSpPr>
        <p:spPr>
          <a:xfrm>
            <a:off x="431750" y="1867793"/>
            <a:ext cx="1278582" cy="641152"/>
          </a:xfrm>
          <a:prstGeom prst="roundRect">
            <a:avLst>
              <a:gd name="adj" fmla="val 7923"/>
            </a:avLst>
          </a:prstGeom>
          <a:solidFill>
            <a:srgbClr val="E9F4FF"/>
          </a:solidFill>
          <a:ln w="9525">
            <a:solidFill>
              <a:srgbClr val="4FA8E8"/>
            </a:solidFill>
          </a:ln>
        </p:spPr>
        <p:txBody>
          <a:bodyPr wrap="square" rtlCol="0" anchor="ctr"/>
          <a:lstStyle/>
          <a:p>
            <a:pPr marL="0" indent="0">
              <a:buNone/>
            </a:pPr>
            <a:endParaRPr lang="en-US" dirty="0"/>
          </a:p>
        </p:txBody>
      </p:sp>
      <p:sp>
        <p:nvSpPr>
          <p:cNvPr id="23" name="Text 21"/>
          <p:cNvSpPr/>
          <p:nvPr/>
        </p:nvSpPr>
        <p:spPr>
          <a:xfrm>
            <a:off x="467542" y="1928068"/>
            <a:ext cx="1206999" cy="128439"/>
          </a:xfrm>
          <a:prstGeom prst="rect">
            <a:avLst/>
          </a:prstGeom>
          <a:noFill/>
          <a:ln/>
        </p:spPr>
        <p:txBody>
          <a:bodyPr wrap="square" lIns="0" tIns="0" rIns="0" bIns="0" rtlCol="0" anchor="t"/>
          <a:lstStyle/>
          <a:p>
            <a:pPr marL="0" indent="0" algn="ctr">
              <a:lnSpc>
                <a:spcPts val="1012"/>
              </a:lnSpc>
              <a:buNone/>
            </a:pPr>
            <a:r>
              <a:rPr lang="en-US" sz="880" b="1" dirty="0">
                <a:solidFill>
                  <a:srgbClr val="111111"/>
                </a:solidFill>
                <a:latin typeface="Helvetica" pitchFamily="34" charset="0"/>
                <a:ea typeface="Helvetica" pitchFamily="34" charset="-122"/>
                <a:cs typeface="Helvetica" pitchFamily="34" charset="-120"/>
              </a:rPr>
              <a:t>Conector DB</a:t>
            </a:r>
            <a:endParaRPr lang="en-US" sz="880" dirty="0"/>
          </a:p>
        </p:txBody>
      </p:sp>
      <p:sp>
        <p:nvSpPr>
          <p:cNvPr id="24" name="Text 22"/>
          <p:cNvSpPr/>
          <p:nvPr/>
        </p:nvSpPr>
        <p:spPr>
          <a:xfrm>
            <a:off x="467542" y="2069157"/>
            <a:ext cx="1206999" cy="125462"/>
          </a:xfrm>
          <a:prstGeom prst="rect">
            <a:avLst/>
          </a:prstGeom>
          <a:noFill/>
          <a:ln/>
        </p:spPr>
        <p:txBody>
          <a:bodyPr wrap="square" lIns="0" tIns="0" rIns="0" bIns="0" rtlCol="0" anchor="t"/>
          <a:lstStyle/>
          <a:p>
            <a:pPr marL="0" indent="0" algn="ctr">
              <a:lnSpc>
                <a:spcPts val="988"/>
              </a:lnSpc>
              <a:spcBef>
                <a:spcPts val="100"/>
              </a:spcBef>
              <a:buNone/>
            </a:pPr>
            <a:r>
              <a:rPr lang="en-US" sz="760" dirty="0">
                <a:solidFill>
                  <a:srgbClr val="0B5C96"/>
                </a:solidFill>
                <a:latin typeface="Helvetica" pitchFamily="34" charset="0"/>
                <a:ea typeface="Helvetica" pitchFamily="34" charset="-122"/>
                <a:cs typeface="Helvetica" pitchFamily="34" charset="-120"/>
              </a:rPr>
              <a:t>«service provider»</a:t>
            </a:r>
            <a:endParaRPr lang="en-US" sz="760" dirty="0"/>
          </a:p>
        </p:txBody>
      </p:sp>
      <p:sp>
        <p:nvSpPr>
          <p:cNvPr id="25" name="Text 23"/>
          <p:cNvSpPr/>
          <p:nvPr/>
        </p:nvSpPr>
        <p:spPr>
          <a:xfrm>
            <a:off x="1811834" y="1867793"/>
            <a:ext cx="1278582" cy="641152"/>
          </a:xfrm>
          <a:prstGeom prst="roundRect">
            <a:avLst>
              <a:gd name="adj" fmla="val 7923"/>
            </a:avLst>
          </a:prstGeom>
          <a:solidFill>
            <a:srgbClr val="E9F4FF"/>
          </a:solidFill>
          <a:ln w="9525">
            <a:solidFill>
              <a:srgbClr val="4FA8E8"/>
            </a:solidFill>
          </a:ln>
        </p:spPr>
        <p:txBody>
          <a:bodyPr wrap="square" rtlCol="0" anchor="ctr"/>
          <a:lstStyle/>
          <a:p>
            <a:pPr marL="0" indent="0">
              <a:buNone/>
            </a:pPr>
            <a:endParaRPr lang="en-US" dirty="0"/>
          </a:p>
        </p:txBody>
      </p:sp>
      <p:sp>
        <p:nvSpPr>
          <p:cNvPr id="26" name="Text 24"/>
          <p:cNvSpPr/>
          <p:nvPr/>
        </p:nvSpPr>
        <p:spPr>
          <a:xfrm>
            <a:off x="1847625" y="1928068"/>
            <a:ext cx="1206999" cy="128439"/>
          </a:xfrm>
          <a:prstGeom prst="rect">
            <a:avLst/>
          </a:prstGeom>
          <a:noFill/>
          <a:ln/>
        </p:spPr>
        <p:txBody>
          <a:bodyPr wrap="square" lIns="0" tIns="0" rIns="0" bIns="0" rtlCol="0" anchor="t"/>
          <a:lstStyle/>
          <a:p>
            <a:pPr marL="0" indent="0" algn="ctr">
              <a:lnSpc>
                <a:spcPts val="1012"/>
              </a:lnSpc>
              <a:buNone/>
            </a:pPr>
            <a:r>
              <a:rPr lang="en-US" sz="880" b="1" dirty="0">
                <a:solidFill>
                  <a:srgbClr val="111111"/>
                </a:solidFill>
                <a:latin typeface="Helvetica" pitchFamily="34" charset="0"/>
                <a:ea typeface="Helvetica" pitchFamily="34" charset="-122"/>
                <a:cs typeface="Helvetica" pitchFamily="34" charset="-120"/>
              </a:rPr>
              <a:t>Conexión DB</a:t>
            </a:r>
            <a:endParaRPr lang="en-US" sz="880" dirty="0"/>
          </a:p>
        </p:txBody>
      </p:sp>
      <p:sp>
        <p:nvSpPr>
          <p:cNvPr id="27" name="Text 25"/>
          <p:cNvSpPr/>
          <p:nvPr/>
        </p:nvSpPr>
        <p:spPr>
          <a:xfrm>
            <a:off x="1847625" y="2069157"/>
            <a:ext cx="1206999" cy="125462"/>
          </a:xfrm>
          <a:prstGeom prst="rect">
            <a:avLst/>
          </a:prstGeom>
          <a:noFill/>
          <a:ln/>
        </p:spPr>
        <p:txBody>
          <a:bodyPr wrap="square" lIns="0" tIns="0" rIns="0" bIns="0" rtlCol="0" anchor="t"/>
          <a:lstStyle/>
          <a:p>
            <a:pPr marL="0" indent="0" algn="ctr">
              <a:lnSpc>
                <a:spcPts val="988"/>
              </a:lnSpc>
              <a:spcBef>
                <a:spcPts val="100"/>
              </a:spcBef>
              <a:buNone/>
            </a:pPr>
            <a:r>
              <a:rPr lang="en-US" sz="760" dirty="0">
                <a:solidFill>
                  <a:srgbClr val="0B5C96"/>
                </a:solidFill>
                <a:latin typeface="Helvetica" pitchFamily="34" charset="0"/>
                <a:ea typeface="Helvetica" pitchFamily="34" charset="-122"/>
                <a:cs typeface="Helvetica" pitchFamily="34" charset="-120"/>
              </a:rPr>
              <a:t>«interfacer»</a:t>
            </a:r>
            <a:endParaRPr lang="en-US" sz="760" dirty="0"/>
          </a:p>
        </p:txBody>
      </p:sp>
      <p:sp>
        <p:nvSpPr>
          <p:cNvPr id="28" name="Text 26"/>
          <p:cNvSpPr/>
          <p:nvPr/>
        </p:nvSpPr>
        <p:spPr>
          <a:xfrm>
            <a:off x="3191917" y="1867793"/>
            <a:ext cx="1278582" cy="641152"/>
          </a:xfrm>
          <a:prstGeom prst="roundRect">
            <a:avLst>
              <a:gd name="adj" fmla="val 7923"/>
            </a:avLst>
          </a:prstGeom>
          <a:solidFill>
            <a:srgbClr val="FFEAE4"/>
          </a:solidFill>
          <a:ln w="9525">
            <a:solidFill>
              <a:srgbClr val="E8452C"/>
            </a:solidFill>
          </a:ln>
        </p:spPr>
        <p:txBody>
          <a:bodyPr wrap="square" rtlCol="0" anchor="ctr"/>
          <a:lstStyle/>
          <a:p>
            <a:pPr marL="0" indent="0">
              <a:buNone/>
            </a:pPr>
            <a:endParaRPr lang="en-US" dirty="0"/>
          </a:p>
        </p:txBody>
      </p:sp>
      <p:sp>
        <p:nvSpPr>
          <p:cNvPr id="29" name="Text 27"/>
          <p:cNvSpPr/>
          <p:nvPr/>
        </p:nvSpPr>
        <p:spPr>
          <a:xfrm>
            <a:off x="3227708" y="1928068"/>
            <a:ext cx="1206999" cy="128439"/>
          </a:xfrm>
          <a:prstGeom prst="rect">
            <a:avLst/>
          </a:prstGeom>
          <a:noFill/>
          <a:ln/>
        </p:spPr>
        <p:txBody>
          <a:bodyPr wrap="square" lIns="0" tIns="0" rIns="0" bIns="0" rtlCol="0" anchor="t"/>
          <a:lstStyle/>
          <a:p>
            <a:pPr marL="0" indent="0" algn="ctr">
              <a:lnSpc>
                <a:spcPts val="1012"/>
              </a:lnSpc>
              <a:buNone/>
            </a:pPr>
            <a:r>
              <a:rPr lang="en-US" sz="880" b="1" dirty="0">
                <a:solidFill>
                  <a:srgbClr val="111111"/>
                </a:solidFill>
                <a:latin typeface="Helvetica" pitchFamily="34" charset="0"/>
                <a:ea typeface="Helvetica" pitchFamily="34" charset="-122"/>
                <a:cs typeface="Helvetica" pitchFamily="34" charset="-120"/>
              </a:rPr>
              <a:t>Pasarela de Pagos</a:t>
            </a:r>
            <a:endParaRPr lang="en-US" sz="880" dirty="0"/>
          </a:p>
        </p:txBody>
      </p:sp>
      <p:sp>
        <p:nvSpPr>
          <p:cNvPr id="30" name="Text 28"/>
          <p:cNvSpPr/>
          <p:nvPr/>
        </p:nvSpPr>
        <p:spPr>
          <a:xfrm>
            <a:off x="3227708" y="2069157"/>
            <a:ext cx="1206999" cy="125462"/>
          </a:xfrm>
          <a:prstGeom prst="rect">
            <a:avLst/>
          </a:prstGeom>
          <a:noFill/>
          <a:ln/>
        </p:spPr>
        <p:txBody>
          <a:bodyPr wrap="square" lIns="0" tIns="0" rIns="0" bIns="0" rtlCol="0" anchor="t"/>
          <a:lstStyle/>
          <a:p>
            <a:pPr marL="0" indent="0" algn="ctr">
              <a:lnSpc>
                <a:spcPts val="988"/>
              </a:lnSpc>
              <a:spcBef>
                <a:spcPts val="100"/>
              </a:spcBef>
              <a:buNone/>
            </a:pPr>
            <a:r>
              <a:rPr lang="en-US" sz="760" dirty="0">
                <a:solidFill>
                  <a:srgbClr val="0B5C96"/>
                </a:solidFill>
                <a:latin typeface="Helvetica" pitchFamily="34" charset="0"/>
                <a:ea typeface="Helvetica" pitchFamily="34" charset="-122"/>
                <a:cs typeface="Helvetica" pitchFamily="34" charset="-120"/>
              </a:rPr>
              <a:t>«interfacer»</a:t>
            </a:r>
            <a:endParaRPr lang="en-US" sz="760" dirty="0"/>
          </a:p>
        </p:txBody>
      </p:sp>
      <p:sp>
        <p:nvSpPr>
          <p:cNvPr id="31" name="Text 29"/>
          <p:cNvSpPr/>
          <p:nvPr/>
        </p:nvSpPr>
        <p:spPr>
          <a:xfrm>
            <a:off x="4572000" y="1867793"/>
            <a:ext cx="1278582" cy="641152"/>
          </a:xfrm>
          <a:prstGeom prst="roundRect">
            <a:avLst>
              <a:gd name="adj" fmla="val 7923"/>
            </a:avLst>
          </a:prstGeom>
          <a:solidFill>
            <a:srgbClr val="FFEAE4"/>
          </a:solidFill>
          <a:ln w="9525">
            <a:solidFill>
              <a:srgbClr val="E8452C"/>
            </a:solidFill>
          </a:ln>
        </p:spPr>
        <p:txBody>
          <a:bodyPr wrap="square" rtlCol="0" anchor="ctr"/>
          <a:lstStyle/>
          <a:p>
            <a:pPr marL="0" indent="0">
              <a:buNone/>
            </a:pPr>
            <a:endParaRPr lang="en-US" dirty="0"/>
          </a:p>
        </p:txBody>
      </p:sp>
      <p:sp>
        <p:nvSpPr>
          <p:cNvPr id="32" name="Text 30"/>
          <p:cNvSpPr/>
          <p:nvPr/>
        </p:nvSpPr>
        <p:spPr>
          <a:xfrm>
            <a:off x="4607792" y="1928068"/>
            <a:ext cx="1206999" cy="128439"/>
          </a:xfrm>
          <a:prstGeom prst="rect">
            <a:avLst/>
          </a:prstGeom>
          <a:noFill/>
          <a:ln/>
        </p:spPr>
        <p:txBody>
          <a:bodyPr wrap="square" lIns="0" tIns="0" rIns="0" bIns="0" rtlCol="0" anchor="t"/>
          <a:lstStyle/>
          <a:p>
            <a:pPr marL="0" indent="0" algn="ctr">
              <a:lnSpc>
                <a:spcPts val="1012"/>
              </a:lnSpc>
              <a:buNone/>
            </a:pPr>
            <a:r>
              <a:rPr lang="en-US" sz="880" b="1" dirty="0">
                <a:solidFill>
                  <a:srgbClr val="111111"/>
                </a:solidFill>
                <a:latin typeface="Helvetica" pitchFamily="34" charset="0"/>
                <a:ea typeface="Helvetica" pitchFamily="34" charset="-122"/>
                <a:cs typeface="Helvetica" pitchFamily="34" charset="-120"/>
              </a:rPr>
              <a:t>Servicio de Mapas</a:t>
            </a:r>
            <a:endParaRPr lang="en-US" sz="880" dirty="0"/>
          </a:p>
        </p:txBody>
      </p:sp>
      <p:sp>
        <p:nvSpPr>
          <p:cNvPr id="33" name="Text 31"/>
          <p:cNvSpPr/>
          <p:nvPr/>
        </p:nvSpPr>
        <p:spPr>
          <a:xfrm>
            <a:off x="4607792" y="2069157"/>
            <a:ext cx="1206999" cy="125462"/>
          </a:xfrm>
          <a:prstGeom prst="rect">
            <a:avLst/>
          </a:prstGeom>
          <a:noFill/>
          <a:ln/>
        </p:spPr>
        <p:txBody>
          <a:bodyPr wrap="square" lIns="0" tIns="0" rIns="0" bIns="0" rtlCol="0" anchor="t"/>
          <a:lstStyle/>
          <a:p>
            <a:pPr marL="0" indent="0" algn="ctr">
              <a:lnSpc>
                <a:spcPts val="988"/>
              </a:lnSpc>
              <a:spcBef>
                <a:spcPts val="100"/>
              </a:spcBef>
              <a:buNone/>
            </a:pPr>
            <a:r>
              <a:rPr lang="en-US" sz="760" dirty="0">
                <a:solidFill>
                  <a:srgbClr val="0B5C96"/>
                </a:solidFill>
                <a:latin typeface="Helvetica" pitchFamily="34" charset="0"/>
                <a:ea typeface="Helvetica" pitchFamily="34" charset="-122"/>
                <a:cs typeface="Helvetica" pitchFamily="34" charset="-120"/>
              </a:rPr>
              <a:t>«interfacer»</a:t>
            </a:r>
            <a:endParaRPr lang="en-US" sz="760" dirty="0"/>
          </a:p>
        </p:txBody>
      </p:sp>
      <p:sp>
        <p:nvSpPr>
          <p:cNvPr id="34" name="Text 32"/>
          <p:cNvSpPr/>
          <p:nvPr/>
        </p:nvSpPr>
        <p:spPr>
          <a:xfrm>
            <a:off x="5952083" y="1867793"/>
            <a:ext cx="1278582" cy="641152"/>
          </a:xfrm>
          <a:prstGeom prst="roundRect">
            <a:avLst>
              <a:gd name="adj" fmla="val 7923"/>
            </a:avLst>
          </a:prstGeom>
          <a:solidFill>
            <a:srgbClr val="F4F4F4"/>
          </a:solidFill>
          <a:ln w="9525">
            <a:solidFill>
              <a:srgbClr val="B4B4B4"/>
            </a:solidFill>
          </a:ln>
        </p:spPr>
        <p:txBody>
          <a:bodyPr wrap="square" rtlCol="0" anchor="ctr"/>
          <a:lstStyle/>
          <a:p>
            <a:pPr marL="0" indent="0">
              <a:buNone/>
            </a:pPr>
            <a:endParaRPr lang="en-US" dirty="0"/>
          </a:p>
        </p:txBody>
      </p:sp>
      <p:sp>
        <p:nvSpPr>
          <p:cNvPr id="35" name="Text 33"/>
          <p:cNvSpPr/>
          <p:nvPr/>
        </p:nvSpPr>
        <p:spPr>
          <a:xfrm>
            <a:off x="5987875" y="1928068"/>
            <a:ext cx="1206999" cy="128439"/>
          </a:xfrm>
          <a:prstGeom prst="rect">
            <a:avLst/>
          </a:prstGeom>
          <a:noFill/>
          <a:ln/>
        </p:spPr>
        <p:txBody>
          <a:bodyPr wrap="square" lIns="0" tIns="0" rIns="0" bIns="0" rtlCol="0" anchor="t"/>
          <a:lstStyle/>
          <a:p>
            <a:pPr marL="0" indent="0" algn="ctr">
              <a:lnSpc>
                <a:spcPts val="1012"/>
              </a:lnSpc>
              <a:buNone/>
            </a:pPr>
            <a:r>
              <a:rPr lang="en-US" sz="880" b="1" dirty="0">
                <a:solidFill>
                  <a:srgbClr val="111111"/>
                </a:solidFill>
                <a:latin typeface="Helvetica" pitchFamily="34" charset="0"/>
                <a:ea typeface="Helvetica" pitchFamily="34" charset="-122"/>
                <a:cs typeface="Helvetica" pitchFamily="34" charset="-120"/>
              </a:rPr>
              <a:t>Carrito</a:t>
            </a:r>
            <a:endParaRPr lang="en-US" sz="880" dirty="0"/>
          </a:p>
        </p:txBody>
      </p:sp>
      <p:sp>
        <p:nvSpPr>
          <p:cNvPr id="36" name="Text 34"/>
          <p:cNvSpPr/>
          <p:nvPr/>
        </p:nvSpPr>
        <p:spPr>
          <a:xfrm>
            <a:off x="7332166" y="1867793"/>
            <a:ext cx="1278582" cy="641152"/>
          </a:xfrm>
          <a:prstGeom prst="roundRect">
            <a:avLst>
              <a:gd name="adj" fmla="val 7923"/>
            </a:avLst>
          </a:prstGeom>
          <a:solidFill>
            <a:srgbClr val="F4F4F4"/>
          </a:solidFill>
          <a:ln w="9525">
            <a:solidFill>
              <a:srgbClr val="B4B4B4"/>
            </a:solidFill>
          </a:ln>
        </p:spPr>
        <p:txBody>
          <a:bodyPr wrap="square" rtlCol="0" anchor="ctr"/>
          <a:lstStyle/>
          <a:p>
            <a:pPr marL="0" indent="0">
              <a:buNone/>
            </a:pPr>
            <a:endParaRPr lang="en-US" dirty="0"/>
          </a:p>
        </p:txBody>
      </p:sp>
      <p:sp>
        <p:nvSpPr>
          <p:cNvPr id="37" name="Text 35"/>
          <p:cNvSpPr/>
          <p:nvPr/>
        </p:nvSpPr>
        <p:spPr>
          <a:xfrm>
            <a:off x="7367958" y="1928068"/>
            <a:ext cx="1206999" cy="128439"/>
          </a:xfrm>
          <a:prstGeom prst="rect">
            <a:avLst/>
          </a:prstGeom>
          <a:noFill/>
          <a:ln/>
        </p:spPr>
        <p:txBody>
          <a:bodyPr wrap="square" lIns="0" tIns="0" rIns="0" bIns="0" rtlCol="0" anchor="t"/>
          <a:lstStyle/>
          <a:p>
            <a:pPr marL="0" indent="0" algn="ctr">
              <a:lnSpc>
                <a:spcPts val="1012"/>
              </a:lnSpc>
              <a:buNone/>
            </a:pPr>
            <a:r>
              <a:rPr lang="en-US" sz="880" b="1" dirty="0">
                <a:solidFill>
                  <a:srgbClr val="111111"/>
                </a:solidFill>
                <a:latin typeface="Helvetica" pitchFamily="34" charset="0"/>
                <a:ea typeface="Helvetica" pitchFamily="34" charset="-122"/>
                <a:cs typeface="Helvetica" pitchFamily="34" charset="-120"/>
              </a:rPr>
              <a:t>Item Carrito</a:t>
            </a:r>
            <a:endParaRPr lang="en-US" sz="880" dirty="0"/>
          </a:p>
        </p:txBody>
      </p:sp>
      <p:sp>
        <p:nvSpPr>
          <p:cNvPr id="38" name="Text 36"/>
          <p:cNvSpPr/>
          <p:nvPr/>
        </p:nvSpPr>
        <p:spPr>
          <a:xfrm>
            <a:off x="431750" y="2610445"/>
            <a:ext cx="1278582" cy="641152"/>
          </a:xfrm>
          <a:prstGeom prst="roundRect">
            <a:avLst>
              <a:gd name="adj" fmla="val 7923"/>
            </a:avLst>
          </a:prstGeom>
          <a:solidFill>
            <a:srgbClr val="F4F4F4"/>
          </a:solidFill>
          <a:ln w="9525">
            <a:solidFill>
              <a:srgbClr val="B4B4B4"/>
            </a:solidFill>
          </a:ln>
        </p:spPr>
        <p:txBody>
          <a:bodyPr wrap="square" rtlCol="0" anchor="ctr"/>
          <a:lstStyle/>
          <a:p>
            <a:pPr marL="0" indent="0">
              <a:buNone/>
            </a:pPr>
            <a:endParaRPr lang="en-US" dirty="0"/>
          </a:p>
        </p:txBody>
      </p:sp>
      <p:sp>
        <p:nvSpPr>
          <p:cNvPr id="39" name="Text 37"/>
          <p:cNvSpPr/>
          <p:nvPr/>
        </p:nvSpPr>
        <p:spPr>
          <a:xfrm>
            <a:off x="467542" y="2670721"/>
            <a:ext cx="1206999" cy="128439"/>
          </a:xfrm>
          <a:prstGeom prst="rect">
            <a:avLst/>
          </a:prstGeom>
          <a:noFill/>
          <a:ln/>
        </p:spPr>
        <p:txBody>
          <a:bodyPr wrap="square" lIns="0" tIns="0" rIns="0" bIns="0" rtlCol="0" anchor="t"/>
          <a:lstStyle/>
          <a:p>
            <a:pPr marL="0" indent="0" algn="ctr">
              <a:lnSpc>
                <a:spcPts val="1012"/>
              </a:lnSpc>
              <a:buNone/>
            </a:pPr>
            <a:r>
              <a:rPr lang="en-US" sz="880" b="1" dirty="0">
                <a:solidFill>
                  <a:srgbClr val="111111"/>
                </a:solidFill>
                <a:latin typeface="Helvetica" pitchFamily="34" charset="0"/>
                <a:ea typeface="Helvetica" pitchFamily="34" charset="-122"/>
                <a:cs typeface="Helvetica" pitchFamily="34" charset="-120"/>
              </a:rPr>
              <a:t>Plato</a:t>
            </a:r>
            <a:endParaRPr lang="en-US" sz="880" dirty="0"/>
          </a:p>
        </p:txBody>
      </p:sp>
      <p:sp>
        <p:nvSpPr>
          <p:cNvPr id="40" name="Text 38"/>
          <p:cNvSpPr/>
          <p:nvPr/>
        </p:nvSpPr>
        <p:spPr>
          <a:xfrm>
            <a:off x="1811834" y="2610445"/>
            <a:ext cx="1278582" cy="641152"/>
          </a:xfrm>
          <a:prstGeom prst="roundRect">
            <a:avLst>
              <a:gd name="adj" fmla="val 7923"/>
            </a:avLst>
          </a:prstGeom>
          <a:solidFill>
            <a:srgbClr val="F4F4F4"/>
          </a:solidFill>
          <a:ln w="9525">
            <a:solidFill>
              <a:srgbClr val="B4B4B4"/>
            </a:solidFill>
          </a:ln>
        </p:spPr>
        <p:txBody>
          <a:bodyPr wrap="square" rtlCol="0" anchor="ctr"/>
          <a:lstStyle/>
          <a:p>
            <a:pPr marL="0" indent="0">
              <a:buNone/>
            </a:pPr>
            <a:endParaRPr lang="en-US" dirty="0"/>
          </a:p>
        </p:txBody>
      </p:sp>
      <p:sp>
        <p:nvSpPr>
          <p:cNvPr id="41" name="Text 39"/>
          <p:cNvSpPr/>
          <p:nvPr/>
        </p:nvSpPr>
        <p:spPr>
          <a:xfrm>
            <a:off x="1847625" y="2670721"/>
            <a:ext cx="1206999" cy="128439"/>
          </a:xfrm>
          <a:prstGeom prst="rect">
            <a:avLst/>
          </a:prstGeom>
          <a:noFill/>
          <a:ln/>
        </p:spPr>
        <p:txBody>
          <a:bodyPr wrap="square" lIns="0" tIns="0" rIns="0" bIns="0" rtlCol="0" anchor="t"/>
          <a:lstStyle/>
          <a:p>
            <a:pPr marL="0" indent="0" algn="ctr">
              <a:lnSpc>
                <a:spcPts val="1012"/>
              </a:lnSpc>
              <a:buNone/>
            </a:pPr>
            <a:r>
              <a:rPr lang="en-US" sz="880" b="1" dirty="0">
                <a:solidFill>
                  <a:srgbClr val="111111"/>
                </a:solidFill>
                <a:latin typeface="Helvetica" pitchFamily="34" charset="0"/>
                <a:ea typeface="Helvetica" pitchFamily="34" charset="-122"/>
                <a:cs typeface="Helvetica" pitchFamily="34" charset="-120"/>
              </a:rPr>
              <a:t>Repartidor</a:t>
            </a:r>
            <a:endParaRPr lang="en-US" sz="880" dirty="0"/>
          </a:p>
        </p:txBody>
      </p:sp>
      <p:sp>
        <p:nvSpPr>
          <p:cNvPr id="42" name="Text 40"/>
          <p:cNvSpPr/>
          <p:nvPr/>
        </p:nvSpPr>
        <p:spPr>
          <a:xfrm>
            <a:off x="3191917" y="2610445"/>
            <a:ext cx="1278582" cy="641152"/>
          </a:xfrm>
          <a:prstGeom prst="roundRect">
            <a:avLst>
              <a:gd name="adj" fmla="val 7923"/>
            </a:avLst>
          </a:prstGeom>
          <a:solidFill>
            <a:srgbClr val="F4F4F4"/>
          </a:solidFill>
          <a:ln w="9525">
            <a:solidFill>
              <a:srgbClr val="B4B4B4"/>
            </a:solidFill>
          </a:ln>
        </p:spPr>
        <p:txBody>
          <a:bodyPr wrap="square" rtlCol="0" anchor="ctr"/>
          <a:lstStyle/>
          <a:p>
            <a:pPr marL="0" indent="0">
              <a:buNone/>
            </a:pPr>
            <a:endParaRPr lang="en-US" dirty="0"/>
          </a:p>
        </p:txBody>
      </p:sp>
      <p:sp>
        <p:nvSpPr>
          <p:cNvPr id="43" name="Text 41"/>
          <p:cNvSpPr/>
          <p:nvPr/>
        </p:nvSpPr>
        <p:spPr>
          <a:xfrm>
            <a:off x="3227708" y="2670721"/>
            <a:ext cx="1206999" cy="128439"/>
          </a:xfrm>
          <a:prstGeom prst="rect">
            <a:avLst/>
          </a:prstGeom>
          <a:noFill/>
          <a:ln/>
        </p:spPr>
        <p:txBody>
          <a:bodyPr wrap="square" lIns="0" tIns="0" rIns="0" bIns="0" rtlCol="0" anchor="t"/>
          <a:lstStyle/>
          <a:p>
            <a:pPr marL="0" indent="0" algn="ctr">
              <a:lnSpc>
                <a:spcPts val="1012"/>
              </a:lnSpc>
              <a:buNone/>
            </a:pPr>
            <a:r>
              <a:rPr lang="en-US" sz="880" b="1" dirty="0">
                <a:solidFill>
                  <a:srgbClr val="111111"/>
                </a:solidFill>
                <a:latin typeface="Helvetica" pitchFamily="34" charset="0"/>
                <a:ea typeface="Helvetica" pitchFamily="34" charset="-122"/>
                <a:cs typeface="Helvetica" pitchFamily="34" charset="-120"/>
              </a:rPr>
              <a:t>Dirección</a:t>
            </a:r>
            <a:endParaRPr lang="en-US" sz="880" dirty="0"/>
          </a:p>
        </p:txBody>
      </p:sp>
      <p:sp>
        <p:nvSpPr>
          <p:cNvPr id="44" name="Text 42"/>
          <p:cNvSpPr/>
          <p:nvPr/>
        </p:nvSpPr>
        <p:spPr>
          <a:xfrm>
            <a:off x="4572000" y="2610445"/>
            <a:ext cx="1278582" cy="641152"/>
          </a:xfrm>
          <a:prstGeom prst="roundRect">
            <a:avLst>
              <a:gd name="adj" fmla="val 7923"/>
            </a:avLst>
          </a:prstGeom>
          <a:solidFill>
            <a:srgbClr val="F4F4F4"/>
          </a:solidFill>
          <a:ln w="9525">
            <a:solidFill>
              <a:srgbClr val="B4B4B4"/>
            </a:solidFill>
          </a:ln>
        </p:spPr>
        <p:txBody>
          <a:bodyPr wrap="square" rtlCol="0" anchor="ctr"/>
          <a:lstStyle/>
          <a:p>
            <a:pPr marL="0" indent="0">
              <a:buNone/>
            </a:pPr>
            <a:endParaRPr lang="en-US" dirty="0"/>
          </a:p>
        </p:txBody>
      </p:sp>
      <p:sp>
        <p:nvSpPr>
          <p:cNvPr id="45" name="Text 43"/>
          <p:cNvSpPr/>
          <p:nvPr/>
        </p:nvSpPr>
        <p:spPr>
          <a:xfrm>
            <a:off x="4607792" y="2670721"/>
            <a:ext cx="1206999" cy="128439"/>
          </a:xfrm>
          <a:prstGeom prst="rect">
            <a:avLst/>
          </a:prstGeom>
          <a:noFill/>
          <a:ln/>
        </p:spPr>
        <p:txBody>
          <a:bodyPr wrap="square" lIns="0" tIns="0" rIns="0" bIns="0" rtlCol="0" anchor="t"/>
          <a:lstStyle/>
          <a:p>
            <a:pPr marL="0" indent="0" algn="ctr">
              <a:lnSpc>
                <a:spcPts val="1012"/>
              </a:lnSpc>
              <a:buNone/>
            </a:pPr>
            <a:r>
              <a:rPr lang="en-US" sz="880" b="1" dirty="0">
                <a:solidFill>
                  <a:srgbClr val="111111"/>
                </a:solidFill>
                <a:latin typeface="Helvetica" pitchFamily="34" charset="0"/>
                <a:ea typeface="Helvetica" pitchFamily="34" charset="-122"/>
                <a:cs typeface="Helvetica" pitchFamily="34" charset="-120"/>
              </a:rPr>
              <a:t>Pago</a:t>
            </a:r>
            <a:endParaRPr lang="en-US" sz="880" dirty="0"/>
          </a:p>
        </p:txBody>
      </p:sp>
      <p:sp>
        <p:nvSpPr>
          <p:cNvPr id="46" name="Text 44"/>
          <p:cNvSpPr/>
          <p:nvPr/>
        </p:nvSpPr>
        <p:spPr>
          <a:xfrm>
            <a:off x="5952083" y="2610445"/>
            <a:ext cx="1278582" cy="641152"/>
          </a:xfrm>
          <a:prstGeom prst="roundRect">
            <a:avLst>
              <a:gd name="adj" fmla="val 7923"/>
            </a:avLst>
          </a:prstGeom>
          <a:solidFill>
            <a:srgbClr val="F4F4F4"/>
          </a:solidFill>
          <a:ln w="9525">
            <a:solidFill>
              <a:srgbClr val="B4B4B4"/>
            </a:solidFill>
          </a:ln>
        </p:spPr>
        <p:txBody>
          <a:bodyPr wrap="square" rtlCol="0" anchor="ctr"/>
          <a:lstStyle/>
          <a:p>
            <a:pPr marL="0" indent="0">
              <a:buNone/>
            </a:pPr>
            <a:endParaRPr lang="en-US" dirty="0"/>
          </a:p>
        </p:txBody>
      </p:sp>
      <p:sp>
        <p:nvSpPr>
          <p:cNvPr id="47" name="Text 45"/>
          <p:cNvSpPr/>
          <p:nvPr/>
        </p:nvSpPr>
        <p:spPr>
          <a:xfrm>
            <a:off x="5987875" y="2670721"/>
            <a:ext cx="1206999" cy="128439"/>
          </a:xfrm>
          <a:prstGeom prst="rect">
            <a:avLst/>
          </a:prstGeom>
          <a:noFill/>
          <a:ln/>
        </p:spPr>
        <p:txBody>
          <a:bodyPr wrap="square" lIns="0" tIns="0" rIns="0" bIns="0" rtlCol="0" anchor="t"/>
          <a:lstStyle/>
          <a:p>
            <a:pPr marL="0" indent="0" algn="ctr">
              <a:lnSpc>
                <a:spcPts val="1012"/>
              </a:lnSpc>
              <a:buNone/>
            </a:pPr>
            <a:r>
              <a:rPr lang="en-US" sz="880" b="1" dirty="0">
                <a:solidFill>
                  <a:srgbClr val="111111"/>
                </a:solidFill>
                <a:latin typeface="Helvetica" pitchFamily="34" charset="0"/>
                <a:ea typeface="Helvetica" pitchFamily="34" charset="-122"/>
                <a:cs typeface="Helvetica" pitchFamily="34" charset="-120"/>
              </a:rPr>
              <a:t>Usuario</a:t>
            </a:r>
            <a:endParaRPr lang="en-US" sz="880" dirty="0"/>
          </a:p>
        </p:txBody>
      </p:sp>
      <p:sp>
        <p:nvSpPr>
          <p:cNvPr id="48" name="Text 46"/>
          <p:cNvSpPr/>
          <p:nvPr/>
        </p:nvSpPr>
        <p:spPr>
          <a:xfrm>
            <a:off x="7332166" y="2610445"/>
            <a:ext cx="1278582" cy="641152"/>
          </a:xfrm>
          <a:prstGeom prst="roundRect">
            <a:avLst>
              <a:gd name="adj" fmla="val 7923"/>
            </a:avLst>
          </a:prstGeom>
          <a:solidFill>
            <a:srgbClr val="F4F4F4"/>
          </a:solidFill>
          <a:ln w="9525">
            <a:solidFill>
              <a:srgbClr val="B4B4B4"/>
            </a:solidFill>
          </a:ln>
        </p:spPr>
        <p:txBody>
          <a:bodyPr wrap="square" rtlCol="0" anchor="ctr"/>
          <a:lstStyle/>
          <a:p>
            <a:pPr marL="0" indent="0">
              <a:buNone/>
            </a:pPr>
            <a:endParaRPr lang="en-US" dirty="0"/>
          </a:p>
        </p:txBody>
      </p:sp>
      <p:sp>
        <p:nvSpPr>
          <p:cNvPr id="49" name="Text 47"/>
          <p:cNvSpPr/>
          <p:nvPr/>
        </p:nvSpPr>
        <p:spPr>
          <a:xfrm>
            <a:off x="7367958" y="2670721"/>
            <a:ext cx="1206999" cy="128439"/>
          </a:xfrm>
          <a:prstGeom prst="rect">
            <a:avLst/>
          </a:prstGeom>
          <a:noFill/>
          <a:ln/>
        </p:spPr>
        <p:txBody>
          <a:bodyPr wrap="square" lIns="0" tIns="0" rIns="0" bIns="0" rtlCol="0" anchor="t"/>
          <a:lstStyle/>
          <a:p>
            <a:pPr marL="0" indent="0" algn="ctr">
              <a:lnSpc>
                <a:spcPts val="1012"/>
              </a:lnSpc>
              <a:buNone/>
            </a:pPr>
            <a:r>
              <a:rPr lang="en-US" sz="880" b="1" dirty="0">
                <a:solidFill>
                  <a:srgbClr val="111111"/>
                </a:solidFill>
                <a:latin typeface="Helvetica" pitchFamily="34" charset="0"/>
                <a:ea typeface="Helvetica" pitchFamily="34" charset="-122"/>
                <a:cs typeface="Helvetica" pitchFamily="34" charset="-120"/>
              </a:rPr>
              <a:t>Resultado Query</a:t>
            </a:r>
            <a:endParaRPr lang="en-US" sz="880" dirty="0"/>
          </a:p>
        </p:txBody>
      </p:sp>
      <p:sp>
        <p:nvSpPr>
          <p:cNvPr id="50" name="Text 48"/>
          <p:cNvSpPr/>
          <p:nvPr/>
        </p:nvSpPr>
        <p:spPr>
          <a:xfrm>
            <a:off x="431750" y="3353098"/>
            <a:ext cx="8445957" cy="329803"/>
          </a:xfrm>
          <a:prstGeom prst="rect">
            <a:avLst/>
          </a:prstGeom>
          <a:noFill/>
          <a:ln/>
        </p:spPr>
        <p:txBody>
          <a:bodyPr wrap="square" lIns="0" tIns="0" rIns="0" bIns="0" rtlCol="0" anchor="t"/>
          <a:lstStyle/>
          <a:p>
            <a:pPr marL="0" indent="0" algn="l">
              <a:lnSpc>
                <a:spcPts val="1300"/>
              </a:lnSpc>
              <a:spcBef>
                <a:spcPts val="200"/>
              </a:spcBef>
              <a:spcAft>
                <a:spcPts val="700"/>
              </a:spcAft>
              <a:buNone/>
            </a:pPr>
            <a:r>
              <a:rPr lang="en-US" sz="1000" dirty="0">
                <a:solidFill>
                  <a:srgbClr val="4A4A4A"/>
                </a:solidFill>
                <a:latin typeface="Helvetica" pitchFamily="34" charset="0"/>
                <a:ea typeface="Helvetica" pitchFamily="34" charset="-122"/>
                <a:cs typeface="Helvetica" pitchFamily="34" charset="-120"/>
              </a:rPr>
              <a:t>Los seis estereotipos: </a:t>
            </a:r>
            <a:r>
              <a:rPr lang="en-US" sz="1000" i="1" dirty="0">
                <a:solidFill>
                  <a:srgbClr val="4A4A4A"/>
                </a:solidFill>
                <a:latin typeface="Helvetica" pitchFamily="34" charset="0"/>
                <a:ea typeface="Helvetica" pitchFamily="34" charset="-122"/>
                <a:cs typeface="Helvetica" pitchFamily="34" charset="-120"/>
              </a:rPr>
              <a:t>information holder, structurer, service provider, coordinator, controller, interfacer.</a:t>
            </a:r>
            <a:r>
              <a:rPr lang="en-US" sz="1000" dirty="0">
                <a:solidFill>
                  <a:srgbClr val="4A4A4A"/>
                </a:solidFill>
                <a:latin typeface="Helvetica" pitchFamily="34" charset="0"/>
                <a:ea typeface="Helvetica" pitchFamily="34" charset="-122"/>
                <a:cs typeface="Helvetica" pitchFamily="34" charset="-120"/>
              </a:rPr>
              <a:t> En coral, los elementos externos al Núcleo de Pedidos.</a:t>
            </a:r>
            <a:endParaRPr lang="en-US" sz="1000" dirty="0"/>
          </a:p>
        </p:txBody>
      </p:sp>
      <p:sp>
        <p:nvSpPr>
          <p:cNvPr id="51" name="Text 49"/>
          <p:cNvSpPr/>
          <p:nvPr/>
        </p:nvSpPr>
        <p:spPr>
          <a:xfrm>
            <a:off x="431750" y="3771751"/>
            <a:ext cx="8445957" cy="329803"/>
          </a:xfrm>
          <a:prstGeom prst="rect">
            <a:avLst/>
          </a:prstGeom>
          <a:noFill/>
          <a:ln/>
        </p:spPr>
        <p:txBody>
          <a:bodyPr wrap="square" lIns="0" tIns="0" rIns="0" bIns="0" rtlCol="0" anchor="t"/>
          <a:lstStyle/>
          <a:p>
            <a:pPr marL="0" indent="0" algn="l">
              <a:lnSpc>
                <a:spcPts val="1300"/>
              </a:lnSpc>
              <a:spcAft>
                <a:spcPts val="700"/>
              </a:spcAft>
              <a:buNone/>
            </a:pPr>
            <a:r>
              <a:rPr lang="en-US" sz="1000" dirty="0">
                <a:solidFill>
                  <a:srgbClr val="0B84D9"/>
                </a:solidFill>
                <a:latin typeface="Helvetica" pitchFamily="34" charset="0"/>
                <a:ea typeface="Helvetica" pitchFamily="34" charset="-122"/>
                <a:cs typeface="Helvetica" pitchFamily="34" charset="-120"/>
              </a:rPr>
              <a:t>Todos los candidatos quedaron con estereotipo, pero fíjense en algo: hay </a:t>
            </a:r>
            <a:r>
              <a:rPr lang="en-US" sz="1000" b="1" dirty="0">
                <a:solidFill>
                  <a:srgbClr val="0B84D9"/>
                </a:solidFill>
                <a:latin typeface="Helvetica" pitchFamily="34" charset="0"/>
                <a:ea typeface="Helvetica" pitchFamily="34" charset="-122"/>
                <a:cs typeface="Helvetica" pitchFamily="34" charset="-120"/>
              </a:rPr>
              <a:t>un solo controlador</a:t>
            </a:r>
            <a:r>
              <a:rPr lang="en-US" sz="1000" dirty="0">
                <a:solidFill>
                  <a:srgbClr val="0B84D9"/>
                </a:solidFill>
                <a:latin typeface="Helvetica" pitchFamily="34" charset="0"/>
                <a:ea typeface="Helvetica" pitchFamily="34" charset="-122"/>
                <a:cs typeface="Helvetica" pitchFamily="34" charset="-120"/>
              </a:rPr>
              <a:t> en toda la lista. Eso no es casualidad y va a definir cómo se ve la solución.</a:t>
            </a:r>
            <a:endParaRPr lang="en-US" sz="1000" dirty="0"/>
          </a:p>
        </p:txBody>
      </p:sp>
      <p:sp>
        <p:nvSpPr>
          <p:cNvPr id="52" name="Text 50"/>
          <p:cNvSpPr/>
          <p:nvPr/>
        </p:nvSpPr>
        <p:spPr>
          <a:xfrm>
            <a:off x="8737402" y="4842570"/>
            <a:ext cx="129793" cy="148530"/>
          </a:xfrm>
          <a:prstGeom prst="rect">
            <a:avLst/>
          </a:prstGeom>
          <a:noFill/>
          <a:ln/>
        </p:spPr>
        <p:txBody>
          <a:bodyPr wrap="square" lIns="0" tIns="0" rIns="0" bIns="0" rtlCol="0" anchor="t"/>
          <a:lstStyle/>
          <a:p>
            <a:pPr marL="0" indent="0" algn="l">
              <a:lnSpc>
                <a:spcPts val="1170"/>
              </a:lnSpc>
              <a:buNone/>
            </a:pPr>
            <a:r>
              <a:rPr lang="en-US" sz="900" dirty="0">
                <a:solidFill>
                  <a:srgbClr val="9A9A9A"/>
                </a:solidFill>
                <a:latin typeface="Helvetica" pitchFamily="34" charset="0"/>
                <a:ea typeface="Helvetica" pitchFamily="34" charset="-122"/>
                <a:cs typeface="Helvetica" pitchFamily="34" charset="-120"/>
              </a:rPr>
              <a:t>10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ounded Rectangle 2"/>
          <p:cNvSpPr/>
          <p:nvPr/>
        </p:nvSpPr>
        <p:spPr>
          <a:xfrm>
            <a:off x="571500" y="218108"/>
            <a:ext cx="1721644" cy="221456"/>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ounded Rectangle 3"/>
          <p:cNvSpPr/>
          <p:nvPr/>
        </p:nvSpPr>
        <p:spPr>
          <a:xfrm>
            <a:off x="5509282" y="950900"/>
            <a:ext cx="3063218" cy="3241588"/>
          </a:xfrm>
          <a:prstGeom prst="roundRect">
            <a:avLst>
              <a:gd name="adj" fmla="val 4664"/>
            </a:avLst>
          </a:prstGeom>
          <a:solidFill>
            <a:srgbClr val="FEF2F2"/>
          </a:solidFill>
          <a:ln w="19050">
            <a:solidFill>
              <a:srgbClr val="FC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ounded Rectangle 4"/>
          <p:cNvSpPr/>
          <p:nvPr/>
        </p:nvSpPr>
        <p:spPr>
          <a:xfrm>
            <a:off x="571500" y="1385329"/>
            <a:ext cx="4594882" cy="757684"/>
          </a:xfrm>
          <a:prstGeom prst="roundRect">
            <a:avLst>
              <a:gd name="adj" fmla="val 1131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 name="Rounded Rectangle 5"/>
          <p:cNvSpPr/>
          <p:nvPr/>
        </p:nvSpPr>
        <p:spPr>
          <a:xfrm>
            <a:off x="571500" y="2257313"/>
            <a:ext cx="4594882" cy="581322"/>
          </a:xfrm>
          <a:prstGeom prst="roundRect">
            <a:avLst>
              <a:gd name="adj" fmla="val 1474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 name="Rounded Rectangle 6"/>
          <p:cNvSpPr/>
          <p:nvPr/>
        </p:nvSpPr>
        <p:spPr>
          <a:xfrm>
            <a:off x="571500" y="2952936"/>
            <a:ext cx="4594882" cy="581322"/>
          </a:xfrm>
          <a:prstGeom prst="roundRect">
            <a:avLst>
              <a:gd name="adj" fmla="val 1474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Rounded Rectangle 7"/>
          <p:cNvSpPr/>
          <p:nvPr/>
        </p:nvSpPr>
        <p:spPr>
          <a:xfrm>
            <a:off x="571500" y="3648558"/>
            <a:ext cx="4594882" cy="581322"/>
          </a:xfrm>
          <a:prstGeom prst="roundRect">
            <a:avLst>
              <a:gd name="adj" fmla="val 1474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 name="Rounded Rectangle 8"/>
          <p:cNvSpPr/>
          <p:nvPr/>
        </p:nvSpPr>
        <p:spPr>
          <a:xfrm>
            <a:off x="571500" y="4344181"/>
            <a:ext cx="4594882" cy="581322"/>
          </a:xfrm>
          <a:prstGeom prst="roundRect">
            <a:avLst>
              <a:gd name="adj" fmla="val 1474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 name="Rounded Rectangle 9"/>
          <p:cNvSpPr/>
          <p:nvPr/>
        </p:nvSpPr>
        <p:spPr>
          <a:xfrm>
            <a:off x="6755085" y="3102397"/>
            <a:ext cx="571500" cy="21431"/>
          </a:xfrm>
          <a:prstGeom prst="roundRect">
            <a:avLst>
              <a:gd name="adj" fmla="val 50000"/>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1" name="Rounded Rectangle 10"/>
          <p:cNvSpPr/>
          <p:nvPr/>
        </p:nvSpPr>
        <p:spPr>
          <a:xfrm>
            <a:off x="1828800" y="1660587"/>
            <a:ext cx="857250" cy="207169"/>
          </a:xfrm>
          <a:prstGeom prst="roundRect">
            <a:avLst>
              <a:gd name="adj" fmla="val 50000"/>
            </a:avLst>
          </a:prstGeom>
          <a:solidFill>
            <a:srgbClr val="F3E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 name="Rounded Rectangle 11"/>
          <p:cNvSpPr/>
          <p:nvPr/>
        </p:nvSpPr>
        <p:spPr>
          <a:xfrm>
            <a:off x="1828800" y="2444391"/>
            <a:ext cx="857250" cy="207169"/>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3" name="Rounded Rectangle 12"/>
          <p:cNvSpPr/>
          <p:nvPr/>
        </p:nvSpPr>
        <p:spPr>
          <a:xfrm>
            <a:off x="1828800" y="3140013"/>
            <a:ext cx="857250" cy="207169"/>
          </a:xfrm>
          <a:prstGeom prst="roundRect">
            <a:avLst>
              <a:gd name="adj" fmla="val 50000"/>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4" name="Rounded Rectangle 13"/>
          <p:cNvSpPr/>
          <p:nvPr/>
        </p:nvSpPr>
        <p:spPr>
          <a:xfrm>
            <a:off x="1828800" y="3835635"/>
            <a:ext cx="857250" cy="207169"/>
          </a:xfrm>
          <a:prstGeom prst="roundRect">
            <a:avLst>
              <a:gd name="adj" fmla="val 50000"/>
            </a:avLst>
          </a:prstGeom>
          <a:solidFill>
            <a:srgbClr val="FC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5" name="Rounded Rectangle 14"/>
          <p:cNvSpPr/>
          <p:nvPr/>
        </p:nvSpPr>
        <p:spPr>
          <a:xfrm>
            <a:off x="1828800" y="4531258"/>
            <a:ext cx="857250" cy="207169"/>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pic>
        <p:nvPicPr>
          <p:cNvPr id="16" name="Picture 15" descr="image.png"/>
          <p:cNvPicPr>
            <a:picLocks noChangeAspect="1"/>
          </p:cNvPicPr>
          <p:nvPr/>
        </p:nvPicPr>
        <p:blipFill>
          <a:blip r:embed="rId3"/>
          <a:stretch>
            <a:fillRect/>
          </a:stretch>
        </p:blipFill>
        <p:spPr>
          <a:xfrm>
            <a:off x="6783660" y="1308087"/>
            <a:ext cx="514350" cy="514350"/>
          </a:xfrm>
          <a:prstGeom prst="rect">
            <a:avLst/>
          </a:prstGeom>
        </p:spPr>
      </p:pic>
      <p:pic>
        <p:nvPicPr>
          <p:cNvPr id="17" name="Picture 16" descr="image.png"/>
          <p:cNvPicPr>
            <a:picLocks noChangeAspect="1"/>
          </p:cNvPicPr>
          <p:nvPr/>
        </p:nvPicPr>
        <p:blipFill>
          <a:blip r:embed="rId4"/>
          <a:stretch>
            <a:fillRect/>
          </a:stretch>
        </p:blipFill>
        <p:spPr>
          <a:xfrm>
            <a:off x="2800350" y="1707021"/>
            <a:ext cx="100013" cy="114300"/>
          </a:xfrm>
          <a:prstGeom prst="rect">
            <a:avLst/>
          </a:prstGeom>
        </p:spPr>
      </p:pic>
      <p:pic>
        <p:nvPicPr>
          <p:cNvPr id="18" name="Picture 17" descr="image.png"/>
          <p:cNvPicPr>
            <a:picLocks noChangeAspect="1"/>
          </p:cNvPicPr>
          <p:nvPr/>
        </p:nvPicPr>
        <p:blipFill>
          <a:blip r:embed="rId4"/>
          <a:stretch>
            <a:fillRect/>
          </a:stretch>
        </p:blipFill>
        <p:spPr>
          <a:xfrm>
            <a:off x="2800350" y="2490824"/>
            <a:ext cx="100013" cy="114300"/>
          </a:xfrm>
          <a:prstGeom prst="rect">
            <a:avLst/>
          </a:prstGeom>
        </p:spPr>
      </p:pic>
      <p:pic>
        <p:nvPicPr>
          <p:cNvPr id="19" name="Picture 18" descr="image.png"/>
          <p:cNvPicPr>
            <a:picLocks noChangeAspect="1"/>
          </p:cNvPicPr>
          <p:nvPr/>
        </p:nvPicPr>
        <p:blipFill>
          <a:blip r:embed="rId5"/>
          <a:stretch>
            <a:fillRect/>
          </a:stretch>
        </p:blipFill>
        <p:spPr>
          <a:xfrm>
            <a:off x="2800350" y="3186447"/>
            <a:ext cx="100013" cy="114300"/>
          </a:xfrm>
          <a:prstGeom prst="rect">
            <a:avLst/>
          </a:prstGeom>
        </p:spPr>
      </p:pic>
      <p:pic>
        <p:nvPicPr>
          <p:cNvPr id="20" name="Picture 19" descr="image.png"/>
          <p:cNvPicPr>
            <a:picLocks noChangeAspect="1"/>
          </p:cNvPicPr>
          <p:nvPr/>
        </p:nvPicPr>
        <p:blipFill>
          <a:blip r:embed="rId5"/>
          <a:stretch>
            <a:fillRect/>
          </a:stretch>
        </p:blipFill>
        <p:spPr>
          <a:xfrm>
            <a:off x="2800350" y="3882070"/>
            <a:ext cx="100013" cy="114300"/>
          </a:xfrm>
          <a:prstGeom prst="rect">
            <a:avLst/>
          </a:prstGeom>
        </p:spPr>
      </p:pic>
      <p:pic>
        <p:nvPicPr>
          <p:cNvPr id="21" name="Picture 20" descr="image.png"/>
          <p:cNvPicPr>
            <a:picLocks noChangeAspect="1"/>
          </p:cNvPicPr>
          <p:nvPr/>
        </p:nvPicPr>
        <p:blipFill>
          <a:blip r:embed="rId4"/>
          <a:stretch>
            <a:fillRect/>
          </a:stretch>
        </p:blipFill>
        <p:spPr>
          <a:xfrm>
            <a:off x="2800350" y="4577693"/>
            <a:ext cx="100013" cy="114300"/>
          </a:xfrm>
          <a:prstGeom prst="rect">
            <a:avLst/>
          </a:prstGeom>
        </p:spPr>
      </p:pic>
      <p:sp>
        <p:nvSpPr>
          <p:cNvPr id="22" name="TextBox 21"/>
          <p:cNvSpPr txBox="1"/>
          <p:nvPr/>
        </p:nvSpPr>
        <p:spPr>
          <a:xfrm>
            <a:off x="671513" y="260971"/>
            <a:ext cx="1593056" cy="129907"/>
          </a:xfrm>
          <a:prstGeom prst="rect">
            <a:avLst/>
          </a:prstGeom>
          <a:noFill/>
        </p:spPr>
        <p:txBody>
          <a:bodyPr wrap="square" lIns="0" tIns="0" rIns="0" bIns="0" anchor="t">
            <a:spAutoFit/>
          </a:bodyPr>
          <a:lstStyle/>
          <a:p>
            <a:pPr algn="l"/>
            <a:r>
              <a:rPr sz="844" b="1">
                <a:solidFill>
                  <a:srgbClr val="B45309"/>
                </a:solidFill>
                <a:latin typeface="Inter"/>
              </a:rPr>
              <a:t>IMPACTO ARQUITECTÓNICO</a:t>
            </a:r>
          </a:p>
        </p:txBody>
      </p:sp>
      <p:sp>
        <p:nvSpPr>
          <p:cNvPr id="23" name="TextBox 22"/>
          <p:cNvSpPr txBox="1"/>
          <p:nvPr/>
        </p:nvSpPr>
        <p:spPr>
          <a:xfrm>
            <a:off x="571500" y="553864"/>
            <a:ext cx="2696572" cy="346249"/>
          </a:xfrm>
          <a:prstGeom prst="rect">
            <a:avLst/>
          </a:prstGeom>
          <a:noFill/>
        </p:spPr>
        <p:txBody>
          <a:bodyPr wrap="none" lIns="0" tIns="0" rIns="0" bIns="0" anchor="t">
            <a:spAutoFit/>
          </a:bodyPr>
          <a:lstStyle/>
          <a:p>
            <a:pPr>
              <a:lnSpc>
                <a:spcPts val="2722"/>
              </a:lnSpc>
            </a:pPr>
            <a:r>
              <a:rPr sz="2475" b="1">
                <a:solidFill>
                  <a:srgbClr val="111827"/>
                </a:solidFill>
                <a:latin typeface="Inter"/>
              </a:rPr>
              <a:t>Decisiones Invisibles</a:t>
            </a:r>
          </a:p>
        </p:txBody>
      </p:sp>
      <p:sp>
        <p:nvSpPr>
          <p:cNvPr id="24" name="TextBox 23"/>
          <p:cNvSpPr txBox="1"/>
          <p:nvPr/>
        </p:nvSpPr>
        <p:spPr>
          <a:xfrm>
            <a:off x="571501" y="985279"/>
            <a:ext cx="3970639" cy="173124"/>
          </a:xfrm>
          <a:prstGeom prst="rect">
            <a:avLst/>
          </a:prstGeom>
          <a:noFill/>
        </p:spPr>
        <p:txBody>
          <a:bodyPr wrap="none" lIns="0" tIns="0" rIns="0" bIns="0" anchor="t">
            <a:spAutoFit/>
          </a:bodyPr>
          <a:lstStyle/>
          <a:p>
            <a:pPr algn="l"/>
            <a:r>
              <a:rPr sz="1125">
                <a:solidFill>
                  <a:srgbClr val="4B5563"/>
                </a:solidFill>
                <a:latin typeface="Inter"/>
              </a:rPr>
              <a:t>Asignar un estereotipo dicta inmediatamente la complejidad futura.</a:t>
            </a:r>
          </a:p>
        </p:txBody>
      </p:sp>
      <p:sp>
        <p:nvSpPr>
          <p:cNvPr id="25" name="TextBox 24"/>
          <p:cNvSpPr txBox="1"/>
          <p:nvPr/>
        </p:nvSpPr>
        <p:spPr>
          <a:xfrm>
            <a:off x="5429989" y="2051038"/>
            <a:ext cx="3221803" cy="554639"/>
          </a:xfrm>
          <a:prstGeom prst="rect">
            <a:avLst/>
          </a:prstGeom>
          <a:noFill/>
        </p:spPr>
        <p:txBody>
          <a:bodyPr wrap="square" lIns="0" tIns="0" rIns="0" bIns="0" anchor="t">
            <a:spAutoFit/>
          </a:bodyPr>
          <a:lstStyle/>
          <a:p>
            <a:pPr algn="ctr">
              <a:lnSpc>
                <a:spcPts val="2159"/>
              </a:lnSpc>
            </a:pPr>
            <a:r>
              <a:rPr b="1">
                <a:solidFill>
                  <a:srgbClr val="991B1B"/>
                </a:solidFill>
                <a:latin typeface="Inter"/>
              </a:rPr>
              <a:t>Todavía no hemos escrito una línea de código...</a:t>
            </a:r>
          </a:p>
        </p:txBody>
      </p:sp>
      <p:sp>
        <p:nvSpPr>
          <p:cNvPr id="26" name="TextBox 25"/>
          <p:cNvSpPr txBox="1"/>
          <p:nvPr/>
        </p:nvSpPr>
        <p:spPr>
          <a:xfrm>
            <a:off x="5429989" y="3352427"/>
            <a:ext cx="3221803" cy="475964"/>
          </a:xfrm>
          <a:prstGeom prst="rect">
            <a:avLst/>
          </a:prstGeom>
          <a:noFill/>
        </p:spPr>
        <p:txBody>
          <a:bodyPr wrap="square" lIns="0" tIns="0" rIns="0" bIns="0" anchor="t">
            <a:spAutoFit/>
          </a:bodyPr>
          <a:lstStyle/>
          <a:p>
            <a:pPr algn="ctr">
              <a:lnSpc>
                <a:spcPts val="1901"/>
              </a:lnSpc>
            </a:pPr>
            <a:r>
              <a:rPr sz="1463">
                <a:solidFill>
                  <a:srgbClr val="B91C1C"/>
                </a:solidFill>
                <a:latin typeface="Inter"/>
              </a:rPr>
              <a:t>...y ya tomamos decisiones difíciles de revertir.</a:t>
            </a:r>
          </a:p>
        </p:txBody>
      </p:sp>
      <p:sp>
        <p:nvSpPr>
          <p:cNvPr id="27" name="TextBox 26"/>
          <p:cNvSpPr txBox="1"/>
          <p:nvPr/>
        </p:nvSpPr>
        <p:spPr>
          <a:xfrm>
            <a:off x="714375" y="1678446"/>
            <a:ext cx="415178" cy="173124"/>
          </a:xfrm>
          <a:prstGeom prst="rect">
            <a:avLst/>
          </a:prstGeom>
          <a:noFill/>
        </p:spPr>
        <p:txBody>
          <a:bodyPr wrap="none" lIns="0" tIns="0" rIns="0" bIns="0" anchor="t">
            <a:spAutoFit/>
          </a:bodyPr>
          <a:lstStyle/>
          <a:p>
            <a:pPr algn="l"/>
            <a:r>
              <a:rPr sz="1125" b="1">
                <a:solidFill>
                  <a:srgbClr val="111827"/>
                </a:solidFill>
                <a:latin typeface="Inter"/>
              </a:rPr>
              <a:t>Pedido</a:t>
            </a:r>
          </a:p>
        </p:txBody>
      </p:sp>
      <p:sp>
        <p:nvSpPr>
          <p:cNvPr id="28" name="TextBox 27"/>
          <p:cNvSpPr txBox="1"/>
          <p:nvPr/>
        </p:nvSpPr>
        <p:spPr>
          <a:xfrm>
            <a:off x="1821656" y="1703450"/>
            <a:ext cx="871538" cy="121252"/>
          </a:xfrm>
          <a:prstGeom prst="rect">
            <a:avLst/>
          </a:prstGeom>
          <a:noFill/>
        </p:spPr>
        <p:txBody>
          <a:bodyPr wrap="square" lIns="0" tIns="0" rIns="0" bIns="0" anchor="t">
            <a:spAutoFit/>
          </a:bodyPr>
          <a:lstStyle/>
          <a:p>
            <a:pPr algn="ctr"/>
            <a:r>
              <a:rPr sz="788" b="1">
                <a:solidFill>
                  <a:srgbClr val="7E22CE"/>
                </a:solidFill>
                <a:latin typeface="Inter"/>
              </a:rPr>
              <a:t>Controller</a:t>
            </a:r>
          </a:p>
        </p:txBody>
      </p:sp>
      <p:sp>
        <p:nvSpPr>
          <p:cNvPr id="29" name="TextBox 28"/>
          <p:cNvSpPr txBox="1"/>
          <p:nvPr/>
        </p:nvSpPr>
        <p:spPr>
          <a:xfrm>
            <a:off x="3014663" y="1499629"/>
            <a:ext cx="2080282" cy="350352"/>
          </a:xfrm>
          <a:prstGeom prst="rect">
            <a:avLst/>
          </a:prstGeom>
          <a:noFill/>
        </p:spPr>
        <p:txBody>
          <a:bodyPr wrap="square" lIns="0" tIns="0" rIns="0" bIns="0" anchor="t">
            <a:spAutoFit/>
          </a:bodyPr>
          <a:lstStyle/>
          <a:p>
            <a:pPr>
              <a:lnSpc>
                <a:spcPts val="1389"/>
              </a:lnSpc>
            </a:pPr>
            <a:r>
              <a:rPr sz="1069">
                <a:solidFill>
                  <a:srgbClr val="374151"/>
                </a:solidFill>
                <a:latin typeface="Inter"/>
              </a:rPr>
              <a:t>Concentra la lógica. Alta complejidad y riesgo de errores.</a:t>
            </a:r>
          </a:p>
        </p:txBody>
      </p:sp>
      <p:sp>
        <p:nvSpPr>
          <p:cNvPr id="30" name="TextBox 29"/>
          <p:cNvSpPr txBox="1"/>
          <p:nvPr/>
        </p:nvSpPr>
        <p:spPr>
          <a:xfrm>
            <a:off x="714375" y="2462249"/>
            <a:ext cx="782265" cy="173124"/>
          </a:xfrm>
          <a:prstGeom prst="rect">
            <a:avLst/>
          </a:prstGeom>
          <a:noFill/>
        </p:spPr>
        <p:txBody>
          <a:bodyPr wrap="none" lIns="0" tIns="0" rIns="0" bIns="0" anchor="t">
            <a:spAutoFit/>
          </a:bodyPr>
          <a:lstStyle/>
          <a:p>
            <a:pPr algn="l"/>
            <a:r>
              <a:rPr sz="1125" b="1">
                <a:solidFill>
                  <a:srgbClr val="111827"/>
                </a:solidFill>
                <a:latin typeface="Inter"/>
              </a:rPr>
              <a:t>Despachador</a:t>
            </a:r>
          </a:p>
        </p:txBody>
      </p:sp>
      <p:sp>
        <p:nvSpPr>
          <p:cNvPr id="31" name="TextBox 30"/>
          <p:cNvSpPr txBox="1"/>
          <p:nvPr/>
        </p:nvSpPr>
        <p:spPr>
          <a:xfrm>
            <a:off x="1821656" y="2487253"/>
            <a:ext cx="871538" cy="121252"/>
          </a:xfrm>
          <a:prstGeom prst="rect">
            <a:avLst/>
          </a:prstGeom>
          <a:noFill/>
        </p:spPr>
        <p:txBody>
          <a:bodyPr wrap="square" lIns="0" tIns="0" rIns="0" bIns="0" anchor="t">
            <a:spAutoFit/>
          </a:bodyPr>
          <a:lstStyle/>
          <a:p>
            <a:pPr algn="ctr"/>
            <a:r>
              <a:rPr sz="788" b="1">
                <a:solidFill>
                  <a:srgbClr val="B45309"/>
                </a:solidFill>
                <a:latin typeface="Inter"/>
              </a:rPr>
              <a:t>Coordinator</a:t>
            </a:r>
          </a:p>
        </p:txBody>
      </p:sp>
      <p:sp>
        <p:nvSpPr>
          <p:cNvPr id="32" name="TextBox 31"/>
          <p:cNvSpPr txBox="1"/>
          <p:nvPr/>
        </p:nvSpPr>
        <p:spPr>
          <a:xfrm>
            <a:off x="3014663" y="2371613"/>
            <a:ext cx="2080282" cy="350352"/>
          </a:xfrm>
          <a:prstGeom prst="rect">
            <a:avLst/>
          </a:prstGeom>
          <a:noFill/>
        </p:spPr>
        <p:txBody>
          <a:bodyPr wrap="square" lIns="0" tIns="0" rIns="0" bIns="0" anchor="t">
            <a:spAutoFit/>
          </a:bodyPr>
          <a:lstStyle/>
          <a:p>
            <a:pPr>
              <a:lnSpc>
                <a:spcPts val="1389"/>
              </a:lnSpc>
            </a:pPr>
            <a:r>
              <a:rPr sz="1069">
                <a:solidFill>
                  <a:srgbClr val="374151"/>
                </a:solidFill>
                <a:latin typeface="Inter"/>
              </a:rPr>
              <a:t>Delega el trabajo pesado. Lógica de negocio simple.</a:t>
            </a:r>
          </a:p>
        </p:txBody>
      </p:sp>
      <p:sp>
        <p:nvSpPr>
          <p:cNvPr id="33" name="TextBox 32"/>
          <p:cNvSpPr txBox="1"/>
          <p:nvPr/>
        </p:nvSpPr>
        <p:spPr>
          <a:xfrm>
            <a:off x="714375" y="3086435"/>
            <a:ext cx="1071563" cy="307777"/>
          </a:xfrm>
          <a:prstGeom prst="rect">
            <a:avLst/>
          </a:prstGeom>
          <a:noFill/>
        </p:spPr>
        <p:txBody>
          <a:bodyPr wrap="square" lIns="0" tIns="0" rIns="0" bIns="0" anchor="t">
            <a:spAutoFit/>
          </a:bodyPr>
          <a:lstStyle/>
          <a:p>
            <a:pPr>
              <a:lnSpc>
                <a:spcPts val="1238"/>
              </a:lnSpc>
            </a:pPr>
            <a:r>
              <a:rPr sz="1125" b="1">
                <a:solidFill>
                  <a:srgbClr val="111827"/>
                </a:solidFill>
                <a:latin typeface="Inter"/>
              </a:rPr>
              <a:t>Carrito /</a:t>
            </a:r>
            <a:r>
              <a:rPr sz="1350"/>
              <a:t>
</a:t>
            </a:r>
            <a:r>
              <a:rPr sz="1125" b="1">
                <a:solidFill>
                  <a:srgbClr val="111827"/>
                </a:solidFill>
                <a:latin typeface="Inter"/>
              </a:rPr>
              <a:t> Catálogo</a:t>
            </a:r>
          </a:p>
        </p:txBody>
      </p:sp>
      <p:sp>
        <p:nvSpPr>
          <p:cNvPr id="34" name="TextBox 33"/>
          <p:cNvSpPr txBox="1"/>
          <p:nvPr/>
        </p:nvSpPr>
        <p:spPr>
          <a:xfrm>
            <a:off x="1821656" y="3182875"/>
            <a:ext cx="871538" cy="121252"/>
          </a:xfrm>
          <a:prstGeom prst="rect">
            <a:avLst/>
          </a:prstGeom>
          <a:noFill/>
        </p:spPr>
        <p:txBody>
          <a:bodyPr wrap="square" lIns="0" tIns="0" rIns="0" bIns="0" anchor="t">
            <a:spAutoFit/>
          </a:bodyPr>
          <a:lstStyle/>
          <a:p>
            <a:pPr algn="ctr"/>
            <a:r>
              <a:rPr sz="788" b="1">
                <a:solidFill>
                  <a:srgbClr val="4338CA"/>
                </a:solidFill>
                <a:latin typeface="Inter"/>
              </a:rPr>
              <a:t>Structurer</a:t>
            </a:r>
          </a:p>
        </p:txBody>
      </p:sp>
      <p:sp>
        <p:nvSpPr>
          <p:cNvPr id="35" name="TextBox 34"/>
          <p:cNvSpPr txBox="1"/>
          <p:nvPr/>
        </p:nvSpPr>
        <p:spPr>
          <a:xfrm>
            <a:off x="3014663" y="3067236"/>
            <a:ext cx="2080282" cy="350352"/>
          </a:xfrm>
          <a:prstGeom prst="rect">
            <a:avLst/>
          </a:prstGeom>
          <a:noFill/>
        </p:spPr>
        <p:txBody>
          <a:bodyPr wrap="square" lIns="0" tIns="0" rIns="0" bIns="0" anchor="t">
            <a:spAutoFit/>
          </a:bodyPr>
          <a:lstStyle/>
          <a:p>
            <a:pPr>
              <a:lnSpc>
                <a:spcPts val="1389"/>
              </a:lnSpc>
            </a:pPr>
            <a:r>
              <a:rPr sz="1069">
                <a:solidFill>
                  <a:srgbClr val="374151"/>
                </a:solidFill>
                <a:latin typeface="Inter"/>
              </a:rPr>
              <a:t>Solo organizan y entregan elementos. No deciden.</a:t>
            </a:r>
          </a:p>
        </p:txBody>
      </p:sp>
      <p:sp>
        <p:nvSpPr>
          <p:cNvPr id="36" name="TextBox 35"/>
          <p:cNvSpPr txBox="1"/>
          <p:nvPr/>
        </p:nvSpPr>
        <p:spPr>
          <a:xfrm>
            <a:off x="714375" y="3853495"/>
            <a:ext cx="351058" cy="173124"/>
          </a:xfrm>
          <a:prstGeom prst="rect">
            <a:avLst/>
          </a:prstGeom>
          <a:noFill/>
        </p:spPr>
        <p:txBody>
          <a:bodyPr wrap="none" lIns="0" tIns="0" rIns="0" bIns="0" anchor="t">
            <a:spAutoFit/>
          </a:bodyPr>
          <a:lstStyle/>
          <a:p>
            <a:pPr algn="l"/>
            <a:r>
              <a:rPr sz="1125" b="1">
                <a:solidFill>
                  <a:srgbClr val="111827"/>
                </a:solidFill>
                <a:latin typeface="Inter"/>
              </a:rPr>
              <a:t>Pagos</a:t>
            </a:r>
          </a:p>
        </p:txBody>
      </p:sp>
      <p:sp>
        <p:nvSpPr>
          <p:cNvPr id="37" name="TextBox 36"/>
          <p:cNvSpPr txBox="1"/>
          <p:nvPr/>
        </p:nvSpPr>
        <p:spPr>
          <a:xfrm>
            <a:off x="1821656" y="3878498"/>
            <a:ext cx="871538" cy="121252"/>
          </a:xfrm>
          <a:prstGeom prst="rect">
            <a:avLst/>
          </a:prstGeom>
          <a:noFill/>
        </p:spPr>
        <p:txBody>
          <a:bodyPr wrap="square" lIns="0" tIns="0" rIns="0" bIns="0" anchor="t">
            <a:spAutoFit/>
          </a:bodyPr>
          <a:lstStyle/>
          <a:p>
            <a:pPr algn="ctr"/>
            <a:r>
              <a:rPr sz="788" b="1">
                <a:solidFill>
                  <a:srgbClr val="BE185D"/>
                </a:solidFill>
                <a:latin typeface="Inter"/>
              </a:rPr>
              <a:t>Interfacer</a:t>
            </a:r>
          </a:p>
        </p:txBody>
      </p:sp>
      <p:sp>
        <p:nvSpPr>
          <p:cNvPr id="38" name="TextBox 37"/>
          <p:cNvSpPr txBox="1"/>
          <p:nvPr/>
        </p:nvSpPr>
        <p:spPr>
          <a:xfrm>
            <a:off x="3014663" y="3762858"/>
            <a:ext cx="2080282" cy="350352"/>
          </a:xfrm>
          <a:prstGeom prst="rect">
            <a:avLst/>
          </a:prstGeom>
          <a:noFill/>
        </p:spPr>
        <p:txBody>
          <a:bodyPr wrap="square" lIns="0" tIns="0" rIns="0" bIns="0" anchor="t">
            <a:spAutoFit/>
          </a:bodyPr>
          <a:lstStyle/>
          <a:p>
            <a:pPr>
              <a:lnSpc>
                <a:spcPts val="1389"/>
              </a:lnSpc>
            </a:pPr>
            <a:r>
              <a:rPr sz="1069">
                <a:solidFill>
                  <a:srgbClr val="374151"/>
                </a:solidFill>
                <a:latin typeface="Inter"/>
              </a:rPr>
              <a:t>Oculta y aísla los detalles externos (Nequi, Tarjeta).</a:t>
            </a:r>
          </a:p>
        </p:txBody>
      </p:sp>
      <p:sp>
        <p:nvSpPr>
          <p:cNvPr id="39" name="TextBox 38"/>
          <p:cNvSpPr txBox="1"/>
          <p:nvPr/>
        </p:nvSpPr>
        <p:spPr>
          <a:xfrm>
            <a:off x="714375" y="4549118"/>
            <a:ext cx="745397" cy="173124"/>
          </a:xfrm>
          <a:prstGeom prst="rect">
            <a:avLst/>
          </a:prstGeom>
          <a:noFill/>
        </p:spPr>
        <p:txBody>
          <a:bodyPr wrap="none" lIns="0" tIns="0" rIns="0" bIns="0" anchor="t">
            <a:spAutoFit/>
          </a:bodyPr>
          <a:lstStyle/>
          <a:p>
            <a:pPr algn="l"/>
            <a:r>
              <a:rPr sz="1125" b="1">
                <a:solidFill>
                  <a:srgbClr val="111827"/>
                </a:solidFill>
                <a:latin typeface="Inter"/>
              </a:rPr>
              <a:t>Conector DB</a:t>
            </a:r>
          </a:p>
        </p:txBody>
      </p:sp>
      <p:sp>
        <p:nvSpPr>
          <p:cNvPr id="40" name="TextBox 39"/>
          <p:cNvSpPr txBox="1"/>
          <p:nvPr/>
        </p:nvSpPr>
        <p:spPr>
          <a:xfrm>
            <a:off x="1821656" y="4574120"/>
            <a:ext cx="871538" cy="121252"/>
          </a:xfrm>
          <a:prstGeom prst="rect">
            <a:avLst/>
          </a:prstGeom>
          <a:noFill/>
        </p:spPr>
        <p:txBody>
          <a:bodyPr wrap="square" lIns="0" tIns="0" rIns="0" bIns="0" anchor="t">
            <a:spAutoFit/>
          </a:bodyPr>
          <a:lstStyle/>
          <a:p>
            <a:pPr algn="ctr"/>
            <a:r>
              <a:rPr sz="788" b="1">
                <a:solidFill>
                  <a:srgbClr val="047857"/>
                </a:solidFill>
                <a:latin typeface="Inter"/>
              </a:rPr>
              <a:t>Provider</a:t>
            </a:r>
          </a:p>
        </p:txBody>
      </p:sp>
      <p:sp>
        <p:nvSpPr>
          <p:cNvPr id="41" name="TextBox 40"/>
          <p:cNvSpPr txBox="1"/>
          <p:nvPr/>
        </p:nvSpPr>
        <p:spPr>
          <a:xfrm>
            <a:off x="3014663" y="4458481"/>
            <a:ext cx="2080282" cy="350352"/>
          </a:xfrm>
          <a:prstGeom prst="rect">
            <a:avLst/>
          </a:prstGeom>
          <a:noFill/>
        </p:spPr>
        <p:txBody>
          <a:bodyPr wrap="square" lIns="0" tIns="0" rIns="0" bIns="0" anchor="t">
            <a:spAutoFit/>
          </a:bodyPr>
          <a:lstStyle/>
          <a:p>
            <a:pPr>
              <a:lnSpc>
                <a:spcPts val="1389"/>
              </a:lnSpc>
            </a:pPr>
            <a:r>
              <a:rPr sz="1069">
                <a:solidFill>
                  <a:srgbClr val="374151"/>
                </a:solidFill>
                <a:latin typeface="Inter"/>
              </a:rPr>
              <a:t>Recurso pasivo. Espera peticiones, nunca inicia.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04800"/>
            <a:ext cx="8394192" cy="270123"/>
          </a:xfrm>
          <a:prstGeom prst="rect">
            <a:avLst/>
          </a:prstGeom>
          <a:noFill/>
          <a:ln/>
        </p:spPr>
        <p:txBody>
          <a:bodyPr wrap="square" lIns="0" tIns="0" rIns="0" bIns="0" rtlCol="0" anchor="t"/>
          <a:lstStyle/>
          <a:p>
            <a:pPr marL="0" indent="0" algn="l">
              <a:lnSpc>
                <a:spcPts val="2128"/>
              </a:lnSpc>
              <a:spcBef>
                <a:spcPts val="2400"/>
              </a:spcBef>
              <a:buNone/>
            </a:pPr>
            <a:r>
              <a:rPr lang="en-US" sz="1900" b="1" dirty="0">
                <a:solidFill>
                  <a:srgbClr val="111111"/>
                </a:solidFill>
                <a:latin typeface="Helvetica" pitchFamily="34" charset="0"/>
                <a:ea typeface="Helvetica" pitchFamily="34" charset="-122"/>
                <a:cs typeface="Helvetica" pitchFamily="34" charset="-120"/>
              </a:rPr>
              <a:t>Lo que acabamos de decidir sin darnos cuenta</a:t>
            </a:r>
            <a:endParaRPr lang="en-US" sz="1900" dirty="0"/>
          </a:p>
        </p:txBody>
      </p:sp>
      <p:sp>
        <p:nvSpPr>
          <p:cNvPr id="3" name="Text 1"/>
          <p:cNvSpPr/>
          <p:nvPr/>
        </p:nvSpPr>
        <p:spPr>
          <a:xfrm>
            <a:off x="431750" y="651123"/>
            <a:ext cx="8445957" cy="164902"/>
          </a:xfrm>
          <a:prstGeom prst="rect">
            <a:avLst/>
          </a:prstGeom>
          <a:noFill/>
          <a:ln/>
        </p:spPr>
        <p:txBody>
          <a:bodyPr wrap="square" lIns="0" tIns="0" rIns="0" bIns="0" rtlCol="0" anchor="t"/>
          <a:lstStyle/>
          <a:p>
            <a:pPr marL="0" indent="0" algn="l">
              <a:lnSpc>
                <a:spcPts val="1300"/>
              </a:lnSpc>
              <a:spcAft>
                <a:spcPts val="700"/>
              </a:spcAft>
              <a:buNone/>
            </a:pPr>
            <a:r>
              <a:rPr lang="en-US" sz="1000" dirty="0">
                <a:solidFill>
                  <a:srgbClr val="4A4A4A"/>
                </a:solidFill>
                <a:latin typeface="Helvetica" pitchFamily="34" charset="0"/>
                <a:ea typeface="Helvetica" pitchFamily="34" charset="-122"/>
                <a:cs typeface="Helvetica" pitchFamily="34" charset="-120"/>
              </a:rPr>
              <a:t>La asignación de estereotipos parece inocente, pero tiene consecuencias fuertes sobre cómo va a quedar el sistema:</a:t>
            </a:r>
            <a:endParaRPr lang="en-US" sz="1000" dirty="0"/>
          </a:p>
        </p:txBody>
      </p:sp>
      <p:sp>
        <p:nvSpPr>
          <p:cNvPr id="4" name="Text 2"/>
          <p:cNvSpPr/>
          <p:nvPr/>
        </p:nvSpPr>
        <p:spPr>
          <a:xfrm>
            <a:off x="622250" y="904875"/>
            <a:ext cx="8089850" cy="2042071"/>
          </a:xfrm>
          <a:prstGeom prst="rect">
            <a:avLst/>
          </a:prstGeom>
          <a:noFill/>
          <a:ln/>
        </p:spPr>
        <p:txBody>
          <a:bodyPr wrap="square" lIns="0" tIns="0" rIns="0" bIns="0" rtlCol="0" anchor="t"/>
          <a:lstStyle/>
          <a:p>
            <a:pPr marL="342900" indent="-342900" algn="l">
              <a:lnSpc>
                <a:spcPts val="1326"/>
              </a:lnSpc>
              <a:spcAft>
                <a:spcPts val="300"/>
              </a:spcAft>
              <a:buSzPct val="100000"/>
              <a:buChar char="•"/>
            </a:pPr>
            <a:r>
              <a:rPr lang="en-US" sz="1020" dirty="0">
                <a:solidFill>
                  <a:srgbClr val="111111"/>
                </a:solidFill>
                <a:latin typeface="Helvetica" pitchFamily="34" charset="0"/>
                <a:ea typeface="Helvetica" pitchFamily="34" charset="-122"/>
                <a:cs typeface="Helvetica" pitchFamily="34" charset="-120"/>
              </a:rPr>
              <a:t>Si el </a:t>
            </a:r>
            <a:r>
              <a:rPr lang="en-US" sz="1020" b="1" dirty="0">
                <a:solidFill>
                  <a:srgbClr val="111111"/>
                </a:solidFill>
                <a:latin typeface="Helvetica" pitchFamily="34" charset="0"/>
                <a:ea typeface="Helvetica" pitchFamily="34" charset="-122"/>
                <a:cs typeface="Helvetica" pitchFamily="34" charset="-120"/>
              </a:rPr>
              <a:t>Pedido</a:t>
            </a:r>
            <a:r>
              <a:rPr lang="en-US" sz="1020" dirty="0">
                <a:solidFill>
                  <a:srgbClr val="111111"/>
                </a:solidFill>
                <a:latin typeface="Helvetica" pitchFamily="34" charset="0"/>
                <a:ea typeface="Helvetica" pitchFamily="34" charset="-122"/>
                <a:cs typeface="Helvetica" pitchFamily="34" charset="-120"/>
              </a:rPr>
              <a:t> es un controlador, ahí se va a concentrar la lógica interesante del sistema y va a tener que interactuar con muchos otros elementos para lograr sus objetivos. Va a ser la clase más difícil de construir, la que tenga más errores y la que más cambie con el tiempo.</a:t>
            </a:r>
            <a:endParaRPr lang="en-US" sz="1020" dirty="0"/>
          </a:p>
          <a:p>
            <a:pPr marL="342900" indent="-342900" algn="l">
              <a:lnSpc>
                <a:spcPts val="1326"/>
              </a:lnSpc>
              <a:spcAft>
                <a:spcPts val="300"/>
              </a:spcAft>
              <a:buSzPct val="100000"/>
              <a:buChar char="•"/>
            </a:pPr>
            <a:r>
              <a:rPr lang="en-US" sz="1020" dirty="0">
                <a:solidFill>
                  <a:srgbClr val="111111"/>
                </a:solidFill>
                <a:latin typeface="Helvetica" pitchFamily="34" charset="0"/>
                <a:ea typeface="Helvetica" pitchFamily="34" charset="-122"/>
                <a:cs typeface="Helvetica" pitchFamily="34" charset="-120"/>
              </a:rPr>
              <a:t>Si el </a:t>
            </a:r>
            <a:r>
              <a:rPr lang="en-US" sz="1020" b="1" dirty="0">
                <a:solidFill>
                  <a:srgbClr val="111111"/>
                </a:solidFill>
                <a:latin typeface="Helvetica" pitchFamily="34" charset="0"/>
                <a:ea typeface="Helvetica" pitchFamily="34" charset="-122"/>
                <a:cs typeface="Helvetica" pitchFamily="34" charset="-120"/>
              </a:rPr>
              <a:t>Despachador</a:t>
            </a:r>
            <a:r>
              <a:rPr lang="en-US" sz="1020" dirty="0">
                <a:solidFill>
                  <a:srgbClr val="111111"/>
                </a:solidFill>
                <a:latin typeface="Helvetica" pitchFamily="34" charset="0"/>
                <a:ea typeface="Helvetica" pitchFamily="34" charset="-122"/>
                <a:cs typeface="Helvetica" pitchFamily="34" charset="-120"/>
              </a:rPr>
              <a:t> es un coordinador, probablemente no va a tener lógica complicada: va a delegar en otros el trabajo pesado (por ejemplo, calcular tiempos).</a:t>
            </a:r>
            <a:endParaRPr lang="en-US" sz="1020" dirty="0"/>
          </a:p>
          <a:p>
            <a:pPr marL="342900" indent="-342900" algn="l">
              <a:lnSpc>
                <a:spcPts val="1326"/>
              </a:lnSpc>
              <a:spcAft>
                <a:spcPts val="300"/>
              </a:spcAft>
              <a:buSzPct val="100000"/>
              <a:buChar char="•"/>
            </a:pPr>
            <a:r>
              <a:rPr lang="en-US" sz="1020" dirty="0">
                <a:solidFill>
                  <a:srgbClr val="111111"/>
                </a:solidFill>
                <a:latin typeface="Helvetica" pitchFamily="34" charset="0"/>
                <a:ea typeface="Helvetica" pitchFamily="34" charset="-122"/>
                <a:cs typeface="Helvetica" pitchFamily="34" charset="-120"/>
              </a:rPr>
              <a:t>Si el </a:t>
            </a:r>
            <a:r>
              <a:rPr lang="en-US" sz="1020" b="1" dirty="0">
                <a:solidFill>
                  <a:srgbClr val="111111"/>
                </a:solidFill>
                <a:latin typeface="Helvetica" pitchFamily="34" charset="0"/>
                <a:ea typeface="Helvetica" pitchFamily="34" charset="-122"/>
                <a:cs typeface="Helvetica" pitchFamily="34" charset="-120"/>
              </a:rPr>
              <a:t>Manejador de Carritos</a:t>
            </a:r>
            <a:r>
              <a:rPr lang="en-US" sz="1020" dirty="0">
                <a:solidFill>
                  <a:srgbClr val="111111"/>
                </a:solidFill>
                <a:latin typeface="Helvetica" pitchFamily="34" charset="0"/>
                <a:ea typeface="Helvetica" pitchFamily="34" charset="-122"/>
                <a:cs typeface="Helvetica" pitchFamily="34" charset="-120"/>
              </a:rPr>
              <a:t> es un estructurador, su rol es mantener organizados los carritos activos y entregarlos cuando alguien los pida, no decidir qué va dentro de ellos.</a:t>
            </a:r>
            <a:endParaRPr lang="en-US" sz="1020" dirty="0"/>
          </a:p>
          <a:p>
            <a:pPr marL="342900" indent="-342900" algn="l">
              <a:lnSpc>
                <a:spcPts val="1326"/>
              </a:lnSpc>
              <a:spcAft>
                <a:spcPts val="300"/>
              </a:spcAft>
              <a:buSzPct val="100000"/>
              <a:buChar char="•"/>
            </a:pPr>
            <a:r>
              <a:rPr lang="en-US" sz="1020" dirty="0">
                <a:solidFill>
                  <a:srgbClr val="111111"/>
                </a:solidFill>
                <a:latin typeface="Helvetica" pitchFamily="34" charset="0"/>
                <a:ea typeface="Helvetica" pitchFamily="34" charset="-122"/>
                <a:cs typeface="Helvetica" pitchFamily="34" charset="-120"/>
              </a:rPr>
              <a:t>Si el </a:t>
            </a:r>
            <a:r>
              <a:rPr lang="en-US" sz="1020" b="1" dirty="0">
                <a:solidFill>
                  <a:srgbClr val="111111"/>
                </a:solidFill>
                <a:latin typeface="Helvetica" pitchFamily="34" charset="0"/>
                <a:ea typeface="Helvetica" pitchFamily="34" charset="-122"/>
                <a:cs typeface="Helvetica" pitchFamily="34" charset="-120"/>
              </a:rPr>
              <a:t>Catálogo de Restaurantes</a:t>
            </a:r>
            <a:r>
              <a:rPr lang="en-US" sz="1020" dirty="0">
                <a:solidFill>
                  <a:srgbClr val="111111"/>
                </a:solidFill>
                <a:latin typeface="Helvetica" pitchFamily="34" charset="0"/>
                <a:ea typeface="Helvetica" pitchFamily="34" charset="-122"/>
                <a:cs typeface="Helvetica" pitchFamily="34" charset="-120"/>
              </a:rPr>
              <a:t> es un estructurador, tampoco tiene lógica compleja: sólo mantiene los restaurantes organizados para poder encontrarlos.</a:t>
            </a:r>
            <a:endParaRPr lang="en-US" sz="1020" dirty="0"/>
          </a:p>
          <a:p>
            <a:pPr marL="342900" indent="-342900" algn="l">
              <a:lnSpc>
                <a:spcPts val="1326"/>
              </a:lnSpc>
              <a:spcAft>
                <a:spcPts val="300"/>
              </a:spcAft>
              <a:buSzPct val="100000"/>
              <a:buChar char="•"/>
            </a:pPr>
            <a:r>
              <a:rPr lang="en-US" sz="1020" dirty="0">
                <a:solidFill>
                  <a:srgbClr val="111111"/>
                </a:solidFill>
                <a:latin typeface="Helvetica" pitchFamily="34" charset="0"/>
                <a:ea typeface="Helvetica" pitchFamily="34" charset="-122"/>
                <a:cs typeface="Helvetica" pitchFamily="34" charset="-120"/>
              </a:rPr>
              <a:t>Si la </a:t>
            </a:r>
            <a:r>
              <a:rPr lang="en-US" sz="1020" b="1" dirty="0">
                <a:solidFill>
                  <a:srgbClr val="111111"/>
                </a:solidFill>
                <a:latin typeface="Helvetica" pitchFamily="34" charset="0"/>
                <a:ea typeface="Helvetica" pitchFamily="34" charset="-122"/>
                <a:cs typeface="Helvetica" pitchFamily="34" charset="-120"/>
              </a:rPr>
              <a:t>Pasarela de Pagos</a:t>
            </a:r>
            <a:r>
              <a:rPr lang="en-US" sz="1020" dirty="0">
                <a:solidFill>
                  <a:srgbClr val="111111"/>
                </a:solidFill>
                <a:latin typeface="Helvetica" pitchFamily="34" charset="0"/>
                <a:ea typeface="Helvetica" pitchFamily="34" charset="-122"/>
                <a:cs typeface="Helvetica" pitchFamily="34" charset="-120"/>
              </a:rPr>
              <a:t> es un </a:t>
            </a:r>
            <a:r>
              <a:rPr lang="en-US" sz="1020" i="1" dirty="0">
                <a:solidFill>
                  <a:srgbClr val="111111"/>
                </a:solidFill>
                <a:latin typeface="Helvetica" pitchFamily="34" charset="0"/>
                <a:ea typeface="Helvetica" pitchFamily="34" charset="-122"/>
                <a:cs typeface="Helvetica" pitchFamily="34" charset="-120"/>
              </a:rPr>
              <a:t>interfacer</a:t>
            </a:r>
            <a:r>
              <a:rPr lang="en-US" sz="1020" dirty="0">
                <a:solidFill>
                  <a:srgbClr val="111111"/>
                </a:solidFill>
                <a:latin typeface="Helvetica" pitchFamily="34" charset="0"/>
                <a:ea typeface="Helvetica" pitchFamily="34" charset="-122"/>
                <a:cs typeface="Helvetica" pitchFamily="34" charset="-120"/>
              </a:rPr>
              <a:t>, su rol principal es mediar con un sistema externo. El resto del sistema no debería saber si por debajo se cobró con tarjeta, con PSE o con Nequi.</a:t>
            </a:r>
            <a:endParaRPr lang="en-US" sz="1020" dirty="0"/>
          </a:p>
          <a:p>
            <a:pPr marL="342900" indent="-342900" algn="l">
              <a:lnSpc>
                <a:spcPts val="1326"/>
              </a:lnSpc>
              <a:spcAft>
                <a:spcPts val="300"/>
              </a:spcAft>
              <a:buSzPct val="100000"/>
              <a:buChar char="•"/>
            </a:pPr>
            <a:r>
              <a:rPr lang="en-US" sz="1020" dirty="0">
                <a:solidFill>
                  <a:srgbClr val="111111"/>
                </a:solidFill>
                <a:latin typeface="Helvetica" pitchFamily="34" charset="0"/>
                <a:ea typeface="Helvetica" pitchFamily="34" charset="-122"/>
                <a:cs typeface="Helvetica" pitchFamily="34" charset="-120"/>
              </a:rPr>
              <a:t>Si el </a:t>
            </a:r>
            <a:r>
              <a:rPr lang="en-US" sz="1020" b="1" dirty="0">
                <a:solidFill>
                  <a:srgbClr val="111111"/>
                </a:solidFill>
                <a:latin typeface="Helvetica" pitchFamily="34" charset="0"/>
                <a:ea typeface="Helvetica" pitchFamily="34" charset="-122"/>
                <a:cs typeface="Helvetica" pitchFamily="34" charset="-120"/>
              </a:rPr>
              <a:t>Conector DB</a:t>
            </a:r>
            <a:r>
              <a:rPr lang="en-US" sz="1020" dirty="0">
                <a:solidFill>
                  <a:srgbClr val="111111"/>
                </a:solidFill>
                <a:latin typeface="Helvetica" pitchFamily="34" charset="0"/>
                <a:ea typeface="Helvetica" pitchFamily="34" charset="-122"/>
                <a:cs typeface="Helvetica" pitchFamily="34" charset="-120"/>
              </a:rPr>
              <a:t> es un proveedor de servicios, alguien más va a tener que pedirle las conexiones: no las va a repartir por su cuenta.</a:t>
            </a:r>
            <a:endParaRPr lang="en-US" sz="1020" dirty="0"/>
          </a:p>
        </p:txBody>
      </p:sp>
      <p:sp>
        <p:nvSpPr>
          <p:cNvPr id="5" name="Text 3"/>
          <p:cNvSpPr/>
          <p:nvPr/>
        </p:nvSpPr>
        <p:spPr>
          <a:xfrm>
            <a:off x="421068" y="3213348"/>
            <a:ext cx="8445957" cy="164902"/>
          </a:xfrm>
          <a:prstGeom prst="rect">
            <a:avLst/>
          </a:prstGeom>
          <a:noFill/>
          <a:ln/>
        </p:spPr>
        <p:txBody>
          <a:bodyPr wrap="square" lIns="0" tIns="0" rIns="0" bIns="0" rtlCol="0" anchor="t"/>
          <a:lstStyle/>
          <a:p>
            <a:pPr marL="0" indent="0" algn="l">
              <a:lnSpc>
                <a:spcPts val="1300"/>
              </a:lnSpc>
              <a:spcBef>
                <a:spcPts val="200"/>
              </a:spcBef>
              <a:spcAft>
                <a:spcPts val="700"/>
              </a:spcAft>
              <a:buNone/>
            </a:pPr>
            <a:r>
              <a:rPr lang="en-US" sz="1000" dirty="0">
                <a:solidFill>
                  <a:srgbClr val="0B84D9"/>
                </a:solidFill>
                <a:latin typeface="Helvetica" pitchFamily="34" charset="0"/>
                <a:ea typeface="Helvetica" pitchFamily="34" charset="-122"/>
                <a:cs typeface="Helvetica" pitchFamily="34" charset="-120"/>
              </a:rPr>
              <a:t>Todavía no hemos escrito una línea de código y ya tomamos seis decisiones que van a ser difíciles de revertir.</a:t>
            </a:r>
            <a:endParaRPr lang="en-US" sz="1000" dirty="0"/>
          </a:p>
        </p:txBody>
      </p:sp>
      <p:sp>
        <p:nvSpPr>
          <p:cNvPr id="6" name="Text 4"/>
          <p:cNvSpPr/>
          <p:nvPr/>
        </p:nvSpPr>
        <p:spPr>
          <a:xfrm>
            <a:off x="8745885" y="4842570"/>
            <a:ext cx="121140" cy="148530"/>
          </a:xfrm>
          <a:prstGeom prst="rect">
            <a:avLst/>
          </a:prstGeom>
          <a:noFill/>
          <a:ln/>
        </p:spPr>
        <p:txBody>
          <a:bodyPr wrap="square" lIns="0" tIns="0" rIns="0" bIns="0" rtlCol="0" anchor="t"/>
          <a:lstStyle/>
          <a:p>
            <a:pPr marL="0" indent="0" algn="l">
              <a:lnSpc>
                <a:spcPts val="1170"/>
              </a:lnSpc>
              <a:buNone/>
            </a:pPr>
            <a:r>
              <a:rPr lang="en-US" sz="900" dirty="0">
                <a:solidFill>
                  <a:srgbClr val="9A9A9A"/>
                </a:solidFill>
                <a:latin typeface="Helvetica" pitchFamily="34" charset="0"/>
                <a:ea typeface="Helvetica" pitchFamily="34" charset="-122"/>
                <a:cs typeface="Helvetica" pitchFamily="34" charset="-120"/>
              </a:rPr>
              <a:t>11</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04800"/>
            <a:ext cx="8394192" cy="312837"/>
          </a:xfrm>
          <a:prstGeom prst="rect">
            <a:avLst/>
          </a:prstGeom>
          <a:noFill/>
          <a:ln/>
        </p:spPr>
        <p:txBody>
          <a:bodyPr wrap="square" lIns="0" tIns="0" rIns="0" bIns="0" rtlCol="0" anchor="t"/>
          <a:lstStyle/>
          <a:p>
            <a:pPr marL="0" indent="0" algn="l">
              <a:lnSpc>
                <a:spcPts val="2464"/>
              </a:lnSpc>
              <a:spcBef>
                <a:spcPts val="2400"/>
              </a:spcBef>
              <a:buNone/>
            </a:pPr>
            <a:r>
              <a:rPr lang="en-US" sz="2200" b="1" dirty="0">
                <a:solidFill>
                  <a:srgbClr val="111111"/>
                </a:solidFill>
                <a:latin typeface="Helvetica" pitchFamily="34" charset="0"/>
                <a:ea typeface="Helvetica" pitchFamily="34" charset="-122"/>
                <a:cs typeface="Helvetica" pitchFamily="34" charset="-120"/>
              </a:rPr>
              <a:t>Agrupación / organización de los elementos</a:t>
            </a:r>
            <a:endParaRPr lang="en-US" sz="2200" dirty="0"/>
          </a:p>
        </p:txBody>
      </p:sp>
      <p:pic>
        <p:nvPicPr>
          <p:cNvPr id="3" name="Image 0" descr="/home/claude/work/build/img/agrupacion.png"/>
          <p:cNvPicPr>
            <a:picLocks noChangeAspect="1"/>
          </p:cNvPicPr>
          <p:nvPr/>
        </p:nvPicPr>
        <p:blipFill>
          <a:blip r:embed="rId3"/>
          <a:stretch>
            <a:fillRect/>
          </a:stretch>
        </p:blipFill>
        <p:spPr>
          <a:xfrm>
            <a:off x="761851" y="693837"/>
            <a:ext cx="7620000" cy="3594050"/>
          </a:xfrm>
          <a:prstGeom prst="rect">
            <a:avLst/>
          </a:prstGeom>
        </p:spPr>
      </p:pic>
      <p:sp>
        <p:nvSpPr>
          <p:cNvPr id="4" name="Text 1"/>
          <p:cNvSpPr/>
          <p:nvPr/>
        </p:nvSpPr>
        <p:spPr>
          <a:xfrm>
            <a:off x="431750" y="4364087"/>
            <a:ext cx="8445957" cy="329803"/>
          </a:xfrm>
          <a:prstGeom prst="rect">
            <a:avLst/>
          </a:prstGeom>
          <a:noFill/>
          <a:ln/>
        </p:spPr>
        <p:txBody>
          <a:bodyPr wrap="square" lIns="0" tIns="0" rIns="0" bIns="0" rtlCol="0" anchor="t"/>
          <a:lstStyle/>
          <a:p>
            <a:pPr marL="0" indent="0" algn="l">
              <a:lnSpc>
                <a:spcPts val="1300"/>
              </a:lnSpc>
              <a:spcBef>
                <a:spcPts val="600"/>
              </a:spcBef>
              <a:spcAft>
                <a:spcPts val="700"/>
              </a:spcAft>
              <a:buNone/>
            </a:pPr>
            <a:r>
              <a:rPr lang="en-US" sz="1000" dirty="0">
                <a:solidFill>
                  <a:srgbClr val="4A4A4A"/>
                </a:solidFill>
                <a:latin typeface="Helvetica" pitchFamily="34" charset="0"/>
                <a:ea typeface="Helvetica" pitchFamily="34" charset="-122"/>
                <a:cs typeface="Helvetica" pitchFamily="34" charset="-120"/>
              </a:rPr>
              <a:t>Este </a:t>
            </a:r>
            <a:r>
              <a:rPr lang="en-US" sz="1000" b="1" dirty="0">
                <a:solidFill>
                  <a:srgbClr val="4A4A4A"/>
                </a:solidFill>
                <a:latin typeface="Helvetica" pitchFamily="34" charset="0"/>
                <a:ea typeface="Helvetica" pitchFamily="34" charset="-122"/>
                <a:cs typeface="Helvetica" pitchFamily="34" charset="-120"/>
              </a:rPr>
              <a:t>no</a:t>
            </a:r>
            <a:r>
              <a:rPr lang="en-US" sz="1000" dirty="0">
                <a:solidFill>
                  <a:srgbClr val="4A4A4A"/>
                </a:solidFill>
                <a:latin typeface="Helvetica" pitchFamily="34" charset="0"/>
                <a:ea typeface="Helvetica" pitchFamily="34" charset="-122"/>
                <a:cs typeface="Helvetica" pitchFamily="34" charset="-120"/>
              </a:rPr>
              <a:t> es un diagrama de clases: es una visualización informal para entender qué candidatos tenemos y cómo podrían relacionarse. Los elementos en ámbar existen siempre (no se crean por cada petición) y los de coral son externos al Núcleo de Pedidos.</a:t>
            </a:r>
            <a:endParaRPr lang="en-US" sz="1000" dirty="0"/>
          </a:p>
        </p:txBody>
      </p:sp>
      <p:sp>
        <p:nvSpPr>
          <p:cNvPr id="5" name="Text 2"/>
          <p:cNvSpPr/>
          <p:nvPr/>
        </p:nvSpPr>
        <p:spPr>
          <a:xfrm>
            <a:off x="8737402" y="4842570"/>
            <a:ext cx="129793" cy="148530"/>
          </a:xfrm>
          <a:prstGeom prst="rect">
            <a:avLst/>
          </a:prstGeom>
          <a:noFill/>
          <a:ln/>
        </p:spPr>
        <p:txBody>
          <a:bodyPr wrap="square" lIns="0" tIns="0" rIns="0" bIns="0" rtlCol="0" anchor="t"/>
          <a:lstStyle/>
          <a:p>
            <a:pPr marL="0" indent="0" algn="l">
              <a:lnSpc>
                <a:spcPts val="1170"/>
              </a:lnSpc>
              <a:buNone/>
            </a:pPr>
            <a:r>
              <a:rPr lang="en-US" sz="900" dirty="0">
                <a:solidFill>
                  <a:srgbClr val="9A9A9A"/>
                </a:solidFill>
                <a:latin typeface="Helvetica" pitchFamily="34" charset="0"/>
                <a:ea typeface="Helvetica" pitchFamily="34" charset="-122"/>
                <a:cs typeface="Helvetica" pitchFamily="34" charset="-120"/>
              </a:rPr>
              <a:t>12</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7B246-19CE-94DF-94FA-CFA2280BBB4F}"/>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5E11720E-482E-D6AB-546D-8847818113DD}"/>
              </a:ext>
            </a:extLst>
          </p:cNvPr>
          <p:cNvPicPr>
            <a:picLocks noChangeAspect="1"/>
          </p:cNvPicPr>
          <p:nvPr/>
        </p:nvPicPr>
        <p:blipFill>
          <a:blip r:embed="rId2"/>
          <a:stretch>
            <a:fillRect/>
          </a:stretch>
        </p:blipFill>
        <p:spPr>
          <a:xfrm>
            <a:off x="-22323" y="0"/>
            <a:ext cx="9144000" cy="5143500"/>
          </a:xfrm>
          <a:prstGeom prst="rect">
            <a:avLst/>
          </a:prstGeom>
        </p:spPr>
      </p:pic>
      <p:sp>
        <p:nvSpPr>
          <p:cNvPr id="4" name="Rectangle 3">
            <a:extLst>
              <a:ext uri="{FF2B5EF4-FFF2-40B4-BE49-F238E27FC236}">
                <a16:creationId xmlns:a16="http://schemas.microsoft.com/office/drawing/2014/main" id="{1A4AE26A-87DC-3C18-6093-2EA66DC16E5A}"/>
              </a:ext>
            </a:extLst>
          </p:cNvPr>
          <p:cNvSpPr/>
          <p:nvPr/>
        </p:nvSpPr>
        <p:spPr>
          <a:xfrm>
            <a:off x="1000125" y="2336006"/>
            <a:ext cx="3286125" cy="1071563"/>
          </a:xfrm>
          <a:prstGeom prst="rect">
            <a:avLst/>
          </a:prstGeom>
          <a:solidFill>
            <a:srgbClr val="EFC4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a:extLst>
              <a:ext uri="{FF2B5EF4-FFF2-40B4-BE49-F238E27FC236}">
                <a16:creationId xmlns:a16="http://schemas.microsoft.com/office/drawing/2014/main" id="{6EB5885E-55C3-AA52-AADD-7F5CBDFA9FA1}"/>
              </a:ext>
            </a:extLst>
          </p:cNvPr>
          <p:cNvSpPr/>
          <p:nvPr/>
        </p:nvSpPr>
        <p:spPr>
          <a:xfrm>
            <a:off x="4857750" y="2336006"/>
            <a:ext cx="3286125" cy="1071563"/>
          </a:xfrm>
          <a:prstGeom prst="rect">
            <a:avLst/>
          </a:prstGeom>
          <a:solidFill>
            <a:srgbClr val="EFC4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 name="Rectangle 5">
            <a:extLst>
              <a:ext uri="{FF2B5EF4-FFF2-40B4-BE49-F238E27FC236}">
                <a16:creationId xmlns:a16="http://schemas.microsoft.com/office/drawing/2014/main" id="{0D29F50E-D359-0863-BA8F-1910066BB4CC}"/>
              </a:ext>
            </a:extLst>
          </p:cNvPr>
          <p:cNvSpPr/>
          <p:nvPr/>
        </p:nvSpPr>
        <p:spPr>
          <a:xfrm>
            <a:off x="1000125" y="3864769"/>
            <a:ext cx="3286125" cy="1071563"/>
          </a:xfrm>
          <a:prstGeom prst="rect">
            <a:avLst/>
          </a:prstGeom>
          <a:solidFill>
            <a:srgbClr val="EFC4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 name="Rectangle 6">
            <a:extLst>
              <a:ext uri="{FF2B5EF4-FFF2-40B4-BE49-F238E27FC236}">
                <a16:creationId xmlns:a16="http://schemas.microsoft.com/office/drawing/2014/main" id="{1724A774-72CF-9035-08F9-1E71089B10FA}"/>
              </a:ext>
            </a:extLst>
          </p:cNvPr>
          <p:cNvSpPr/>
          <p:nvPr/>
        </p:nvSpPr>
        <p:spPr>
          <a:xfrm>
            <a:off x="4857750" y="3864769"/>
            <a:ext cx="3286125" cy="1071563"/>
          </a:xfrm>
          <a:prstGeom prst="rect">
            <a:avLst/>
          </a:prstGeom>
          <a:solidFill>
            <a:srgbClr val="EFC4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TextBox 7">
            <a:extLst>
              <a:ext uri="{FF2B5EF4-FFF2-40B4-BE49-F238E27FC236}">
                <a16:creationId xmlns:a16="http://schemas.microsoft.com/office/drawing/2014/main" id="{D84268E7-C0B1-1EC0-C615-98A86F4A78F6}"/>
              </a:ext>
            </a:extLst>
          </p:cNvPr>
          <p:cNvSpPr txBox="1"/>
          <p:nvPr/>
        </p:nvSpPr>
        <p:spPr>
          <a:xfrm>
            <a:off x="3127248" y="400051"/>
            <a:ext cx="2889510" cy="450123"/>
          </a:xfrm>
          <a:prstGeom prst="rect">
            <a:avLst/>
          </a:prstGeom>
          <a:noFill/>
        </p:spPr>
        <p:txBody>
          <a:bodyPr wrap="none" lIns="0" tIns="0" rIns="0" bIns="0" anchor="t">
            <a:spAutoFit/>
          </a:bodyPr>
          <a:lstStyle/>
          <a:p>
            <a:pPr algn="ctr"/>
            <a:r>
              <a:rPr lang="es-CO" sz="2925" b="1" dirty="0">
                <a:solidFill>
                  <a:srgbClr val="000000"/>
                </a:solidFill>
                <a:latin typeface="Inter"/>
              </a:rPr>
              <a:t>Responsabilidades</a:t>
            </a:r>
            <a:endParaRPr sz="2925" b="1" dirty="0">
              <a:solidFill>
                <a:srgbClr val="000000"/>
              </a:solidFill>
              <a:latin typeface="Inter"/>
            </a:endParaRPr>
          </a:p>
        </p:txBody>
      </p:sp>
      <p:sp>
        <p:nvSpPr>
          <p:cNvPr id="9" name="TextBox 8">
            <a:extLst>
              <a:ext uri="{FF2B5EF4-FFF2-40B4-BE49-F238E27FC236}">
                <a16:creationId xmlns:a16="http://schemas.microsoft.com/office/drawing/2014/main" id="{DEC103BF-A614-7324-417A-8B95DDD2D5D4}"/>
              </a:ext>
            </a:extLst>
          </p:cNvPr>
          <p:cNvSpPr txBox="1"/>
          <p:nvPr/>
        </p:nvSpPr>
        <p:spPr>
          <a:xfrm>
            <a:off x="-22323" y="1200150"/>
            <a:ext cx="9188648" cy="261162"/>
          </a:xfrm>
          <a:prstGeom prst="rect">
            <a:avLst/>
          </a:prstGeom>
          <a:noFill/>
        </p:spPr>
        <p:txBody>
          <a:bodyPr wrap="square" lIns="0" tIns="0" rIns="0" bIns="0" anchor="t">
            <a:spAutoFit/>
          </a:bodyPr>
          <a:lstStyle/>
          <a:p>
            <a:pPr algn="ctr">
              <a:lnSpc>
                <a:spcPts val="2194"/>
              </a:lnSpc>
            </a:pPr>
            <a:r>
              <a:rPr sz="1463" b="1" dirty="0">
                <a:solidFill>
                  <a:srgbClr val="111827"/>
                </a:solidFill>
                <a:latin typeface="Inter"/>
              </a:rPr>
              <a:t>¿</a:t>
            </a:r>
            <a:r>
              <a:rPr lang="es-CO" sz="1463" b="1" dirty="0">
                <a:solidFill>
                  <a:srgbClr val="111827"/>
                </a:solidFill>
                <a:latin typeface="Inter"/>
              </a:rPr>
              <a:t>Qué hay que hacer</a:t>
            </a:r>
            <a:r>
              <a:rPr sz="1463" b="1" dirty="0">
                <a:solidFill>
                  <a:srgbClr val="111827"/>
                </a:solidFill>
                <a:latin typeface="Inter"/>
              </a:rPr>
              <a:t>?</a:t>
            </a:r>
          </a:p>
        </p:txBody>
      </p:sp>
      <p:sp>
        <p:nvSpPr>
          <p:cNvPr id="10" name="TextBox 9">
            <a:extLst>
              <a:ext uri="{FF2B5EF4-FFF2-40B4-BE49-F238E27FC236}">
                <a16:creationId xmlns:a16="http://schemas.microsoft.com/office/drawing/2014/main" id="{35BFABB2-CD43-8A7F-266D-2C596060FB73}"/>
              </a:ext>
            </a:extLst>
          </p:cNvPr>
          <p:cNvSpPr txBox="1"/>
          <p:nvPr/>
        </p:nvSpPr>
        <p:spPr>
          <a:xfrm>
            <a:off x="817960" y="2564010"/>
            <a:ext cx="3650456" cy="615553"/>
          </a:xfrm>
          <a:prstGeom prst="rect">
            <a:avLst/>
          </a:prstGeom>
          <a:noFill/>
        </p:spPr>
        <p:txBody>
          <a:bodyPr wrap="square" lIns="0" tIns="0" rIns="0" bIns="0" anchor="ctr">
            <a:spAutoFit/>
          </a:bodyPr>
          <a:lstStyle/>
          <a:p>
            <a:pPr algn="ctr"/>
            <a:r>
              <a:rPr lang="es-ES" sz="2000" dirty="0">
                <a:solidFill>
                  <a:srgbClr val="111827"/>
                </a:solidFill>
                <a:latin typeface="Inter"/>
              </a:rPr>
              <a:t>Identificar</a:t>
            </a:r>
            <a:r>
              <a:rPr lang="es-ES" sz="2000" b="1" dirty="0"/>
              <a:t> </a:t>
            </a:r>
            <a:r>
              <a:rPr lang="es-ES" sz="2000" dirty="0">
                <a:solidFill>
                  <a:srgbClr val="111827"/>
                </a:solidFill>
                <a:latin typeface="Inter"/>
              </a:rPr>
              <a:t>responsabilidades candidatas</a:t>
            </a:r>
          </a:p>
        </p:txBody>
      </p:sp>
      <p:sp>
        <p:nvSpPr>
          <p:cNvPr id="11" name="TextBox 10">
            <a:extLst>
              <a:ext uri="{FF2B5EF4-FFF2-40B4-BE49-F238E27FC236}">
                <a16:creationId xmlns:a16="http://schemas.microsoft.com/office/drawing/2014/main" id="{425FDAF3-BC82-570F-83A6-98D0405163DC}"/>
              </a:ext>
            </a:extLst>
          </p:cNvPr>
          <p:cNvSpPr txBox="1"/>
          <p:nvPr/>
        </p:nvSpPr>
        <p:spPr>
          <a:xfrm>
            <a:off x="4880074" y="2718724"/>
            <a:ext cx="3286125" cy="307777"/>
          </a:xfrm>
          <a:prstGeom prst="rect">
            <a:avLst/>
          </a:prstGeom>
          <a:noFill/>
        </p:spPr>
        <p:txBody>
          <a:bodyPr wrap="square" lIns="0" tIns="0" rIns="0" bIns="0" anchor="ctr">
            <a:spAutoFit/>
          </a:bodyPr>
          <a:lstStyle/>
          <a:p>
            <a:pPr algn="ctr"/>
            <a:r>
              <a:rPr lang="es-ES" sz="2000" dirty="0">
                <a:solidFill>
                  <a:srgbClr val="111827"/>
                </a:solidFill>
                <a:latin typeface="Inter"/>
              </a:rPr>
              <a:t>Asignárselas</a:t>
            </a:r>
            <a:r>
              <a:rPr lang="es-ES" sz="2000" b="1" dirty="0"/>
              <a:t> </a:t>
            </a:r>
            <a:r>
              <a:rPr lang="es-ES" sz="2000" dirty="0">
                <a:solidFill>
                  <a:srgbClr val="111827"/>
                </a:solidFill>
                <a:latin typeface="Inter"/>
              </a:rPr>
              <a:t>a los componentes</a:t>
            </a:r>
            <a:endParaRPr sz="2000" dirty="0">
              <a:solidFill>
                <a:srgbClr val="111827"/>
              </a:solidFill>
              <a:latin typeface="Inter"/>
            </a:endParaRPr>
          </a:p>
        </p:txBody>
      </p:sp>
      <p:sp>
        <p:nvSpPr>
          <p:cNvPr id="12" name="TextBox 11">
            <a:extLst>
              <a:ext uri="{FF2B5EF4-FFF2-40B4-BE49-F238E27FC236}">
                <a16:creationId xmlns:a16="http://schemas.microsoft.com/office/drawing/2014/main" id="{CF271B5D-D987-0ACB-33C5-512B23BCDCFE}"/>
              </a:ext>
            </a:extLst>
          </p:cNvPr>
          <p:cNvSpPr txBox="1"/>
          <p:nvPr/>
        </p:nvSpPr>
        <p:spPr>
          <a:xfrm>
            <a:off x="930627" y="4081761"/>
            <a:ext cx="3355623" cy="615553"/>
          </a:xfrm>
          <a:prstGeom prst="rect">
            <a:avLst/>
          </a:prstGeom>
          <a:noFill/>
        </p:spPr>
        <p:txBody>
          <a:bodyPr wrap="square" lIns="0" tIns="0" rIns="0" bIns="0" anchor="ctr">
            <a:spAutoFit/>
          </a:bodyPr>
          <a:lstStyle/>
          <a:p>
            <a:pPr algn="ctr"/>
            <a:r>
              <a:rPr lang="es-ES" sz="2000" dirty="0">
                <a:solidFill>
                  <a:srgbClr val="111827"/>
                </a:solidFill>
                <a:latin typeface="Inter"/>
              </a:rPr>
              <a:t>Escribir la descripción de cada una</a:t>
            </a:r>
            <a:endParaRPr sz="2000" dirty="0">
              <a:solidFill>
                <a:srgbClr val="111827"/>
              </a:solidFill>
              <a:latin typeface="Inter"/>
            </a:endParaRPr>
          </a:p>
        </p:txBody>
      </p:sp>
      <p:sp>
        <p:nvSpPr>
          <p:cNvPr id="13" name="TextBox 12">
            <a:extLst>
              <a:ext uri="{FF2B5EF4-FFF2-40B4-BE49-F238E27FC236}">
                <a16:creationId xmlns:a16="http://schemas.microsoft.com/office/drawing/2014/main" id="{84F151AB-A412-9EC9-4651-C9E221C9474C}"/>
              </a:ext>
            </a:extLst>
          </p:cNvPr>
          <p:cNvSpPr txBox="1"/>
          <p:nvPr/>
        </p:nvSpPr>
        <p:spPr>
          <a:xfrm>
            <a:off x="4766667" y="4092774"/>
            <a:ext cx="3468290" cy="615553"/>
          </a:xfrm>
          <a:prstGeom prst="rect">
            <a:avLst/>
          </a:prstGeom>
          <a:noFill/>
        </p:spPr>
        <p:txBody>
          <a:bodyPr wrap="square" lIns="0" tIns="0" rIns="0" bIns="0" anchor="ctr">
            <a:spAutoFit/>
          </a:bodyPr>
          <a:lstStyle/>
          <a:p>
            <a:pPr algn="ctr"/>
            <a:r>
              <a:rPr lang="es-ES" sz="2000" dirty="0">
                <a:solidFill>
                  <a:srgbClr val="111827"/>
                </a:solidFill>
                <a:latin typeface="Inter"/>
              </a:rPr>
              <a:t>Ajustarlas cuando aparezcan huecos</a:t>
            </a:r>
            <a:endParaRPr sz="2000" dirty="0">
              <a:solidFill>
                <a:srgbClr val="111827"/>
              </a:solidFill>
              <a:latin typeface="Inter"/>
            </a:endParaRPr>
          </a:p>
        </p:txBody>
      </p:sp>
    </p:spTree>
    <p:extLst>
      <p:ext uri="{BB962C8B-B14F-4D97-AF65-F5344CB8AC3E}">
        <p14:creationId xmlns:p14="http://schemas.microsoft.com/office/powerpoint/2010/main" val="13151002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33264"/>
            <a:ext cx="9143999" cy="5143500"/>
          </a:xfrm>
          <a:prstGeom prst="rect">
            <a:avLst/>
          </a:prstGeom>
        </p:spPr>
      </p:pic>
      <p:sp>
        <p:nvSpPr>
          <p:cNvPr id="4" name="Rounded Rectangle 3"/>
          <p:cNvSpPr/>
          <p:nvPr/>
        </p:nvSpPr>
        <p:spPr>
          <a:xfrm>
            <a:off x="457200" y="1641601"/>
            <a:ext cx="4014788" cy="2674362"/>
          </a:xfrm>
          <a:prstGeom prst="roundRect">
            <a:avLst>
              <a:gd name="adj" fmla="val 6569"/>
            </a:avLst>
          </a:prstGeom>
          <a:solidFill>
            <a:srgbClr val="FEFDFD"/>
          </a:solidFill>
          <a:ln w="9525">
            <a:solidFill>
              <a:srgbClr val="E6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ounded Rectangle 4"/>
          <p:cNvSpPr/>
          <p:nvPr/>
        </p:nvSpPr>
        <p:spPr>
          <a:xfrm>
            <a:off x="4672012" y="1641601"/>
            <a:ext cx="4014788" cy="2674362"/>
          </a:xfrm>
          <a:prstGeom prst="roundRect">
            <a:avLst>
              <a:gd name="adj" fmla="val 6569"/>
            </a:avLst>
          </a:prstGeom>
          <a:solidFill>
            <a:srgbClr val="FEFDFD"/>
          </a:solidFill>
          <a:ln w="9525">
            <a:solidFill>
              <a:srgbClr val="E6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pic>
        <p:nvPicPr>
          <p:cNvPr id="6" name="Picture 5" descr="image.png"/>
          <p:cNvPicPr>
            <a:picLocks noChangeAspect="1"/>
          </p:cNvPicPr>
          <p:nvPr/>
        </p:nvPicPr>
        <p:blipFill>
          <a:blip r:embed="rId3"/>
          <a:stretch>
            <a:fillRect/>
          </a:stretch>
        </p:blipFill>
        <p:spPr>
          <a:xfrm>
            <a:off x="664369" y="1848770"/>
            <a:ext cx="257175" cy="257175"/>
          </a:xfrm>
          <a:prstGeom prst="rect">
            <a:avLst/>
          </a:prstGeom>
        </p:spPr>
      </p:pic>
      <p:pic>
        <p:nvPicPr>
          <p:cNvPr id="7" name="Picture 6" descr="image.png"/>
          <p:cNvPicPr>
            <a:picLocks noChangeAspect="1"/>
          </p:cNvPicPr>
          <p:nvPr/>
        </p:nvPicPr>
        <p:blipFill>
          <a:blip r:embed="rId4"/>
          <a:stretch>
            <a:fillRect/>
          </a:stretch>
        </p:blipFill>
        <p:spPr>
          <a:xfrm>
            <a:off x="4879181" y="1848770"/>
            <a:ext cx="257175" cy="257175"/>
          </a:xfrm>
          <a:prstGeom prst="rect">
            <a:avLst/>
          </a:prstGeom>
        </p:spPr>
      </p:pic>
      <p:pic>
        <p:nvPicPr>
          <p:cNvPr id="8" name="Picture 7" descr="image.png"/>
          <p:cNvPicPr>
            <a:picLocks noChangeAspect="1"/>
          </p:cNvPicPr>
          <p:nvPr/>
        </p:nvPicPr>
        <p:blipFill>
          <a:blip r:embed="rId5"/>
          <a:stretch>
            <a:fillRect/>
          </a:stretch>
        </p:blipFill>
        <p:spPr>
          <a:xfrm>
            <a:off x="710803" y="1913063"/>
            <a:ext cx="164306" cy="128588"/>
          </a:xfrm>
          <a:prstGeom prst="rect">
            <a:avLst/>
          </a:prstGeom>
        </p:spPr>
      </p:pic>
      <p:pic>
        <p:nvPicPr>
          <p:cNvPr id="9" name="Picture 8" descr="image.png"/>
          <p:cNvPicPr>
            <a:picLocks noChangeAspect="1"/>
          </p:cNvPicPr>
          <p:nvPr/>
        </p:nvPicPr>
        <p:blipFill>
          <a:blip r:embed="rId6"/>
          <a:stretch>
            <a:fillRect/>
          </a:stretch>
        </p:blipFill>
        <p:spPr>
          <a:xfrm>
            <a:off x="4943475" y="1913063"/>
            <a:ext cx="128588" cy="128588"/>
          </a:xfrm>
          <a:prstGeom prst="rect">
            <a:avLst/>
          </a:prstGeom>
        </p:spPr>
      </p:pic>
      <p:sp>
        <p:nvSpPr>
          <p:cNvPr id="12" name="TextBox 11"/>
          <p:cNvSpPr txBox="1"/>
          <p:nvPr/>
        </p:nvSpPr>
        <p:spPr>
          <a:xfrm>
            <a:off x="457200" y="427041"/>
            <a:ext cx="3397084" cy="322461"/>
          </a:xfrm>
          <a:prstGeom prst="rect">
            <a:avLst/>
          </a:prstGeom>
          <a:noFill/>
        </p:spPr>
        <p:txBody>
          <a:bodyPr wrap="none" lIns="0" tIns="0" rIns="0" bIns="0" anchor="t">
            <a:spAutoFit/>
          </a:bodyPr>
          <a:lstStyle/>
          <a:p>
            <a:pPr>
              <a:lnSpc>
                <a:spcPts val="2565"/>
              </a:lnSpc>
            </a:pPr>
            <a:r>
              <a:rPr sz="2138" b="1" dirty="0" err="1">
                <a:solidFill>
                  <a:srgbClr val="0F172A"/>
                </a:solidFill>
                <a:latin typeface="Plus Jakarta Sans"/>
              </a:rPr>
              <a:t>Responsabilidades</a:t>
            </a:r>
            <a:r>
              <a:rPr sz="2138" b="1" dirty="0">
                <a:solidFill>
                  <a:srgbClr val="0F172A"/>
                </a:solidFill>
                <a:latin typeface="Plus Jakarta Sans"/>
              </a:rPr>
              <a:t> </a:t>
            </a:r>
            <a:r>
              <a:rPr sz="2138" b="1" dirty="0" err="1">
                <a:solidFill>
                  <a:srgbClr val="0F172A"/>
                </a:solidFill>
                <a:latin typeface="Plus Jakarta Sans"/>
              </a:rPr>
              <a:t>candidatas</a:t>
            </a:r>
            <a:endParaRPr sz="2138" b="1" dirty="0">
              <a:solidFill>
                <a:srgbClr val="0F172A"/>
              </a:solidFill>
              <a:latin typeface="Plus Jakarta Sans"/>
            </a:endParaRPr>
          </a:p>
        </p:txBody>
      </p:sp>
      <p:sp>
        <p:nvSpPr>
          <p:cNvPr id="13" name="TextBox 12"/>
          <p:cNvSpPr txBox="1"/>
          <p:nvPr/>
        </p:nvSpPr>
        <p:spPr>
          <a:xfrm>
            <a:off x="457200" y="1011510"/>
            <a:ext cx="8334103" cy="188770"/>
          </a:xfrm>
          <a:prstGeom prst="rect">
            <a:avLst/>
          </a:prstGeom>
          <a:noFill/>
        </p:spPr>
        <p:txBody>
          <a:bodyPr wrap="square" lIns="0" tIns="0" rIns="0" bIns="0" anchor="t">
            <a:spAutoFit/>
          </a:bodyPr>
          <a:lstStyle/>
          <a:p>
            <a:pPr>
              <a:lnSpc>
                <a:spcPts val="1417"/>
              </a:lnSpc>
            </a:pPr>
            <a:r>
              <a:rPr sz="1600" i="1" dirty="0">
                <a:solidFill>
                  <a:srgbClr val="64748B"/>
                </a:solidFill>
                <a:latin typeface="Plus Jakarta Sans"/>
              </a:rPr>
              <a:t>¿</a:t>
            </a:r>
            <a:r>
              <a:rPr sz="1600" i="1" dirty="0" err="1">
                <a:solidFill>
                  <a:srgbClr val="64748B"/>
                </a:solidFill>
                <a:latin typeface="Plus Jakarta Sans"/>
              </a:rPr>
              <a:t>Qué</a:t>
            </a:r>
            <a:r>
              <a:rPr sz="1600" i="1" dirty="0">
                <a:solidFill>
                  <a:srgbClr val="64748B"/>
                </a:solidFill>
                <a:latin typeface="Plus Jakarta Sans"/>
              </a:rPr>
              <a:t> </a:t>
            </a:r>
            <a:r>
              <a:rPr sz="1600" i="1" dirty="0" err="1">
                <a:solidFill>
                  <a:srgbClr val="64748B"/>
                </a:solidFill>
                <a:latin typeface="Plus Jakarta Sans"/>
              </a:rPr>
              <a:t>estábamos</a:t>
            </a:r>
            <a:r>
              <a:rPr sz="1600" i="1" dirty="0">
                <a:solidFill>
                  <a:srgbClr val="64748B"/>
                </a:solidFill>
                <a:latin typeface="Plus Jakarta Sans"/>
              </a:rPr>
              <a:t> </a:t>
            </a:r>
            <a:r>
              <a:rPr sz="1600" i="1" dirty="0" err="1">
                <a:solidFill>
                  <a:srgbClr val="64748B"/>
                </a:solidFill>
                <a:latin typeface="Plus Jakarta Sans"/>
              </a:rPr>
              <a:t>pensando</a:t>
            </a:r>
            <a:r>
              <a:rPr sz="1600" i="1" dirty="0">
                <a:solidFill>
                  <a:srgbClr val="64748B"/>
                </a:solidFill>
                <a:latin typeface="Plus Jakarta Sans"/>
              </a:rPr>
              <a:t> </a:t>
            </a:r>
            <a:r>
              <a:rPr sz="1600" i="1" dirty="0" err="1">
                <a:solidFill>
                  <a:srgbClr val="64748B"/>
                </a:solidFill>
                <a:latin typeface="Plus Jakarta Sans"/>
              </a:rPr>
              <a:t>cuando</a:t>
            </a:r>
            <a:r>
              <a:rPr sz="1600" i="1" dirty="0">
                <a:solidFill>
                  <a:srgbClr val="64748B"/>
                </a:solidFill>
                <a:latin typeface="Plus Jakarta Sans"/>
              </a:rPr>
              <a:t> se </a:t>
            </a:r>
            <a:r>
              <a:rPr sz="1600" i="1" dirty="0" err="1">
                <a:solidFill>
                  <a:srgbClr val="64748B"/>
                </a:solidFill>
                <a:latin typeface="Plus Jakarta Sans"/>
              </a:rPr>
              <a:t>nos</a:t>
            </a:r>
            <a:r>
              <a:rPr sz="1600" i="1" dirty="0">
                <a:solidFill>
                  <a:srgbClr val="64748B"/>
                </a:solidFill>
                <a:latin typeface="Plus Jakarta Sans"/>
              </a:rPr>
              <a:t> </a:t>
            </a:r>
            <a:r>
              <a:rPr sz="1600" i="1" dirty="0" err="1">
                <a:solidFill>
                  <a:srgbClr val="64748B"/>
                </a:solidFill>
                <a:latin typeface="Plus Jakarta Sans"/>
              </a:rPr>
              <a:t>ocurrió</a:t>
            </a:r>
            <a:r>
              <a:rPr sz="1600" i="1" dirty="0">
                <a:solidFill>
                  <a:srgbClr val="64748B"/>
                </a:solidFill>
                <a:latin typeface="Plus Jakarta Sans"/>
              </a:rPr>
              <a:t> </a:t>
            </a:r>
            <a:r>
              <a:rPr sz="1600" i="1" dirty="0" err="1">
                <a:solidFill>
                  <a:srgbClr val="64748B"/>
                </a:solidFill>
                <a:latin typeface="Plus Jakarta Sans"/>
              </a:rPr>
              <a:t>que</a:t>
            </a:r>
            <a:r>
              <a:rPr sz="1600" i="1" dirty="0">
                <a:solidFill>
                  <a:srgbClr val="64748B"/>
                </a:solidFill>
                <a:latin typeface="Plus Jakarta Sans"/>
              </a:rPr>
              <a:t> </a:t>
            </a:r>
            <a:r>
              <a:rPr sz="1600" i="1" dirty="0" err="1">
                <a:solidFill>
                  <a:srgbClr val="64748B"/>
                </a:solidFill>
                <a:latin typeface="Plus Jakarta Sans"/>
              </a:rPr>
              <a:t>alguien</a:t>
            </a:r>
            <a:r>
              <a:rPr sz="1600" i="1" dirty="0">
                <a:solidFill>
                  <a:srgbClr val="64748B"/>
                </a:solidFill>
                <a:latin typeface="Plus Jakarta Sans"/>
              </a:rPr>
              <a:t> </a:t>
            </a:r>
            <a:r>
              <a:rPr sz="1600" i="1" dirty="0" err="1">
                <a:solidFill>
                  <a:srgbClr val="64748B"/>
                </a:solidFill>
                <a:latin typeface="Plus Jakarta Sans"/>
              </a:rPr>
              <a:t>debería</a:t>
            </a:r>
            <a:r>
              <a:rPr sz="1600" i="1" dirty="0">
                <a:solidFill>
                  <a:srgbClr val="64748B"/>
                </a:solidFill>
                <a:latin typeface="Plus Jakarta Sans"/>
              </a:rPr>
              <a:t> </a:t>
            </a:r>
            <a:r>
              <a:rPr sz="1600" i="1" dirty="0" err="1">
                <a:solidFill>
                  <a:srgbClr val="64748B"/>
                </a:solidFill>
                <a:latin typeface="Plus Jakarta Sans"/>
              </a:rPr>
              <a:t>tener</a:t>
            </a:r>
            <a:r>
              <a:rPr sz="1600" i="1" dirty="0">
                <a:solidFill>
                  <a:srgbClr val="64748B"/>
                </a:solidFill>
                <a:latin typeface="Plus Jakarta Sans"/>
              </a:rPr>
              <a:t> </a:t>
            </a:r>
            <a:r>
              <a:rPr sz="1600" i="1" dirty="0" err="1">
                <a:solidFill>
                  <a:srgbClr val="64748B"/>
                </a:solidFill>
                <a:latin typeface="Plus Jakarta Sans"/>
              </a:rPr>
              <a:t>esta</a:t>
            </a:r>
            <a:r>
              <a:rPr sz="1600" i="1" dirty="0">
                <a:solidFill>
                  <a:srgbClr val="64748B"/>
                </a:solidFill>
                <a:latin typeface="Plus Jakarta Sans"/>
              </a:rPr>
              <a:t> </a:t>
            </a:r>
            <a:r>
              <a:rPr sz="1600" i="1" dirty="0" err="1">
                <a:solidFill>
                  <a:srgbClr val="64748B"/>
                </a:solidFill>
                <a:latin typeface="Plus Jakarta Sans"/>
              </a:rPr>
              <a:t>responsabilidad</a:t>
            </a:r>
            <a:r>
              <a:rPr sz="1600" i="1" dirty="0">
                <a:solidFill>
                  <a:srgbClr val="64748B"/>
                </a:solidFill>
                <a:latin typeface="Plus Jakarta Sans"/>
              </a:rPr>
              <a:t>?</a:t>
            </a:r>
          </a:p>
        </p:txBody>
      </p:sp>
      <p:sp>
        <p:nvSpPr>
          <p:cNvPr id="14" name="TextBox 13"/>
          <p:cNvSpPr txBox="1"/>
          <p:nvPr/>
        </p:nvSpPr>
        <p:spPr>
          <a:xfrm>
            <a:off x="1007269" y="1888060"/>
            <a:ext cx="2119170" cy="173124"/>
          </a:xfrm>
          <a:prstGeom prst="rect">
            <a:avLst/>
          </a:prstGeom>
          <a:noFill/>
        </p:spPr>
        <p:txBody>
          <a:bodyPr wrap="none" lIns="0" tIns="0" rIns="0" bIns="0" anchor="t">
            <a:spAutoFit/>
          </a:bodyPr>
          <a:lstStyle/>
          <a:p>
            <a:pPr algn="l"/>
            <a:r>
              <a:rPr sz="1125" b="1">
                <a:solidFill>
                  <a:srgbClr val="0284C7"/>
                </a:solidFill>
                <a:latin typeface="Plus Jakarta Sans"/>
              </a:rPr>
              <a:t>1. ¿Qué tiene que hacer el sistema?</a:t>
            </a:r>
          </a:p>
        </p:txBody>
      </p:sp>
      <p:sp>
        <p:nvSpPr>
          <p:cNvPr id="15" name="TextBox 14"/>
          <p:cNvSpPr txBox="1"/>
          <p:nvPr/>
        </p:nvSpPr>
        <p:spPr>
          <a:xfrm>
            <a:off x="664369" y="2220245"/>
            <a:ext cx="3550443" cy="1873975"/>
          </a:xfrm>
          <a:prstGeom prst="rect">
            <a:avLst/>
          </a:prstGeom>
          <a:noFill/>
        </p:spPr>
        <p:txBody>
          <a:bodyPr wrap="square" lIns="0" tIns="0" rIns="0" bIns="0" anchor="t">
            <a:spAutoFit/>
          </a:bodyPr>
          <a:lstStyle/>
          <a:p>
            <a:pPr marL="171450" indent="-171450">
              <a:buClr>
                <a:srgbClr val="7030A0"/>
              </a:buClr>
              <a:buFont typeface="Arial" panose="020B0604020202020204" pitchFamily="34" charset="0"/>
              <a:buChar char="•"/>
            </a:pPr>
            <a:r>
              <a:rPr sz="1013" dirty="0" err="1">
                <a:solidFill>
                  <a:srgbClr val="334155"/>
                </a:solidFill>
                <a:latin typeface="Plus Jakarta Sans"/>
              </a:rPr>
              <a:t>Mostrar</a:t>
            </a:r>
            <a:r>
              <a:rPr sz="1013" dirty="0">
                <a:solidFill>
                  <a:srgbClr val="334155"/>
                </a:solidFill>
                <a:latin typeface="Plus Jakarta Sans"/>
              </a:rPr>
              <a:t> el </a:t>
            </a:r>
            <a:r>
              <a:rPr sz="1013" dirty="0" err="1">
                <a:solidFill>
                  <a:srgbClr val="334155"/>
                </a:solidFill>
                <a:latin typeface="Plus Jakarta Sans"/>
              </a:rPr>
              <a:t>menú</a:t>
            </a:r>
            <a:r>
              <a:rPr sz="1013" dirty="0">
                <a:solidFill>
                  <a:srgbClr val="334155"/>
                </a:solidFill>
                <a:latin typeface="Plus Jakarta Sans"/>
              </a:rPr>
              <a:t> de un </a:t>
            </a:r>
            <a:r>
              <a:rPr sz="1013" dirty="0" err="1">
                <a:solidFill>
                  <a:srgbClr val="334155"/>
                </a:solidFill>
                <a:latin typeface="Plus Jakarta Sans"/>
              </a:rPr>
              <a:t>restaurante</a:t>
            </a:r>
            <a:r>
              <a:rPr sz="1013" dirty="0">
                <a:solidFill>
                  <a:srgbClr val="334155"/>
                </a:solidFill>
                <a:latin typeface="Plus Jakarta Sans"/>
              </a:rPr>
              <a:t> y </a:t>
            </a:r>
            <a:r>
              <a:rPr sz="1013" dirty="0" err="1">
                <a:solidFill>
                  <a:srgbClr val="334155"/>
                </a:solidFill>
                <a:latin typeface="Plus Jakarta Sans"/>
              </a:rPr>
              <a:t>agregar</a:t>
            </a:r>
            <a:r>
              <a:rPr sz="1013" dirty="0">
                <a:solidFill>
                  <a:srgbClr val="334155"/>
                </a:solidFill>
                <a:latin typeface="Plus Jakarta Sans"/>
              </a:rPr>
              <a:t> </a:t>
            </a:r>
            <a:r>
              <a:rPr sz="1013" dirty="0" err="1">
                <a:solidFill>
                  <a:srgbClr val="334155"/>
                </a:solidFill>
                <a:latin typeface="Plus Jakarta Sans"/>
              </a:rPr>
              <a:t>platos</a:t>
            </a:r>
            <a:endParaRPr lang="es-CO" sz="1013" dirty="0">
              <a:solidFill>
                <a:srgbClr val="334155"/>
              </a:solidFill>
              <a:latin typeface="Plus Jakarta Sans"/>
            </a:endParaRPr>
          </a:p>
          <a:p>
            <a:pPr marL="171450" indent="-171450">
              <a:buClr>
                <a:srgbClr val="7030A0"/>
              </a:buClr>
              <a:buFont typeface="Arial" panose="020B0604020202020204" pitchFamily="34" charset="0"/>
              <a:buChar char="•"/>
            </a:pPr>
            <a:r>
              <a:rPr lang="es-ES" sz="1013" dirty="0">
                <a:solidFill>
                  <a:srgbClr val="334155"/>
                </a:solidFill>
                <a:latin typeface="Plus Jakarta Sans"/>
              </a:rPr>
              <a:t>Mostrar el menú de un restaurante</a:t>
            </a:r>
          </a:p>
          <a:p>
            <a:pPr marL="171450" indent="-171450">
              <a:buClr>
                <a:srgbClr val="7030A0"/>
              </a:buClr>
              <a:buFont typeface="Arial" panose="020B0604020202020204" pitchFamily="34" charset="0"/>
              <a:buChar char="•"/>
            </a:pPr>
            <a:r>
              <a:rPr lang="es-ES" sz="1013" dirty="0">
                <a:solidFill>
                  <a:srgbClr val="334155"/>
                </a:solidFill>
                <a:latin typeface="Plus Jakarta Sans"/>
              </a:rPr>
              <a:t>Agregar un plato al carrito</a:t>
            </a:r>
          </a:p>
          <a:p>
            <a:pPr marL="171450" indent="-171450">
              <a:buClr>
                <a:srgbClr val="7030A0"/>
              </a:buClr>
              <a:buFont typeface="Arial" panose="020B0604020202020204" pitchFamily="34" charset="0"/>
              <a:buChar char="•"/>
            </a:pPr>
            <a:r>
              <a:rPr lang="es-ES" sz="1013" dirty="0">
                <a:solidFill>
                  <a:srgbClr val="334155"/>
                </a:solidFill>
                <a:latin typeface="Plus Jakarta Sans"/>
              </a:rPr>
              <a:t>Calcular el total del carrito</a:t>
            </a:r>
          </a:p>
          <a:p>
            <a:pPr marL="171450" indent="-171450">
              <a:buClr>
                <a:srgbClr val="7030A0"/>
              </a:buClr>
              <a:buFont typeface="Arial" panose="020B0604020202020204" pitchFamily="34" charset="0"/>
              <a:buChar char="•"/>
            </a:pPr>
            <a:r>
              <a:rPr lang="es-ES" sz="1013" dirty="0">
                <a:solidFill>
                  <a:srgbClr val="334155"/>
                </a:solidFill>
                <a:latin typeface="Plus Jakarta Sans"/>
              </a:rPr>
              <a:t>Decidir si un pedido es viable</a:t>
            </a:r>
          </a:p>
          <a:p>
            <a:pPr marL="171450" indent="-171450">
              <a:buClr>
                <a:srgbClr val="7030A0"/>
              </a:buClr>
              <a:buFont typeface="Arial" panose="020B0604020202020204" pitchFamily="34" charset="0"/>
              <a:buChar char="•"/>
            </a:pPr>
            <a:r>
              <a:rPr lang="es-ES" sz="1013" dirty="0">
                <a:solidFill>
                  <a:srgbClr val="334155"/>
                </a:solidFill>
                <a:latin typeface="Plus Jakarta Sans"/>
              </a:rPr>
              <a:t>Confirmar un pedido</a:t>
            </a:r>
          </a:p>
          <a:p>
            <a:pPr marL="171450" indent="-171450">
              <a:buClr>
                <a:srgbClr val="7030A0"/>
              </a:buClr>
              <a:buFont typeface="Arial" panose="020B0604020202020204" pitchFamily="34" charset="0"/>
              <a:buChar char="•"/>
            </a:pPr>
            <a:r>
              <a:rPr lang="es-ES" sz="1013" dirty="0">
                <a:solidFill>
                  <a:srgbClr val="334155"/>
                </a:solidFill>
                <a:latin typeface="Plus Jakarta Sans"/>
              </a:rPr>
              <a:t>Cobrarle al usuario</a:t>
            </a:r>
          </a:p>
          <a:p>
            <a:pPr marL="171450" indent="-171450">
              <a:buClr>
                <a:srgbClr val="7030A0"/>
              </a:buClr>
              <a:buFont typeface="Arial" panose="020B0604020202020204" pitchFamily="34" charset="0"/>
              <a:buChar char="•"/>
            </a:pPr>
            <a:r>
              <a:rPr lang="es-ES" sz="1013" dirty="0">
                <a:solidFill>
                  <a:srgbClr val="334155"/>
                </a:solidFill>
                <a:latin typeface="Plus Jakarta Sans"/>
              </a:rPr>
              <a:t>Decidir qué repartidor atiende un pedido</a:t>
            </a:r>
          </a:p>
          <a:p>
            <a:pPr marL="171450" indent="-171450">
              <a:buClr>
                <a:srgbClr val="7030A0"/>
              </a:buClr>
              <a:buFont typeface="Arial" panose="020B0604020202020204" pitchFamily="34" charset="0"/>
              <a:buChar char="•"/>
            </a:pPr>
            <a:r>
              <a:rPr lang="es-ES" sz="1013" dirty="0">
                <a:solidFill>
                  <a:srgbClr val="334155"/>
                </a:solidFill>
                <a:latin typeface="Plus Jakarta Sans"/>
              </a:rPr>
              <a:t>Avanzar el estado de un pedido</a:t>
            </a:r>
          </a:p>
          <a:p>
            <a:pPr marL="171450" indent="-171450">
              <a:buClr>
                <a:srgbClr val="7030A0"/>
              </a:buClr>
              <a:buFont typeface="Arial" panose="020B0604020202020204" pitchFamily="34" charset="0"/>
              <a:buChar char="•"/>
            </a:pPr>
            <a:r>
              <a:rPr lang="es-ES" sz="1013" dirty="0">
                <a:solidFill>
                  <a:srgbClr val="334155"/>
                </a:solidFill>
                <a:latin typeface="Plus Jakarta Sans"/>
              </a:rPr>
              <a:t>Avisarle al usuario cada cambio</a:t>
            </a:r>
          </a:p>
          <a:p>
            <a:pPr marL="171450" indent="-171450">
              <a:buClr>
                <a:srgbClr val="7030A0"/>
              </a:buClr>
              <a:buFont typeface="Arial" panose="020B0604020202020204" pitchFamily="34" charset="0"/>
              <a:buChar char="•"/>
            </a:pPr>
            <a:r>
              <a:rPr lang="es-ES" sz="1013" dirty="0">
                <a:solidFill>
                  <a:srgbClr val="334155"/>
                </a:solidFill>
                <a:latin typeface="Plus Jakarta Sans"/>
              </a:rPr>
              <a:t>Entregar la foto de un plato</a:t>
            </a:r>
            <a:endParaRPr lang="es-CO" sz="1013" dirty="0">
              <a:solidFill>
                <a:srgbClr val="334155"/>
              </a:solidFill>
              <a:latin typeface="Plus Jakarta Sans"/>
            </a:endParaRPr>
          </a:p>
          <a:p>
            <a:pPr>
              <a:lnSpc>
                <a:spcPts val="1316"/>
              </a:lnSpc>
            </a:pPr>
            <a:endParaRPr sz="1013" dirty="0">
              <a:solidFill>
                <a:srgbClr val="334155"/>
              </a:solidFill>
              <a:latin typeface="Plus Jakarta Sans"/>
            </a:endParaRPr>
          </a:p>
        </p:txBody>
      </p:sp>
      <p:sp>
        <p:nvSpPr>
          <p:cNvPr id="19" name="TextBox 18"/>
          <p:cNvSpPr txBox="1"/>
          <p:nvPr/>
        </p:nvSpPr>
        <p:spPr>
          <a:xfrm>
            <a:off x="5222081" y="1888060"/>
            <a:ext cx="1939634" cy="173124"/>
          </a:xfrm>
          <a:prstGeom prst="rect">
            <a:avLst/>
          </a:prstGeom>
          <a:noFill/>
        </p:spPr>
        <p:txBody>
          <a:bodyPr wrap="none" lIns="0" tIns="0" rIns="0" bIns="0" anchor="t">
            <a:spAutoFit/>
          </a:bodyPr>
          <a:lstStyle/>
          <a:p>
            <a:pPr algn="l"/>
            <a:r>
              <a:rPr sz="1125" b="1">
                <a:solidFill>
                  <a:srgbClr val="0284C7"/>
                </a:solidFill>
                <a:latin typeface="Plus Jakarta Sans"/>
              </a:rPr>
              <a:t>2. Ciclo de vida de los elementos</a:t>
            </a:r>
          </a:p>
        </p:txBody>
      </p:sp>
      <p:sp>
        <p:nvSpPr>
          <p:cNvPr id="20" name="TextBox 19"/>
          <p:cNvSpPr txBox="1"/>
          <p:nvPr/>
        </p:nvSpPr>
        <p:spPr>
          <a:xfrm>
            <a:off x="4879181" y="2220245"/>
            <a:ext cx="3807619" cy="1493037"/>
          </a:xfrm>
          <a:prstGeom prst="rect">
            <a:avLst/>
          </a:prstGeom>
          <a:noFill/>
        </p:spPr>
        <p:txBody>
          <a:bodyPr wrap="square" lIns="0" tIns="0" rIns="0" bIns="0" anchor="t">
            <a:spAutoFit/>
          </a:bodyPr>
          <a:lstStyle/>
          <a:p>
            <a:pPr marL="171450" indent="-171450">
              <a:lnSpc>
                <a:spcPts val="1316"/>
              </a:lnSpc>
              <a:buClr>
                <a:srgbClr val="7030A0"/>
              </a:buClr>
              <a:buFont typeface="Arial" panose="020B0604020202020204" pitchFamily="34" charset="0"/>
              <a:buChar char="•"/>
            </a:pPr>
            <a:r>
              <a:rPr lang="es-ES" sz="1013" dirty="0">
                <a:solidFill>
                  <a:srgbClr val="334155"/>
                </a:solidFill>
                <a:latin typeface="Plus Jakarta Sans"/>
              </a:rPr>
              <a:t>Crear el Despachador</a:t>
            </a:r>
          </a:p>
          <a:p>
            <a:pPr marL="171450" indent="-171450">
              <a:lnSpc>
                <a:spcPts val="1316"/>
              </a:lnSpc>
              <a:buClr>
                <a:srgbClr val="7030A0"/>
              </a:buClr>
              <a:buFont typeface="Arial" panose="020B0604020202020204" pitchFamily="34" charset="0"/>
              <a:buChar char="•"/>
            </a:pPr>
            <a:r>
              <a:rPr lang="es-ES" sz="1013" dirty="0">
                <a:solidFill>
                  <a:srgbClr val="334155"/>
                </a:solidFill>
                <a:latin typeface="Plus Jakarta Sans"/>
              </a:rPr>
              <a:t>Crear el Manejador de Carritos</a:t>
            </a:r>
          </a:p>
          <a:p>
            <a:pPr marL="171450" indent="-171450">
              <a:lnSpc>
                <a:spcPts val="1316"/>
              </a:lnSpc>
              <a:buClr>
                <a:srgbClr val="7030A0"/>
              </a:buClr>
              <a:buFont typeface="Arial" panose="020B0604020202020204" pitchFamily="34" charset="0"/>
              <a:buChar char="•"/>
            </a:pPr>
            <a:r>
              <a:rPr lang="es-ES" sz="1013" dirty="0">
                <a:solidFill>
                  <a:srgbClr val="334155"/>
                </a:solidFill>
                <a:latin typeface="Plus Jakarta Sans"/>
              </a:rPr>
              <a:t>Crear el Catálogo de Restaurantes</a:t>
            </a:r>
          </a:p>
          <a:p>
            <a:pPr marL="171450" indent="-171450">
              <a:lnSpc>
                <a:spcPts val="1316"/>
              </a:lnSpc>
              <a:buClr>
                <a:srgbClr val="7030A0"/>
              </a:buClr>
              <a:buFont typeface="Arial" panose="020B0604020202020204" pitchFamily="34" charset="0"/>
              <a:buChar char="•"/>
            </a:pPr>
            <a:r>
              <a:rPr lang="es-ES" sz="1013" dirty="0">
                <a:solidFill>
                  <a:srgbClr val="334155"/>
                </a:solidFill>
                <a:latin typeface="Plus Jakarta Sans"/>
              </a:rPr>
              <a:t>Crear el Buscador de Fotos</a:t>
            </a:r>
          </a:p>
          <a:p>
            <a:pPr marL="171450" indent="-171450">
              <a:lnSpc>
                <a:spcPts val="1316"/>
              </a:lnSpc>
              <a:buClr>
                <a:srgbClr val="7030A0"/>
              </a:buClr>
              <a:buFont typeface="Arial" panose="020B0604020202020204" pitchFamily="34" charset="0"/>
              <a:buChar char="•"/>
            </a:pPr>
            <a:r>
              <a:rPr lang="es-ES" sz="1013" dirty="0">
                <a:solidFill>
                  <a:srgbClr val="334155"/>
                </a:solidFill>
                <a:latin typeface="Plus Jakarta Sans"/>
              </a:rPr>
              <a:t>Crear el Conector DB</a:t>
            </a:r>
          </a:p>
          <a:p>
            <a:pPr marL="171450" indent="-171450">
              <a:lnSpc>
                <a:spcPts val="1316"/>
              </a:lnSpc>
              <a:buClr>
                <a:srgbClr val="7030A0"/>
              </a:buClr>
              <a:buFont typeface="Arial" panose="020B0604020202020204" pitchFamily="34" charset="0"/>
              <a:buChar char="•"/>
            </a:pPr>
            <a:r>
              <a:rPr lang="es-ES" sz="1013" dirty="0">
                <a:solidFill>
                  <a:srgbClr val="334155"/>
                </a:solidFill>
                <a:latin typeface="Plus Jakarta Sans"/>
              </a:rPr>
              <a:t>Crear un carrito</a:t>
            </a:r>
          </a:p>
          <a:p>
            <a:pPr marL="171450" indent="-171450">
              <a:lnSpc>
                <a:spcPts val="1316"/>
              </a:lnSpc>
              <a:buClr>
                <a:srgbClr val="7030A0"/>
              </a:buClr>
              <a:buFont typeface="Arial" panose="020B0604020202020204" pitchFamily="34" charset="0"/>
              <a:buChar char="•"/>
            </a:pPr>
            <a:r>
              <a:rPr lang="es-ES" sz="1013" dirty="0">
                <a:solidFill>
                  <a:srgbClr val="334155"/>
                </a:solidFill>
                <a:latin typeface="Plus Jakarta Sans"/>
              </a:rPr>
              <a:t>Crear un pedido</a:t>
            </a:r>
          </a:p>
          <a:p>
            <a:pPr marL="171450" indent="-171450">
              <a:lnSpc>
                <a:spcPts val="1316"/>
              </a:lnSpc>
              <a:buClr>
                <a:srgbClr val="7030A0"/>
              </a:buClr>
              <a:buFont typeface="Arial" panose="020B0604020202020204" pitchFamily="34" charset="0"/>
              <a:buChar char="•"/>
            </a:pPr>
            <a:r>
              <a:rPr lang="es-ES" sz="1013" dirty="0">
                <a:solidFill>
                  <a:srgbClr val="334155"/>
                </a:solidFill>
                <a:latin typeface="Plus Jakarta Sans"/>
              </a:rPr>
              <a:t>Abrir una conexión a la BD</a:t>
            </a:r>
          </a:p>
          <a:p>
            <a:pPr marL="171450" indent="-171450">
              <a:lnSpc>
                <a:spcPts val="1316"/>
              </a:lnSpc>
              <a:buClr>
                <a:srgbClr val="7030A0"/>
              </a:buClr>
              <a:buFont typeface="Arial" panose="020B0604020202020204" pitchFamily="34" charset="0"/>
              <a:buChar char="•"/>
            </a:pPr>
            <a:r>
              <a:rPr lang="es-ES" sz="1013" dirty="0">
                <a:solidFill>
                  <a:srgbClr val="334155"/>
                </a:solidFill>
                <a:latin typeface="Plus Jakarta Sans"/>
              </a:rPr>
              <a:t>Reconectar con la BD</a:t>
            </a:r>
            <a:endParaRPr sz="1013" dirty="0">
              <a:solidFill>
                <a:srgbClr val="334155"/>
              </a:solidFill>
              <a:latin typeface="Plus Jakarta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4" name="Rounded Rectangle 3"/>
          <p:cNvSpPr/>
          <p:nvPr/>
        </p:nvSpPr>
        <p:spPr>
          <a:xfrm>
            <a:off x="457200" y="2238115"/>
            <a:ext cx="4014788" cy="1501415"/>
          </a:xfrm>
          <a:prstGeom prst="roundRect">
            <a:avLst>
              <a:gd name="adj" fmla="val 7612"/>
            </a:avLst>
          </a:prstGeom>
          <a:solidFill>
            <a:srgbClr val="FEFDFD"/>
          </a:solidFill>
          <a:ln w="9525">
            <a:solidFill>
              <a:srgbClr val="E6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ounded Rectangle 4"/>
          <p:cNvSpPr/>
          <p:nvPr/>
        </p:nvSpPr>
        <p:spPr>
          <a:xfrm>
            <a:off x="4672012" y="2238115"/>
            <a:ext cx="4014788" cy="1501415"/>
          </a:xfrm>
          <a:prstGeom prst="roundRect">
            <a:avLst>
              <a:gd name="adj" fmla="val 7612"/>
            </a:avLst>
          </a:prstGeom>
          <a:solidFill>
            <a:srgbClr val="FEFDFD"/>
          </a:solidFill>
          <a:ln w="9525">
            <a:solidFill>
              <a:srgbClr val="E6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pic>
        <p:nvPicPr>
          <p:cNvPr id="6" name="Picture 5" descr="image.png"/>
          <p:cNvPicPr>
            <a:picLocks noChangeAspect="1"/>
          </p:cNvPicPr>
          <p:nvPr/>
        </p:nvPicPr>
        <p:blipFill>
          <a:blip r:embed="rId3"/>
          <a:stretch>
            <a:fillRect/>
          </a:stretch>
        </p:blipFill>
        <p:spPr>
          <a:xfrm>
            <a:off x="664369" y="2445283"/>
            <a:ext cx="257175" cy="257175"/>
          </a:xfrm>
          <a:prstGeom prst="rect">
            <a:avLst/>
          </a:prstGeom>
        </p:spPr>
      </p:pic>
      <p:pic>
        <p:nvPicPr>
          <p:cNvPr id="7" name="Picture 6" descr="image.png"/>
          <p:cNvPicPr>
            <a:picLocks noChangeAspect="1"/>
          </p:cNvPicPr>
          <p:nvPr/>
        </p:nvPicPr>
        <p:blipFill>
          <a:blip r:embed="rId4"/>
          <a:stretch>
            <a:fillRect/>
          </a:stretch>
        </p:blipFill>
        <p:spPr>
          <a:xfrm>
            <a:off x="4879181" y="2445283"/>
            <a:ext cx="257175" cy="257175"/>
          </a:xfrm>
          <a:prstGeom prst="rect">
            <a:avLst/>
          </a:prstGeom>
        </p:spPr>
      </p:pic>
      <p:pic>
        <p:nvPicPr>
          <p:cNvPr id="8" name="Picture 7" descr="image.png"/>
          <p:cNvPicPr>
            <a:picLocks noChangeAspect="1"/>
          </p:cNvPicPr>
          <p:nvPr/>
        </p:nvPicPr>
        <p:blipFill>
          <a:blip r:embed="rId5"/>
          <a:stretch>
            <a:fillRect/>
          </a:stretch>
        </p:blipFill>
        <p:spPr>
          <a:xfrm>
            <a:off x="735806" y="2509576"/>
            <a:ext cx="114300" cy="128588"/>
          </a:xfrm>
          <a:prstGeom prst="rect">
            <a:avLst/>
          </a:prstGeom>
        </p:spPr>
      </p:pic>
      <p:pic>
        <p:nvPicPr>
          <p:cNvPr id="9" name="Picture 8" descr="image.png"/>
          <p:cNvPicPr>
            <a:picLocks noChangeAspect="1"/>
          </p:cNvPicPr>
          <p:nvPr/>
        </p:nvPicPr>
        <p:blipFill>
          <a:blip r:embed="rId6"/>
          <a:stretch>
            <a:fillRect/>
          </a:stretch>
        </p:blipFill>
        <p:spPr>
          <a:xfrm>
            <a:off x="4943475" y="2509576"/>
            <a:ext cx="128588" cy="128588"/>
          </a:xfrm>
          <a:prstGeom prst="rect">
            <a:avLst/>
          </a:prstGeom>
        </p:spPr>
      </p:pic>
      <p:sp>
        <p:nvSpPr>
          <p:cNvPr id="10" name="TextBox 9"/>
          <p:cNvSpPr txBox="1"/>
          <p:nvPr/>
        </p:nvSpPr>
        <p:spPr>
          <a:xfrm>
            <a:off x="8367803" y="4672013"/>
            <a:ext cx="318998" cy="121252"/>
          </a:xfrm>
          <a:prstGeom prst="rect">
            <a:avLst/>
          </a:prstGeom>
          <a:noFill/>
        </p:spPr>
        <p:txBody>
          <a:bodyPr wrap="none" lIns="0" tIns="0" rIns="0" bIns="0" anchor="t">
            <a:spAutoFit/>
          </a:bodyPr>
          <a:lstStyle/>
          <a:p>
            <a:pPr algn="r"/>
            <a:r>
              <a:rPr sz="788">
                <a:solidFill>
                  <a:srgbClr val="0F172A"/>
                </a:solidFill>
                <a:latin typeface="Plus Jakarta Sans"/>
              </a:rPr>
              <a:t>Paso 14</a:t>
            </a:r>
          </a:p>
        </p:txBody>
      </p:sp>
      <p:sp>
        <p:nvSpPr>
          <p:cNvPr id="12" name="TextBox 11"/>
          <p:cNvSpPr txBox="1"/>
          <p:nvPr/>
        </p:nvSpPr>
        <p:spPr>
          <a:xfrm>
            <a:off x="457200" y="642938"/>
            <a:ext cx="2917145" cy="322461"/>
          </a:xfrm>
          <a:prstGeom prst="rect">
            <a:avLst/>
          </a:prstGeom>
          <a:noFill/>
        </p:spPr>
        <p:txBody>
          <a:bodyPr wrap="none" lIns="0" tIns="0" rIns="0" bIns="0" anchor="t">
            <a:spAutoFit/>
          </a:bodyPr>
          <a:lstStyle/>
          <a:p>
            <a:pPr>
              <a:lnSpc>
                <a:spcPts val="2565"/>
              </a:lnSpc>
            </a:pPr>
            <a:r>
              <a:rPr sz="2138" b="1">
                <a:solidFill>
                  <a:srgbClr val="0F172A"/>
                </a:solidFill>
                <a:latin typeface="Plus Jakarta Sans"/>
              </a:rPr>
              <a:t>Estructuras e Información</a:t>
            </a:r>
          </a:p>
        </p:txBody>
      </p:sp>
      <p:sp>
        <p:nvSpPr>
          <p:cNvPr id="13" name="TextBox 12"/>
          <p:cNvSpPr txBox="1"/>
          <p:nvPr/>
        </p:nvSpPr>
        <p:spPr>
          <a:xfrm>
            <a:off x="457201" y="1011510"/>
            <a:ext cx="6269665" cy="188770"/>
          </a:xfrm>
          <a:prstGeom prst="rect">
            <a:avLst/>
          </a:prstGeom>
          <a:noFill/>
        </p:spPr>
        <p:txBody>
          <a:bodyPr wrap="none" lIns="0" tIns="0" rIns="0" bIns="0" anchor="t">
            <a:spAutoFit/>
          </a:bodyPr>
          <a:lstStyle/>
          <a:p>
            <a:pPr>
              <a:lnSpc>
                <a:spcPts val="1417"/>
              </a:lnSpc>
            </a:pPr>
            <a:r>
              <a:rPr sz="1600" dirty="0" err="1">
                <a:solidFill>
                  <a:srgbClr val="64748B"/>
                </a:solidFill>
                <a:latin typeface="Plus Jakarta Sans"/>
              </a:rPr>
              <a:t>Perspectiva</a:t>
            </a:r>
            <a:r>
              <a:rPr sz="1600" dirty="0">
                <a:solidFill>
                  <a:srgbClr val="64748B"/>
                </a:solidFill>
                <a:latin typeface="Plus Jakarta Sans"/>
              </a:rPr>
              <a:t> de </a:t>
            </a:r>
            <a:r>
              <a:rPr sz="1600" dirty="0" err="1">
                <a:solidFill>
                  <a:srgbClr val="64748B"/>
                </a:solidFill>
                <a:latin typeface="Plus Jakarta Sans"/>
              </a:rPr>
              <a:t>análisis</a:t>
            </a:r>
            <a:r>
              <a:rPr sz="1600" dirty="0">
                <a:solidFill>
                  <a:srgbClr val="64748B"/>
                </a:solidFill>
                <a:latin typeface="Plus Jakarta Sans"/>
              </a:rPr>
              <a:t>: </a:t>
            </a:r>
            <a:r>
              <a:rPr sz="1600" dirty="0" err="1">
                <a:solidFill>
                  <a:srgbClr val="64748B"/>
                </a:solidFill>
                <a:latin typeface="Plus Jakarta Sans"/>
              </a:rPr>
              <a:t>Gestión</a:t>
            </a:r>
            <a:r>
              <a:rPr sz="1600" dirty="0">
                <a:solidFill>
                  <a:srgbClr val="64748B"/>
                </a:solidFill>
                <a:latin typeface="Plus Jakarta Sans"/>
              </a:rPr>
              <a:t> de </a:t>
            </a:r>
            <a:r>
              <a:rPr sz="1600" dirty="0" err="1">
                <a:solidFill>
                  <a:srgbClr val="64748B"/>
                </a:solidFill>
                <a:latin typeface="Plus Jakarta Sans"/>
              </a:rPr>
              <a:t>datos</a:t>
            </a:r>
            <a:r>
              <a:rPr sz="1600" dirty="0">
                <a:solidFill>
                  <a:srgbClr val="64748B"/>
                </a:solidFill>
                <a:latin typeface="Plus Jakarta Sans"/>
              </a:rPr>
              <a:t> </a:t>
            </a:r>
            <a:r>
              <a:rPr sz="1600" dirty="0" err="1">
                <a:solidFill>
                  <a:srgbClr val="64748B"/>
                </a:solidFill>
                <a:latin typeface="Plus Jakarta Sans"/>
              </a:rPr>
              <a:t>continuos</a:t>
            </a:r>
            <a:r>
              <a:rPr sz="1600" dirty="0">
                <a:solidFill>
                  <a:srgbClr val="64748B"/>
                </a:solidFill>
                <a:latin typeface="Plus Jakarta Sans"/>
              </a:rPr>
              <a:t> y </a:t>
            </a:r>
            <a:r>
              <a:rPr sz="1600" dirty="0" err="1">
                <a:solidFill>
                  <a:srgbClr val="64748B"/>
                </a:solidFill>
                <a:latin typeface="Plus Jakarta Sans"/>
              </a:rPr>
              <a:t>persistencia</a:t>
            </a:r>
            <a:r>
              <a:rPr sz="1600" dirty="0">
                <a:solidFill>
                  <a:srgbClr val="64748B"/>
                </a:solidFill>
                <a:latin typeface="Plus Jakarta Sans"/>
              </a:rPr>
              <a:t> de </a:t>
            </a:r>
            <a:r>
              <a:rPr sz="1600" dirty="0" err="1">
                <a:solidFill>
                  <a:srgbClr val="64748B"/>
                </a:solidFill>
                <a:latin typeface="Plus Jakarta Sans"/>
              </a:rPr>
              <a:t>estado</a:t>
            </a:r>
            <a:endParaRPr sz="1600" dirty="0">
              <a:solidFill>
                <a:srgbClr val="64748B"/>
              </a:solidFill>
              <a:latin typeface="Plus Jakarta Sans"/>
            </a:endParaRPr>
          </a:p>
        </p:txBody>
      </p:sp>
      <p:sp>
        <p:nvSpPr>
          <p:cNvPr id="14" name="TextBox 13"/>
          <p:cNvSpPr txBox="1"/>
          <p:nvPr/>
        </p:nvSpPr>
        <p:spPr>
          <a:xfrm>
            <a:off x="1007269" y="2484574"/>
            <a:ext cx="2249014" cy="173124"/>
          </a:xfrm>
          <a:prstGeom prst="rect">
            <a:avLst/>
          </a:prstGeom>
          <a:noFill/>
        </p:spPr>
        <p:txBody>
          <a:bodyPr wrap="none" lIns="0" tIns="0" rIns="0" bIns="0" anchor="t">
            <a:spAutoFit/>
          </a:bodyPr>
          <a:lstStyle/>
          <a:p>
            <a:pPr algn="l"/>
            <a:r>
              <a:rPr sz="1125" b="1">
                <a:solidFill>
                  <a:srgbClr val="0284C7"/>
                </a:solidFill>
                <a:latin typeface="Plus Jakarta Sans"/>
              </a:rPr>
              <a:t>3. Estructuras no creadas por petición</a:t>
            </a:r>
          </a:p>
        </p:txBody>
      </p:sp>
      <p:sp>
        <p:nvSpPr>
          <p:cNvPr id="15" name="TextBox 14"/>
          <p:cNvSpPr txBox="1"/>
          <p:nvPr/>
        </p:nvSpPr>
        <p:spPr>
          <a:xfrm>
            <a:off x="664369" y="2816758"/>
            <a:ext cx="2858155" cy="159339"/>
          </a:xfrm>
          <a:prstGeom prst="rect">
            <a:avLst/>
          </a:prstGeom>
          <a:noFill/>
        </p:spPr>
        <p:txBody>
          <a:bodyPr wrap="none" lIns="0" tIns="0" rIns="0" bIns="0" anchor="t">
            <a:spAutoFit/>
          </a:bodyPr>
          <a:lstStyle/>
          <a:p>
            <a:pPr>
              <a:lnSpc>
                <a:spcPts val="1316"/>
              </a:lnSpc>
            </a:pPr>
            <a:r>
              <a:rPr sz="1013" dirty="0">
                <a:solidFill>
                  <a:srgbClr val="8B5CF6"/>
                </a:solidFill>
                <a:latin typeface="Plus Jakarta Sans"/>
              </a:rPr>
              <a:t>• </a:t>
            </a:r>
            <a:r>
              <a:rPr sz="1013" dirty="0" err="1">
                <a:solidFill>
                  <a:srgbClr val="334155"/>
                </a:solidFill>
                <a:latin typeface="Plus Jakarta Sans"/>
              </a:rPr>
              <a:t>Mantener</a:t>
            </a:r>
            <a:r>
              <a:rPr sz="1013" dirty="0">
                <a:solidFill>
                  <a:srgbClr val="334155"/>
                </a:solidFill>
                <a:latin typeface="Plus Jakarta Sans"/>
              </a:rPr>
              <a:t> </a:t>
            </a:r>
            <a:r>
              <a:rPr sz="1013" dirty="0" err="1">
                <a:solidFill>
                  <a:srgbClr val="334155"/>
                </a:solidFill>
                <a:latin typeface="Plus Jakarta Sans"/>
              </a:rPr>
              <a:t>los</a:t>
            </a:r>
            <a:r>
              <a:rPr sz="1013" dirty="0">
                <a:solidFill>
                  <a:srgbClr val="334155"/>
                </a:solidFill>
                <a:latin typeface="Plus Jakarta Sans"/>
              </a:rPr>
              <a:t> </a:t>
            </a:r>
            <a:r>
              <a:rPr sz="1013" dirty="0" err="1">
                <a:solidFill>
                  <a:srgbClr val="334155"/>
                </a:solidFill>
                <a:latin typeface="Plus Jakarta Sans"/>
              </a:rPr>
              <a:t>restaurantes</a:t>
            </a:r>
            <a:r>
              <a:rPr sz="1013" dirty="0">
                <a:solidFill>
                  <a:srgbClr val="334155"/>
                </a:solidFill>
                <a:latin typeface="Plus Jakarta Sans"/>
              </a:rPr>
              <a:t> y sus </a:t>
            </a:r>
            <a:r>
              <a:rPr sz="1013" dirty="0" err="1">
                <a:solidFill>
                  <a:srgbClr val="334155"/>
                </a:solidFill>
                <a:latin typeface="Plus Jakarta Sans"/>
              </a:rPr>
              <a:t>menús</a:t>
            </a:r>
            <a:r>
              <a:rPr sz="1013" dirty="0">
                <a:solidFill>
                  <a:srgbClr val="334155"/>
                </a:solidFill>
                <a:latin typeface="Plus Jakarta Sans"/>
              </a:rPr>
              <a:t> </a:t>
            </a:r>
            <a:r>
              <a:rPr sz="1013" dirty="0" err="1">
                <a:solidFill>
                  <a:srgbClr val="334155"/>
                </a:solidFill>
                <a:latin typeface="Plus Jakarta Sans"/>
              </a:rPr>
              <a:t>actualizados</a:t>
            </a:r>
            <a:endParaRPr sz="1013" dirty="0">
              <a:solidFill>
                <a:srgbClr val="334155"/>
              </a:solidFill>
              <a:latin typeface="Plus Jakarta Sans"/>
            </a:endParaRPr>
          </a:p>
        </p:txBody>
      </p:sp>
      <p:sp>
        <p:nvSpPr>
          <p:cNvPr id="16" name="TextBox 15"/>
          <p:cNvSpPr txBox="1"/>
          <p:nvPr/>
        </p:nvSpPr>
        <p:spPr>
          <a:xfrm>
            <a:off x="664369" y="3055293"/>
            <a:ext cx="2172069" cy="159339"/>
          </a:xfrm>
          <a:prstGeom prst="rect">
            <a:avLst/>
          </a:prstGeom>
          <a:noFill/>
        </p:spPr>
        <p:txBody>
          <a:bodyPr wrap="none" lIns="0" tIns="0" rIns="0" bIns="0" anchor="t">
            <a:spAutoFit/>
          </a:bodyPr>
          <a:lstStyle/>
          <a:p>
            <a:pPr>
              <a:lnSpc>
                <a:spcPts val="1316"/>
              </a:lnSpc>
            </a:pPr>
            <a:r>
              <a:rPr sz="1013" dirty="0">
                <a:solidFill>
                  <a:srgbClr val="8B5CF6"/>
                </a:solidFill>
                <a:latin typeface="Plus Jakarta Sans"/>
              </a:rPr>
              <a:t>• </a:t>
            </a:r>
            <a:r>
              <a:rPr sz="1013" dirty="0" err="1">
                <a:solidFill>
                  <a:srgbClr val="334155"/>
                </a:solidFill>
                <a:latin typeface="Plus Jakarta Sans"/>
              </a:rPr>
              <a:t>Mantener</a:t>
            </a:r>
            <a:r>
              <a:rPr sz="1013" dirty="0">
                <a:solidFill>
                  <a:srgbClr val="334155"/>
                </a:solidFill>
                <a:latin typeface="Plus Jakarta Sans"/>
              </a:rPr>
              <a:t> el </a:t>
            </a:r>
            <a:r>
              <a:rPr sz="1013" dirty="0" err="1">
                <a:solidFill>
                  <a:srgbClr val="334155"/>
                </a:solidFill>
                <a:latin typeface="Plus Jakarta Sans"/>
              </a:rPr>
              <a:t>registro</a:t>
            </a:r>
            <a:r>
              <a:rPr sz="1013" dirty="0">
                <a:solidFill>
                  <a:srgbClr val="334155"/>
                </a:solidFill>
                <a:latin typeface="Plus Jakarta Sans"/>
              </a:rPr>
              <a:t> de </a:t>
            </a:r>
            <a:r>
              <a:rPr sz="1013" dirty="0" err="1">
                <a:solidFill>
                  <a:srgbClr val="334155"/>
                </a:solidFill>
                <a:latin typeface="Plus Jakarta Sans"/>
              </a:rPr>
              <a:t>carritos</a:t>
            </a:r>
            <a:r>
              <a:rPr sz="1013" dirty="0">
                <a:solidFill>
                  <a:srgbClr val="334155"/>
                </a:solidFill>
                <a:latin typeface="Plus Jakarta Sans"/>
              </a:rPr>
              <a:t> </a:t>
            </a:r>
            <a:r>
              <a:rPr sz="1013" dirty="0" err="1">
                <a:solidFill>
                  <a:srgbClr val="334155"/>
                </a:solidFill>
                <a:latin typeface="Plus Jakarta Sans"/>
              </a:rPr>
              <a:t>activos</a:t>
            </a:r>
            <a:endParaRPr sz="1013" dirty="0">
              <a:solidFill>
                <a:srgbClr val="334155"/>
              </a:solidFill>
              <a:latin typeface="Plus Jakarta Sans"/>
            </a:endParaRPr>
          </a:p>
        </p:txBody>
      </p:sp>
      <p:sp>
        <p:nvSpPr>
          <p:cNvPr id="17" name="TextBox 16"/>
          <p:cNvSpPr txBox="1"/>
          <p:nvPr/>
        </p:nvSpPr>
        <p:spPr>
          <a:xfrm>
            <a:off x="664369" y="3293827"/>
            <a:ext cx="2712281" cy="159339"/>
          </a:xfrm>
          <a:prstGeom prst="rect">
            <a:avLst/>
          </a:prstGeom>
          <a:noFill/>
        </p:spPr>
        <p:txBody>
          <a:bodyPr wrap="none" lIns="0" tIns="0" rIns="0" bIns="0" anchor="t">
            <a:spAutoFit/>
          </a:bodyPr>
          <a:lstStyle/>
          <a:p>
            <a:pPr>
              <a:lnSpc>
                <a:spcPts val="1316"/>
              </a:lnSpc>
            </a:pPr>
            <a:r>
              <a:rPr sz="1013" dirty="0">
                <a:solidFill>
                  <a:srgbClr val="8B5CF6"/>
                </a:solidFill>
                <a:latin typeface="Plus Jakarta Sans"/>
              </a:rPr>
              <a:t>• </a:t>
            </a:r>
            <a:r>
              <a:rPr sz="1013" dirty="0" err="1">
                <a:solidFill>
                  <a:srgbClr val="334155"/>
                </a:solidFill>
                <a:latin typeface="Plus Jakarta Sans"/>
              </a:rPr>
              <a:t>Mantener</a:t>
            </a:r>
            <a:r>
              <a:rPr sz="1013" dirty="0">
                <a:solidFill>
                  <a:srgbClr val="334155"/>
                </a:solidFill>
                <a:latin typeface="Plus Jakarta Sans"/>
              </a:rPr>
              <a:t> </a:t>
            </a:r>
            <a:r>
              <a:rPr sz="1013" dirty="0" err="1">
                <a:solidFill>
                  <a:srgbClr val="334155"/>
                </a:solidFill>
                <a:latin typeface="Plus Jakarta Sans"/>
              </a:rPr>
              <a:t>repartidores</a:t>
            </a:r>
            <a:r>
              <a:rPr sz="1013" dirty="0">
                <a:solidFill>
                  <a:srgbClr val="334155"/>
                </a:solidFill>
                <a:latin typeface="Plus Jakarta Sans"/>
              </a:rPr>
              <a:t> </a:t>
            </a:r>
            <a:r>
              <a:rPr sz="1013" dirty="0" err="1">
                <a:solidFill>
                  <a:srgbClr val="334155"/>
                </a:solidFill>
                <a:latin typeface="Plus Jakarta Sans"/>
              </a:rPr>
              <a:t>disponibles</a:t>
            </a:r>
            <a:r>
              <a:rPr sz="1013" dirty="0">
                <a:solidFill>
                  <a:srgbClr val="334155"/>
                </a:solidFill>
                <a:latin typeface="Plus Jakarta Sans"/>
              </a:rPr>
              <a:t> y </a:t>
            </a:r>
            <a:r>
              <a:rPr sz="1013" dirty="0" err="1">
                <a:solidFill>
                  <a:srgbClr val="334155"/>
                </a:solidFill>
                <a:latin typeface="Plus Jakarta Sans"/>
              </a:rPr>
              <a:t>su</a:t>
            </a:r>
            <a:r>
              <a:rPr sz="1013" dirty="0">
                <a:solidFill>
                  <a:srgbClr val="334155"/>
                </a:solidFill>
                <a:latin typeface="Plus Jakarta Sans"/>
              </a:rPr>
              <a:t> </a:t>
            </a:r>
            <a:r>
              <a:rPr sz="1013" dirty="0" err="1">
                <a:solidFill>
                  <a:srgbClr val="334155"/>
                </a:solidFill>
                <a:latin typeface="Plus Jakarta Sans"/>
              </a:rPr>
              <a:t>ubicación</a:t>
            </a:r>
            <a:endParaRPr sz="1013" dirty="0">
              <a:solidFill>
                <a:srgbClr val="334155"/>
              </a:solidFill>
              <a:latin typeface="Plus Jakarta Sans"/>
            </a:endParaRPr>
          </a:p>
        </p:txBody>
      </p:sp>
      <p:sp>
        <p:nvSpPr>
          <p:cNvPr id="18" name="TextBox 17"/>
          <p:cNvSpPr txBox="1"/>
          <p:nvPr/>
        </p:nvSpPr>
        <p:spPr>
          <a:xfrm>
            <a:off x="5222081" y="2484574"/>
            <a:ext cx="1495602" cy="173124"/>
          </a:xfrm>
          <a:prstGeom prst="rect">
            <a:avLst/>
          </a:prstGeom>
          <a:noFill/>
        </p:spPr>
        <p:txBody>
          <a:bodyPr wrap="none" lIns="0" tIns="0" rIns="0" bIns="0" anchor="t">
            <a:spAutoFit/>
          </a:bodyPr>
          <a:lstStyle/>
          <a:p>
            <a:pPr algn="l"/>
            <a:r>
              <a:rPr sz="1125" b="1">
                <a:solidFill>
                  <a:srgbClr val="0284C7"/>
                </a:solidFill>
                <a:latin typeface="Plus Jakarta Sans"/>
              </a:rPr>
              <a:t>4. Mantener información</a:t>
            </a:r>
          </a:p>
        </p:txBody>
      </p:sp>
      <p:sp>
        <p:nvSpPr>
          <p:cNvPr id="19" name="TextBox 18"/>
          <p:cNvSpPr txBox="1"/>
          <p:nvPr/>
        </p:nvSpPr>
        <p:spPr>
          <a:xfrm>
            <a:off x="4879181" y="2816758"/>
            <a:ext cx="2646558" cy="159339"/>
          </a:xfrm>
          <a:prstGeom prst="rect">
            <a:avLst/>
          </a:prstGeom>
          <a:noFill/>
        </p:spPr>
        <p:txBody>
          <a:bodyPr wrap="none" lIns="0" tIns="0" rIns="0" bIns="0" anchor="t">
            <a:spAutoFit/>
          </a:bodyPr>
          <a:lstStyle/>
          <a:p>
            <a:pPr>
              <a:lnSpc>
                <a:spcPts val="1316"/>
              </a:lnSpc>
            </a:pPr>
            <a:r>
              <a:rPr sz="1013">
                <a:solidFill>
                  <a:srgbClr val="8B5CF6"/>
                </a:solidFill>
                <a:latin typeface="Plus Jakarta Sans"/>
              </a:rPr>
              <a:t>• </a:t>
            </a:r>
            <a:r>
              <a:rPr sz="1013">
                <a:solidFill>
                  <a:srgbClr val="334155"/>
                </a:solidFill>
                <a:latin typeface="Plus Jakarta Sans"/>
              </a:rPr>
              <a:t>Cada </a:t>
            </a:r>
            <a:r>
              <a:rPr sz="1013" i="1">
                <a:solidFill>
                  <a:srgbClr val="334155"/>
                </a:solidFill>
                <a:latin typeface="Plus Jakarta Sans"/>
              </a:rPr>
              <a:t>information holder</a:t>
            </a:r>
            <a:r>
              <a:rPr sz="1013">
                <a:solidFill>
                  <a:srgbClr val="334155"/>
                </a:solidFill>
                <a:latin typeface="Plus Jakarta Sans"/>
              </a:rPr>
              <a:t> responde por sus datos</a:t>
            </a:r>
          </a:p>
        </p:txBody>
      </p:sp>
      <p:sp>
        <p:nvSpPr>
          <p:cNvPr id="20" name="TextBox 19"/>
          <p:cNvSpPr txBox="1"/>
          <p:nvPr/>
        </p:nvSpPr>
        <p:spPr>
          <a:xfrm>
            <a:off x="4879181" y="3055293"/>
            <a:ext cx="2003754" cy="159339"/>
          </a:xfrm>
          <a:prstGeom prst="rect">
            <a:avLst/>
          </a:prstGeom>
          <a:noFill/>
        </p:spPr>
        <p:txBody>
          <a:bodyPr wrap="none" lIns="0" tIns="0" rIns="0" bIns="0" anchor="t">
            <a:spAutoFit/>
          </a:bodyPr>
          <a:lstStyle/>
          <a:p>
            <a:pPr>
              <a:lnSpc>
                <a:spcPts val="1316"/>
              </a:lnSpc>
            </a:pPr>
            <a:r>
              <a:rPr sz="1013" dirty="0">
                <a:solidFill>
                  <a:srgbClr val="8B5CF6"/>
                </a:solidFill>
                <a:latin typeface="Plus Jakarta Sans"/>
              </a:rPr>
              <a:t>• </a:t>
            </a:r>
            <a:r>
              <a:rPr sz="1013" dirty="0" err="1">
                <a:solidFill>
                  <a:srgbClr val="334155"/>
                </a:solidFill>
                <a:latin typeface="Plus Jakarta Sans"/>
              </a:rPr>
              <a:t>Gestión</a:t>
            </a:r>
            <a:r>
              <a:rPr sz="1013" dirty="0">
                <a:solidFill>
                  <a:srgbClr val="334155"/>
                </a:solidFill>
                <a:latin typeface="Plus Jakarta Sans"/>
              </a:rPr>
              <a:t> de </a:t>
            </a:r>
            <a:r>
              <a:rPr sz="1013" dirty="0" err="1">
                <a:solidFill>
                  <a:srgbClr val="334155"/>
                </a:solidFill>
                <a:latin typeface="Plus Jakarta Sans"/>
              </a:rPr>
              <a:t>datos</a:t>
            </a:r>
            <a:r>
              <a:rPr sz="1013" dirty="0">
                <a:solidFill>
                  <a:srgbClr val="334155"/>
                </a:solidFill>
                <a:latin typeface="Plus Jakarta Sans"/>
              </a:rPr>
              <a:t> de </a:t>
            </a:r>
            <a:r>
              <a:rPr sz="1013" dirty="0" err="1">
                <a:solidFill>
                  <a:srgbClr val="334155"/>
                </a:solidFill>
                <a:latin typeface="Plus Jakarta Sans"/>
              </a:rPr>
              <a:t>platos</a:t>
            </a:r>
            <a:r>
              <a:rPr sz="1013" dirty="0">
                <a:solidFill>
                  <a:srgbClr val="334155"/>
                </a:solidFill>
                <a:latin typeface="Plus Jakarta Sans"/>
              </a:rPr>
              <a:t> y </a:t>
            </a:r>
            <a:r>
              <a:rPr sz="1013" dirty="0" err="1">
                <a:solidFill>
                  <a:srgbClr val="334155"/>
                </a:solidFill>
                <a:latin typeface="Plus Jakarta Sans"/>
              </a:rPr>
              <a:t>precios</a:t>
            </a:r>
            <a:endParaRPr sz="1013" dirty="0">
              <a:solidFill>
                <a:srgbClr val="334155"/>
              </a:solidFill>
              <a:latin typeface="Plus Jakarta Sans"/>
            </a:endParaRPr>
          </a:p>
        </p:txBody>
      </p:sp>
      <p:sp>
        <p:nvSpPr>
          <p:cNvPr id="21" name="TextBox 20"/>
          <p:cNvSpPr txBox="1"/>
          <p:nvPr/>
        </p:nvSpPr>
        <p:spPr>
          <a:xfrm>
            <a:off x="4879182" y="3293827"/>
            <a:ext cx="2947923" cy="159339"/>
          </a:xfrm>
          <a:prstGeom prst="rect">
            <a:avLst/>
          </a:prstGeom>
          <a:noFill/>
        </p:spPr>
        <p:txBody>
          <a:bodyPr wrap="none" lIns="0" tIns="0" rIns="0" bIns="0" anchor="t">
            <a:spAutoFit/>
          </a:bodyPr>
          <a:lstStyle/>
          <a:p>
            <a:pPr>
              <a:lnSpc>
                <a:spcPts val="1316"/>
              </a:lnSpc>
            </a:pPr>
            <a:r>
              <a:rPr sz="1013" dirty="0">
                <a:solidFill>
                  <a:srgbClr val="8B5CF6"/>
                </a:solidFill>
                <a:latin typeface="Plus Jakarta Sans"/>
              </a:rPr>
              <a:t>• </a:t>
            </a:r>
            <a:r>
              <a:rPr sz="1013" dirty="0" err="1">
                <a:solidFill>
                  <a:srgbClr val="334155"/>
                </a:solidFill>
                <a:latin typeface="Plus Jakarta Sans"/>
              </a:rPr>
              <a:t>Gestión</a:t>
            </a:r>
            <a:r>
              <a:rPr sz="1013" dirty="0">
                <a:solidFill>
                  <a:srgbClr val="334155"/>
                </a:solidFill>
                <a:latin typeface="Plus Jakarta Sans"/>
              </a:rPr>
              <a:t> de </a:t>
            </a:r>
            <a:r>
              <a:rPr sz="1013" dirty="0" err="1">
                <a:solidFill>
                  <a:srgbClr val="334155"/>
                </a:solidFill>
                <a:latin typeface="Plus Jakarta Sans"/>
              </a:rPr>
              <a:t>dirección</a:t>
            </a:r>
            <a:r>
              <a:rPr sz="1013" dirty="0">
                <a:solidFill>
                  <a:srgbClr val="334155"/>
                </a:solidFill>
                <a:latin typeface="Plus Jakarta Sans"/>
              </a:rPr>
              <a:t> de </a:t>
            </a:r>
            <a:r>
              <a:rPr sz="1013" dirty="0" err="1">
                <a:solidFill>
                  <a:srgbClr val="334155"/>
                </a:solidFill>
                <a:latin typeface="Plus Jakarta Sans"/>
              </a:rPr>
              <a:t>envío</a:t>
            </a:r>
            <a:r>
              <a:rPr sz="1013" dirty="0">
                <a:solidFill>
                  <a:srgbClr val="334155"/>
                </a:solidFill>
                <a:latin typeface="Plus Jakarta Sans"/>
              </a:rPr>
              <a:t> y </a:t>
            </a:r>
            <a:r>
              <a:rPr sz="1013" dirty="0" err="1">
                <a:solidFill>
                  <a:srgbClr val="334155"/>
                </a:solidFill>
                <a:latin typeface="Plus Jakarta Sans"/>
              </a:rPr>
              <a:t>comprobante</a:t>
            </a:r>
            <a:r>
              <a:rPr sz="1013" dirty="0">
                <a:solidFill>
                  <a:srgbClr val="334155"/>
                </a:solidFill>
                <a:latin typeface="Plus Jakarta Sans"/>
              </a:rPr>
              <a:t> de </a:t>
            </a:r>
            <a:r>
              <a:rPr sz="1013" dirty="0" err="1">
                <a:solidFill>
                  <a:srgbClr val="334155"/>
                </a:solidFill>
                <a:latin typeface="Plus Jakarta Sans"/>
              </a:rPr>
              <a:t>pago</a:t>
            </a:r>
            <a:endParaRPr sz="1013" dirty="0">
              <a:solidFill>
                <a:srgbClr val="334155"/>
              </a:solidFill>
              <a:latin typeface="Plus Jakarta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04800"/>
            <a:ext cx="8394192" cy="270123"/>
          </a:xfrm>
          <a:prstGeom prst="rect">
            <a:avLst/>
          </a:prstGeom>
          <a:noFill/>
          <a:ln/>
        </p:spPr>
        <p:txBody>
          <a:bodyPr wrap="square" lIns="0" tIns="0" rIns="0" bIns="0" rtlCol="0" anchor="t"/>
          <a:lstStyle/>
          <a:p>
            <a:pPr marL="0" indent="0" algn="l">
              <a:lnSpc>
                <a:spcPts val="2128"/>
              </a:lnSpc>
              <a:spcBef>
                <a:spcPts val="2400"/>
              </a:spcBef>
              <a:buNone/>
            </a:pPr>
            <a:r>
              <a:rPr lang="en-US" sz="1900" b="1" dirty="0">
                <a:solidFill>
                  <a:srgbClr val="111111"/>
                </a:solidFill>
                <a:latin typeface="Helvetica" pitchFamily="34" charset="0"/>
                <a:ea typeface="Helvetica" pitchFamily="34" charset="-122"/>
                <a:cs typeface="Helvetica" pitchFamily="34" charset="-120"/>
              </a:rPr>
              <a:t>Asignar responsabilidades (1 de 2)</a:t>
            </a:r>
            <a:endParaRPr lang="en-US" sz="1900" dirty="0"/>
          </a:p>
        </p:txBody>
      </p:sp>
      <p:sp>
        <p:nvSpPr>
          <p:cNvPr id="3" name="Text 1"/>
          <p:cNvSpPr/>
          <p:nvPr/>
        </p:nvSpPr>
        <p:spPr>
          <a:xfrm>
            <a:off x="431750" y="651123"/>
            <a:ext cx="8280350" cy="321915"/>
          </a:xfrm>
          <a:prstGeom prst="rect">
            <a:avLst/>
          </a:prstGeom>
          <a:solidFill>
            <a:srgbClr val="E4EFF8"/>
          </a:solidFill>
          <a:ln/>
        </p:spPr>
        <p:txBody>
          <a:bodyPr wrap="square" rtlCol="0" anchor="ctr"/>
          <a:lstStyle/>
          <a:p>
            <a:pPr marL="0" indent="0">
              <a:buNone/>
            </a:pPr>
            <a:endParaRPr lang="en-US" dirty="0"/>
          </a:p>
        </p:txBody>
      </p:sp>
      <p:sp>
        <p:nvSpPr>
          <p:cNvPr id="4" name="Text 2"/>
          <p:cNvSpPr/>
          <p:nvPr/>
        </p:nvSpPr>
        <p:spPr>
          <a:xfrm>
            <a:off x="507950" y="689223"/>
            <a:ext cx="318183" cy="156865"/>
          </a:xfrm>
          <a:prstGeom prst="rect">
            <a:avLst/>
          </a:prstGeom>
          <a:noFill/>
          <a:ln/>
        </p:spPr>
        <p:txBody>
          <a:bodyPr wrap="square" lIns="0" tIns="0" rIns="0" bIns="0" rtlCol="0" anchor="t"/>
          <a:lstStyle/>
          <a:p>
            <a:pPr marL="0" indent="0" algn="l">
              <a:lnSpc>
                <a:spcPts val="1235"/>
              </a:lnSpc>
              <a:spcAft>
                <a:spcPts val="700"/>
              </a:spcAft>
              <a:buNone/>
            </a:pPr>
            <a:r>
              <a:rPr lang="en-US" sz="950" b="1" dirty="0">
                <a:solidFill>
                  <a:srgbClr val="0B5C96"/>
                </a:solidFill>
                <a:latin typeface="Helvetica" pitchFamily="34" charset="0"/>
                <a:ea typeface="Helvetica" pitchFamily="34" charset="-122"/>
                <a:cs typeface="Helvetica" pitchFamily="34" charset="-120"/>
              </a:rPr>
              <a:t>#</a:t>
            </a:r>
            <a:endParaRPr lang="en-US" sz="950" dirty="0"/>
          </a:p>
        </p:txBody>
      </p:sp>
      <p:sp>
        <p:nvSpPr>
          <p:cNvPr id="5" name="Text 3"/>
          <p:cNvSpPr/>
          <p:nvPr/>
        </p:nvSpPr>
        <p:spPr>
          <a:xfrm>
            <a:off x="972294" y="689223"/>
            <a:ext cx="4895549" cy="156865"/>
          </a:xfrm>
          <a:prstGeom prst="rect">
            <a:avLst/>
          </a:prstGeom>
          <a:noFill/>
          <a:ln/>
        </p:spPr>
        <p:txBody>
          <a:bodyPr wrap="square" lIns="0" tIns="0" rIns="0" bIns="0" rtlCol="0" anchor="t"/>
          <a:lstStyle/>
          <a:p>
            <a:pPr marL="0" indent="0" algn="l">
              <a:lnSpc>
                <a:spcPts val="1235"/>
              </a:lnSpc>
              <a:spcAft>
                <a:spcPts val="700"/>
              </a:spcAft>
              <a:buNone/>
            </a:pPr>
            <a:r>
              <a:rPr lang="en-US" sz="950" b="1" dirty="0">
                <a:solidFill>
                  <a:srgbClr val="0B5C96"/>
                </a:solidFill>
                <a:latin typeface="Helvetica" pitchFamily="34" charset="0"/>
                <a:ea typeface="Helvetica" pitchFamily="34" charset="-122"/>
                <a:cs typeface="Helvetica" pitchFamily="34" charset="-120"/>
              </a:rPr>
              <a:t>Responsabilidad</a:t>
            </a:r>
            <a:endParaRPr lang="en-US" sz="950" dirty="0"/>
          </a:p>
        </p:txBody>
      </p:sp>
      <p:sp>
        <p:nvSpPr>
          <p:cNvPr id="6" name="Text 4"/>
          <p:cNvSpPr/>
          <p:nvPr/>
        </p:nvSpPr>
        <p:spPr>
          <a:xfrm>
            <a:off x="5924252" y="689223"/>
            <a:ext cx="2766033" cy="156865"/>
          </a:xfrm>
          <a:prstGeom prst="rect">
            <a:avLst/>
          </a:prstGeom>
          <a:noFill/>
          <a:ln/>
        </p:spPr>
        <p:txBody>
          <a:bodyPr wrap="square" lIns="0" tIns="0" rIns="0" bIns="0" rtlCol="0" anchor="t"/>
          <a:lstStyle/>
          <a:p>
            <a:pPr marL="0" indent="0" algn="l">
              <a:lnSpc>
                <a:spcPts val="1235"/>
              </a:lnSpc>
              <a:spcAft>
                <a:spcPts val="700"/>
              </a:spcAft>
              <a:buNone/>
            </a:pPr>
            <a:r>
              <a:rPr lang="en-US" sz="950" b="1" dirty="0">
                <a:solidFill>
                  <a:srgbClr val="0B5C96"/>
                </a:solidFill>
                <a:latin typeface="Helvetica" pitchFamily="34" charset="0"/>
                <a:ea typeface="Helvetica" pitchFamily="34" charset="-122"/>
                <a:cs typeface="Helvetica" pitchFamily="34" charset="-120"/>
              </a:rPr>
              <a:t>Componente</a:t>
            </a:r>
            <a:endParaRPr lang="en-US" sz="950" dirty="0"/>
          </a:p>
        </p:txBody>
      </p:sp>
      <p:sp>
        <p:nvSpPr>
          <p:cNvPr id="7" name="Text 5"/>
          <p:cNvSpPr/>
          <p:nvPr/>
        </p:nvSpPr>
        <p:spPr>
          <a:xfrm>
            <a:off x="431750" y="973038"/>
            <a:ext cx="8280350" cy="321915"/>
          </a:xfrm>
          <a:prstGeom prst="rect">
            <a:avLst/>
          </a:prstGeom>
          <a:solidFill>
            <a:srgbClr val="FFFFFF"/>
          </a:solidFill>
          <a:ln/>
        </p:spPr>
        <p:txBody>
          <a:bodyPr wrap="square" rtlCol="0" anchor="ctr"/>
          <a:lstStyle/>
          <a:p>
            <a:pPr marL="0" indent="0">
              <a:buNone/>
            </a:pPr>
            <a:endParaRPr lang="en-US" dirty="0"/>
          </a:p>
        </p:txBody>
      </p:sp>
      <p:sp>
        <p:nvSpPr>
          <p:cNvPr id="8" name="Text 6"/>
          <p:cNvSpPr/>
          <p:nvPr/>
        </p:nvSpPr>
        <p:spPr>
          <a:xfrm>
            <a:off x="507950" y="1011138"/>
            <a:ext cx="31818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1</a:t>
            </a:r>
            <a:endParaRPr lang="en-US" sz="950" dirty="0"/>
          </a:p>
        </p:txBody>
      </p:sp>
      <p:sp>
        <p:nvSpPr>
          <p:cNvPr id="9" name="Text 7"/>
          <p:cNvSpPr/>
          <p:nvPr/>
        </p:nvSpPr>
        <p:spPr>
          <a:xfrm>
            <a:off x="972294" y="1011138"/>
            <a:ext cx="4895549"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Mostrar el menú de un restaurante</a:t>
            </a:r>
            <a:endParaRPr lang="en-US" sz="950" dirty="0"/>
          </a:p>
        </p:txBody>
      </p:sp>
      <p:sp>
        <p:nvSpPr>
          <p:cNvPr id="10" name="Text 8"/>
          <p:cNvSpPr/>
          <p:nvPr/>
        </p:nvSpPr>
        <p:spPr>
          <a:xfrm>
            <a:off x="5924252" y="1011138"/>
            <a:ext cx="276603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Restaurante</a:t>
            </a:r>
            <a:endParaRPr lang="en-US" sz="950" dirty="0"/>
          </a:p>
        </p:txBody>
      </p:sp>
      <p:sp>
        <p:nvSpPr>
          <p:cNvPr id="11" name="Text 9"/>
          <p:cNvSpPr/>
          <p:nvPr/>
        </p:nvSpPr>
        <p:spPr>
          <a:xfrm>
            <a:off x="431750" y="1294954"/>
            <a:ext cx="8280350" cy="321915"/>
          </a:xfrm>
          <a:prstGeom prst="rect">
            <a:avLst/>
          </a:prstGeom>
          <a:solidFill>
            <a:srgbClr val="F6F6F6"/>
          </a:solidFill>
          <a:ln/>
        </p:spPr>
        <p:txBody>
          <a:bodyPr wrap="square" rtlCol="0" anchor="ctr"/>
          <a:lstStyle/>
          <a:p>
            <a:pPr marL="0" indent="0">
              <a:buNone/>
            </a:pPr>
            <a:endParaRPr lang="en-US" dirty="0"/>
          </a:p>
        </p:txBody>
      </p:sp>
      <p:sp>
        <p:nvSpPr>
          <p:cNvPr id="12" name="Text 10"/>
          <p:cNvSpPr/>
          <p:nvPr/>
        </p:nvSpPr>
        <p:spPr>
          <a:xfrm>
            <a:off x="507950" y="1333054"/>
            <a:ext cx="31818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2</a:t>
            </a:r>
            <a:endParaRPr lang="en-US" sz="950" dirty="0"/>
          </a:p>
        </p:txBody>
      </p:sp>
      <p:sp>
        <p:nvSpPr>
          <p:cNvPr id="13" name="Text 11"/>
          <p:cNvSpPr/>
          <p:nvPr/>
        </p:nvSpPr>
        <p:spPr>
          <a:xfrm>
            <a:off x="972294" y="1333054"/>
            <a:ext cx="4895549"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Saber qué restaurante corresponde a cada identificador</a:t>
            </a:r>
            <a:endParaRPr lang="en-US" sz="950" dirty="0"/>
          </a:p>
        </p:txBody>
      </p:sp>
      <p:sp>
        <p:nvSpPr>
          <p:cNvPr id="14" name="Text 12"/>
          <p:cNvSpPr/>
          <p:nvPr/>
        </p:nvSpPr>
        <p:spPr>
          <a:xfrm>
            <a:off x="5924252" y="1333054"/>
            <a:ext cx="276603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Catálogo de Restaurantes</a:t>
            </a:r>
            <a:endParaRPr lang="en-US" sz="950" dirty="0"/>
          </a:p>
        </p:txBody>
      </p:sp>
      <p:sp>
        <p:nvSpPr>
          <p:cNvPr id="15" name="Text 13"/>
          <p:cNvSpPr/>
          <p:nvPr/>
        </p:nvSpPr>
        <p:spPr>
          <a:xfrm>
            <a:off x="431750" y="1616869"/>
            <a:ext cx="8280350" cy="321915"/>
          </a:xfrm>
          <a:prstGeom prst="rect">
            <a:avLst/>
          </a:prstGeom>
          <a:solidFill>
            <a:srgbClr val="FFFFFF"/>
          </a:solidFill>
          <a:ln/>
        </p:spPr>
        <p:txBody>
          <a:bodyPr wrap="square" rtlCol="0" anchor="ctr"/>
          <a:lstStyle/>
          <a:p>
            <a:pPr marL="0" indent="0">
              <a:buNone/>
            </a:pPr>
            <a:endParaRPr lang="en-US" dirty="0"/>
          </a:p>
        </p:txBody>
      </p:sp>
      <p:sp>
        <p:nvSpPr>
          <p:cNvPr id="16" name="Text 14"/>
          <p:cNvSpPr/>
          <p:nvPr/>
        </p:nvSpPr>
        <p:spPr>
          <a:xfrm>
            <a:off x="507950" y="1654969"/>
            <a:ext cx="31818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3</a:t>
            </a:r>
            <a:endParaRPr lang="en-US" sz="950" dirty="0"/>
          </a:p>
        </p:txBody>
      </p:sp>
      <p:sp>
        <p:nvSpPr>
          <p:cNvPr id="17" name="Text 15"/>
          <p:cNvSpPr/>
          <p:nvPr/>
        </p:nvSpPr>
        <p:spPr>
          <a:xfrm>
            <a:off x="972294" y="1654969"/>
            <a:ext cx="4895549"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Saber qué plato corresponde a cada identificador</a:t>
            </a:r>
            <a:endParaRPr lang="en-US" sz="950" dirty="0"/>
          </a:p>
        </p:txBody>
      </p:sp>
      <p:sp>
        <p:nvSpPr>
          <p:cNvPr id="18" name="Text 16"/>
          <p:cNvSpPr/>
          <p:nvPr/>
        </p:nvSpPr>
        <p:spPr>
          <a:xfrm>
            <a:off x="5924252" y="1654969"/>
            <a:ext cx="276603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Restaurante</a:t>
            </a:r>
            <a:endParaRPr lang="en-US" sz="950" dirty="0"/>
          </a:p>
        </p:txBody>
      </p:sp>
      <p:sp>
        <p:nvSpPr>
          <p:cNvPr id="19" name="Text 17"/>
          <p:cNvSpPr/>
          <p:nvPr/>
        </p:nvSpPr>
        <p:spPr>
          <a:xfrm>
            <a:off x="431750" y="1938784"/>
            <a:ext cx="8280350" cy="321915"/>
          </a:xfrm>
          <a:prstGeom prst="rect">
            <a:avLst/>
          </a:prstGeom>
          <a:solidFill>
            <a:srgbClr val="F6F6F6"/>
          </a:solidFill>
          <a:ln/>
        </p:spPr>
        <p:txBody>
          <a:bodyPr wrap="square" rtlCol="0" anchor="ctr"/>
          <a:lstStyle/>
          <a:p>
            <a:pPr marL="0" indent="0">
              <a:buNone/>
            </a:pPr>
            <a:endParaRPr lang="en-US" dirty="0"/>
          </a:p>
        </p:txBody>
      </p:sp>
      <p:sp>
        <p:nvSpPr>
          <p:cNvPr id="20" name="Text 18"/>
          <p:cNvSpPr/>
          <p:nvPr/>
        </p:nvSpPr>
        <p:spPr>
          <a:xfrm>
            <a:off x="507950" y="1976884"/>
            <a:ext cx="31818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4</a:t>
            </a:r>
            <a:endParaRPr lang="en-US" sz="950" dirty="0"/>
          </a:p>
        </p:txBody>
      </p:sp>
      <p:sp>
        <p:nvSpPr>
          <p:cNvPr id="21" name="Text 19"/>
          <p:cNvSpPr/>
          <p:nvPr/>
        </p:nvSpPr>
        <p:spPr>
          <a:xfrm>
            <a:off x="972294" y="1976884"/>
            <a:ext cx="4895549"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Agregar o quitar un plato del carrito</a:t>
            </a:r>
            <a:endParaRPr lang="en-US" sz="950" dirty="0"/>
          </a:p>
        </p:txBody>
      </p:sp>
      <p:sp>
        <p:nvSpPr>
          <p:cNvPr id="22" name="Text 20"/>
          <p:cNvSpPr/>
          <p:nvPr/>
        </p:nvSpPr>
        <p:spPr>
          <a:xfrm>
            <a:off x="5924252" y="1976884"/>
            <a:ext cx="276603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Carrito</a:t>
            </a:r>
            <a:endParaRPr lang="en-US" sz="950" dirty="0"/>
          </a:p>
        </p:txBody>
      </p:sp>
      <p:sp>
        <p:nvSpPr>
          <p:cNvPr id="23" name="Text 21"/>
          <p:cNvSpPr/>
          <p:nvPr/>
        </p:nvSpPr>
        <p:spPr>
          <a:xfrm>
            <a:off x="431750" y="2260699"/>
            <a:ext cx="8280350" cy="321915"/>
          </a:xfrm>
          <a:prstGeom prst="rect">
            <a:avLst/>
          </a:prstGeom>
          <a:solidFill>
            <a:srgbClr val="FFFFFF"/>
          </a:solidFill>
          <a:ln/>
        </p:spPr>
        <p:txBody>
          <a:bodyPr wrap="square" rtlCol="0" anchor="ctr"/>
          <a:lstStyle/>
          <a:p>
            <a:pPr marL="0" indent="0">
              <a:buNone/>
            </a:pPr>
            <a:endParaRPr lang="en-US" dirty="0"/>
          </a:p>
        </p:txBody>
      </p:sp>
      <p:sp>
        <p:nvSpPr>
          <p:cNvPr id="24" name="Text 22"/>
          <p:cNvSpPr/>
          <p:nvPr/>
        </p:nvSpPr>
        <p:spPr>
          <a:xfrm>
            <a:off x="507950" y="2298799"/>
            <a:ext cx="31818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5</a:t>
            </a:r>
            <a:endParaRPr lang="en-US" sz="950" dirty="0"/>
          </a:p>
        </p:txBody>
      </p:sp>
      <p:sp>
        <p:nvSpPr>
          <p:cNvPr id="25" name="Text 23"/>
          <p:cNvSpPr/>
          <p:nvPr/>
        </p:nvSpPr>
        <p:spPr>
          <a:xfrm>
            <a:off x="972294" y="2298799"/>
            <a:ext cx="4895549"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Calcular el total del carrito (platos + domicilio + propina)</a:t>
            </a:r>
            <a:endParaRPr lang="en-US" sz="950" dirty="0"/>
          </a:p>
        </p:txBody>
      </p:sp>
      <p:sp>
        <p:nvSpPr>
          <p:cNvPr id="26" name="Text 24"/>
          <p:cNvSpPr/>
          <p:nvPr/>
        </p:nvSpPr>
        <p:spPr>
          <a:xfrm>
            <a:off x="5924252" y="2298799"/>
            <a:ext cx="276603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Carrito</a:t>
            </a:r>
            <a:endParaRPr lang="en-US" sz="950" dirty="0"/>
          </a:p>
        </p:txBody>
      </p:sp>
      <p:sp>
        <p:nvSpPr>
          <p:cNvPr id="27" name="Text 25"/>
          <p:cNvSpPr/>
          <p:nvPr/>
        </p:nvSpPr>
        <p:spPr>
          <a:xfrm>
            <a:off x="431750" y="2582614"/>
            <a:ext cx="8280350" cy="321915"/>
          </a:xfrm>
          <a:prstGeom prst="rect">
            <a:avLst/>
          </a:prstGeom>
          <a:solidFill>
            <a:srgbClr val="F6F6F6"/>
          </a:solidFill>
          <a:ln/>
        </p:spPr>
        <p:txBody>
          <a:bodyPr wrap="square" rtlCol="0" anchor="ctr"/>
          <a:lstStyle/>
          <a:p>
            <a:pPr marL="0" indent="0">
              <a:buNone/>
            </a:pPr>
            <a:endParaRPr lang="en-US" dirty="0"/>
          </a:p>
        </p:txBody>
      </p:sp>
      <p:sp>
        <p:nvSpPr>
          <p:cNvPr id="28" name="Text 26"/>
          <p:cNvSpPr/>
          <p:nvPr/>
        </p:nvSpPr>
        <p:spPr>
          <a:xfrm>
            <a:off x="507950" y="2620714"/>
            <a:ext cx="31818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6</a:t>
            </a:r>
            <a:endParaRPr lang="en-US" sz="950" dirty="0"/>
          </a:p>
        </p:txBody>
      </p:sp>
      <p:sp>
        <p:nvSpPr>
          <p:cNvPr id="29" name="Text 27"/>
          <p:cNvSpPr/>
          <p:nvPr/>
        </p:nvSpPr>
        <p:spPr>
          <a:xfrm>
            <a:off x="972294" y="2620714"/>
            <a:ext cx="4895549"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Mantener los carritos activos y entregar el de cada usuario</a:t>
            </a:r>
            <a:endParaRPr lang="en-US" sz="950" dirty="0"/>
          </a:p>
        </p:txBody>
      </p:sp>
      <p:sp>
        <p:nvSpPr>
          <p:cNvPr id="30" name="Text 28"/>
          <p:cNvSpPr/>
          <p:nvPr/>
        </p:nvSpPr>
        <p:spPr>
          <a:xfrm>
            <a:off x="5924252" y="2620714"/>
            <a:ext cx="276603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Manejador de Carritos</a:t>
            </a:r>
            <a:endParaRPr lang="en-US" sz="950" dirty="0"/>
          </a:p>
        </p:txBody>
      </p:sp>
      <p:sp>
        <p:nvSpPr>
          <p:cNvPr id="31" name="Text 29"/>
          <p:cNvSpPr/>
          <p:nvPr/>
        </p:nvSpPr>
        <p:spPr>
          <a:xfrm>
            <a:off x="431750" y="2904530"/>
            <a:ext cx="8280350" cy="321915"/>
          </a:xfrm>
          <a:prstGeom prst="rect">
            <a:avLst/>
          </a:prstGeom>
          <a:solidFill>
            <a:srgbClr val="FFFFFF"/>
          </a:solidFill>
          <a:ln/>
        </p:spPr>
        <p:txBody>
          <a:bodyPr wrap="square" rtlCol="0" anchor="ctr"/>
          <a:lstStyle/>
          <a:p>
            <a:pPr marL="0" indent="0">
              <a:buNone/>
            </a:pPr>
            <a:endParaRPr lang="en-US" dirty="0"/>
          </a:p>
        </p:txBody>
      </p:sp>
      <p:sp>
        <p:nvSpPr>
          <p:cNvPr id="32" name="Text 30"/>
          <p:cNvSpPr/>
          <p:nvPr/>
        </p:nvSpPr>
        <p:spPr>
          <a:xfrm>
            <a:off x="507950" y="2942630"/>
            <a:ext cx="31818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7</a:t>
            </a:r>
            <a:endParaRPr lang="en-US" sz="950" dirty="0"/>
          </a:p>
        </p:txBody>
      </p:sp>
      <p:sp>
        <p:nvSpPr>
          <p:cNvPr id="33" name="Text 31"/>
          <p:cNvSpPr/>
          <p:nvPr/>
        </p:nvSpPr>
        <p:spPr>
          <a:xfrm>
            <a:off x="972294" y="2942630"/>
            <a:ext cx="4895549"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Decidir si el pedido es viable (restaurante abierto, dirección cubierta)</a:t>
            </a:r>
            <a:endParaRPr lang="en-US" sz="950" dirty="0"/>
          </a:p>
        </p:txBody>
      </p:sp>
      <p:sp>
        <p:nvSpPr>
          <p:cNvPr id="34" name="Text 32"/>
          <p:cNvSpPr/>
          <p:nvPr/>
        </p:nvSpPr>
        <p:spPr>
          <a:xfrm>
            <a:off x="5924252" y="2942630"/>
            <a:ext cx="276603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Pedido</a:t>
            </a:r>
            <a:endParaRPr lang="en-US" sz="950" dirty="0"/>
          </a:p>
        </p:txBody>
      </p:sp>
      <p:sp>
        <p:nvSpPr>
          <p:cNvPr id="35" name="Text 33"/>
          <p:cNvSpPr/>
          <p:nvPr/>
        </p:nvSpPr>
        <p:spPr>
          <a:xfrm>
            <a:off x="431750" y="3226445"/>
            <a:ext cx="8280350" cy="321915"/>
          </a:xfrm>
          <a:prstGeom prst="rect">
            <a:avLst/>
          </a:prstGeom>
          <a:solidFill>
            <a:srgbClr val="F6F6F6"/>
          </a:solidFill>
          <a:ln/>
        </p:spPr>
        <p:txBody>
          <a:bodyPr wrap="square" rtlCol="0" anchor="ctr"/>
          <a:lstStyle/>
          <a:p>
            <a:pPr marL="0" indent="0">
              <a:buNone/>
            </a:pPr>
            <a:endParaRPr lang="en-US" dirty="0"/>
          </a:p>
        </p:txBody>
      </p:sp>
      <p:sp>
        <p:nvSpPr>
          <p:cNvPr id="36" name="Text 34"/>
          <p:cNvSpPr/>
          <p:nvPr/>
        </p:nvSpPr>
        <p:spPr>
          <a:xfrm>
            <a:off x="507950" y="3264545"/>
            <a:ext cx="31818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8</a:t>
            </a:r>
            <a:endParaRPr lang="en-US" sz="950" dirty="0"/>
          </a:p>
        </p:txBody>
      </p:sp>
      <p:sp>
        <p:nvSpPr>
          <p:cNvPr id="37" name="Text 35"/>
          <p:cNvSpPr/>
          <p:nvPr/>
        </p:nvSpPr>
        <p:spPr>
          <a:xfrm>
            <a:off x="972294" y="3264545"/>
            <a:ext cx="4895549"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Confirmar el pedido y coordinar todo lo que eso implica</a:t>
            </a:r>
            <a:endParaRPr lang="en-US" sz="950" dirty="0"/>
          </a:p>
        </p:txBody>
      </p:sp>
      <p:sp>
        <p:nvSpPr>
          <p:cNvPr id="38" name="Text 36"/>
          <p:cNvSpPr/>
          <p:nvPr/>
        </p:nvSpPr>
        <p:spPr>
          <a:xfrm>
            <a:off x="5924252" y="3264545"/>
            <a:ext cx="276603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Pedido</a:t>
            </a:r>
            <a:endParaRPr lang="en-US" sz="950" dirty="0"/>
          </a:p>
        </p:txBody>
      </p:sp>
      <p:sp>
        <p:nvSpPr>
          <p:cNvPr id="39" name="Text 37"/>
          <p:cNvSpPr/>
          <p:nvPr/>
        </p:nvSpPr>
        <p:spPr>
          <a:xfrm>
            <a:off x="431750" y="3548360"/>
            <a:ext cx="8280350" cy="321915"/>
          </a:xfrm>
          <a:prstGeom prst="rect">
            <a:avLst/>
          </a:prstGeom>
          <a:solidFill>
            <a:srgbClr val="FFFFFF"/>
          </a:solidFill>
          <a:ln/>
        </p:spPr>
        <p:txBody>
          <a:bodyPr wrap="square" rtlCol="0" anchor="ctr"/>
          <a:lstStyle/>
          <a:p>
            <a:pPr marL="0" indent="0">
              <a:buNone/>
            </a:pPr>
            <a:endParaRPr lang="en-US" dirty="0"/>
          </a:p>
        </p:txBody>
      </p:sp>
      <p:sp>
        <p:nvSpPr>
          <p:cNvPr id="40" name="Text 38"/>
          <p:cNvSpPr/>
          <p:nvPr/>
        </p:nvSpPr>
        <p:spPr>
          <a:xfrm>
            <a:off x="507950" y="3586460"/>
            <a:ext cx="31818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9</a:t>
            </a:r>
            <a:endParaRPr lang="en-US" sz="950" dirty="0"/>
          </a:p>
        </p:txBody>
      </p:sp>
      <p:sp>
        <p:nvSpPr>
          <p:cNvPr id="41" name="Text 39"/>
          <p:cNvSpPr/>
          <p:nvPr/>
        </p:nvSpPr>
        <p:spPr>
          <a:xfrm>
            <a:off x="972294" y="3586460"/>
            <a:ext cx="4895549"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Cobrarle al usuario</a:t>
            </a:r>
            <a:endParaRPr lang="en-US" sz="950" dirty="0"/>
          </a:p>
        </p:txBody>
      </p:sp>
      <p:sp>
        <p:nvSpPr>
          <p:cNvPr id="42" name="Text 40"/>
          <p:cNvSpPr/>
          <p:nvPr/>
        </p:nvSpPr>
        <p:spPr>
          <a:xfrm>
            <a:off x="5924252" y="3586460"/>
            <a:ext cx="276603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Pasarela de Pagos</a:t>
            </a:r>
            <a:endParaRPr lang="en-US" sz="950" dirty="0"/>
          </a:p>
        </p:txBody>
      </p:sp>
      <p:sp>
        <p:nvSpPr>
          <p:cNvPr id="43" name="Text 41"/>
          <p:cNvSpPr/>
          <p:nvPr/>
        </p:nvSpPr>
        <p:spPr>
          <a:xfrm>
            <a:off x="431750" y="3870275"/>
            <a:ext cx="8280350" cy="321915"/>
          </a:xfrm>
          <a:prstGeom prst="rect">
            <a:avLst/>
          </a:prstGeom>
          <a:solidFill>
            <a:srgbClr val="F6F6F6"/>
          </a:solidFill>
          <a:ln/>
        </p:spPr>
        <p:txBody>
          <a:bodyPr wrap="square" rtlCol="0" anchor="ctr"/>
          <a:lstStyle/>
          <a:p>
            <a:pPr marL="0" indent="0">
              <a:buNone/>
            </a:pPr>
            <a:endParaRPr lang="en-US" dirty="0"/>
          </a:p>
        </p:txBody>
      </p:sp>
      <p:sp>
        <p:nvSpPr>
          <p:cNvPr id="44" name="Text 42"/>
          <p:cNvSpPr/>
          <p:nvPr/>
        </p:nvSpPr>
        <p:spPr>
          <a:xfrm>
            <a:off x="507950" y="3908375"/>
            <a:ext cx="31818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10</a:t>
            </a:r>
            <a:endParaRPr lang="en-US" sz="950" dirty="0"/>
          </a:p>
        </p:txBody>
      </p:sp>
      <p:sp>
        <p:nvSpPr>
          <p:cNvPr id="45" name="Text 43"/>
          <p:cNvSpPr/>
          <p:nvPr/>
        </p:nvSpPr>
        <p:spPr>
          <a:xfrm>
            <a:off x="972294" y="3908375"/>
            <a:ext cx="4895549"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Guardar el comprobante del cobro</a:t>
            </a:r>
            <a:endParaRPr lang="en-US" sz="950" dirty="0"/>
          </a:p>
        </p:txBody>
      </p:sp>
      <p:sp>
        <p:nvSpPr>
          <p:cNvPr id="46" name="Text 44"/>
          <p:cNvSpPr/>
          <p:nvPr/>
        </p:nvSpPr>
        <p:spPr>
          <a:xfrm>
            <a:off x="5924252" y="3908375"/>
            <a:ext cx="276603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Pago</a:t>
            </a:r>
            <a:endParaRPr lang="en-US" sz="950" dirty="0"/>
          </a:p>
        </p:txBody>
      </p:sp>
      <p:sp>
        <p:nvSpPr>
          <p:cNvPr id="47" name="Text 45"/>
          <p:cNvSpPr/>
          <p:nvPr/>
        </p:nvSpPr>
        <p:spPr>
          <a:xfrm>
            <a:off x="431750" y="4192191"/>
            <a:ext cx="8280350" cy="321915"/>
          </a:xfrm>
          <a:prstGeom prst="rect">
            <a:avLst/>
          </a:prstGeom>
          <a:solidFill>
            <a:srgbClr val="FFFFFF"/>
          </a:solidFill>
          <a:ln/>
        </p:spPr>
        <p:txBody>
          <a:bodyPr wrap="square" rtlCol="0" anchor="ctr"/>
          <a:lstStyle/>
          <a:p>
            <a:pPr marL="0" indent="0">
              <a:buNone/>
            </a:pPr>
            <a:endParaRPr lang="en-US" dirty="0"/>
          </a:p>
        </p:txBody>
      </p:sp>
      <p:sp>
        <p:nvSpPr>
          <p:cNvPr id="48" name="Text 46"/>
          <p:cNvSpPr/>
          <p:nvPr/>
        </p:nvSpPr>
        <p:spPr>
          <a:xfrm>
            <a:off x="507950" y="4230291"/>
            <a:ext cx="31818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11</a:t>
            </a:r>
            <a:endParaRPr lang="en-US" sz="950" dirty="0"/>
          </a:p>
        </p:txBody>
      </p:sp>
      <p:sp>
        <p:nvSpPr>
          <p:cNvPr id="49" name="Text 47"/>
          <p:cNvSpPr/>
          <p:nvPr/>
        </p:nvSpPr>
        <p:spPr>
          <a:xfrm>
            <a:off x="972294" y="4230291"/>
            <a:ext cx="4895549"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Decidir qué repartidor atiende un pedido</a:t>
            </a:r>
            <a:endParaRPr lang="en-US" sz="950" dirty="0"/>
          </a:p>
        </p:txBody>
      </p:sp>
      <p:sp>
        <p:nvSpPr>
          <p:cNvPr id="50" name="Text 48"/>
          <p:cNvSpPr/>
          <p:nvPr/>
        </p:nvSpPr>
        <p:spPr>
          <a:xfrm>
            <a:off x="5924252" y="4230291"/>
            <a:ext cx="276603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Despachador</a:t>
            </a:r>
            <a:endParaRPr lang="en-US" sz="950" dirty="0"/>
          </a:p>
        </p:txBody>
      </p:sp>
      <p:sp>
        <p:nvSpPr>
          <p:cNvPr id="51" name="Text 49"/>
          <p:cNvSpPr/>
          <p:nvPr/>
        </p:nvSpPr>
        <p:spPr>
          <a:xfrm>
            <a:off x="431750" y="4615607"/>
            <a:ext cx="8445957" cy="329803"/>
          </a:xfrm>
          <a:prstGeom prst="rect">
            <a:avLst/>
          </a:prstGeom>
          <a:noFill/>
          <a:ln/>
        </p:spPr>
        <p:txBody>
          <a:bodyPr wrap="square" lIns="0" tIns="0" rIns="0" bIns="0" rtlCol="0" anchor="t"/>
          <a:lstStyle/>
          <a:p>
            <a:pPr marL="0" indent="0" algn="l">
              <a:lnSpc>
                <a:spcPts val="1300"/>
              </a:lnSpc>
              <a:spcBef>
                <a:spcPts val="800"/>
              </a:spcBef>
              <a:spcAft>
                <a:spcPts val="700"/>
              </a:spcAft>
              <a:buNone/>
            </a:pPr>
            <a:r>
              <a:rPr lang="en-US" sz="1000" dirty="0">
                <a:solidFill>
                  <a:srgbClr val="4A4A4A"/>
                </a:solidFill>
                <a:latin typeface="Helvetica" pitchFamily="34" charset="0"/>
                <a:ea typeface="Helvetica" pitchFamily="34" charset="-122"/>
                <a:cs typeface="Helvetica" pitchFamily="34" charset="-120"/>
              </a:rPr>
              <a:t>La asignación se hace con base en el nombre y en el estereotipo de cada candidato. Nótese que el </a:t>
            </a:r>
            <a:r>
              <a:rPr lang="en-US" sz="1000" b="1" dirty="0">
                <a:solidFill>
                  <a:srgbClr val="4A4A4A"/>
                </a:solidFill>
                <a:latin typeface="Helvetica" pitchFamily="34" charset="0"/>
                <a:ea typeface="Helvetica" pitchFamily="34" charset="-122"/>
                <a:cs typeface="Helvetica" pitchFamily="34" charset="-120"/>
              </a:rPr>
              <a:t>Carrito</a:t>
            </a:r>
            <a:r>
              <a:rPr lang="en-US" sz="1000" dirty="0">
                <a:solidFill>
                  <a:srgbClr val="4A4A4A"/>
                </a:solidFill>
                <a:latin typeface="Helvetica" pitchFamily="34" charset="0"/>
                <a:ea typeface="Helvetica" pitchFamily="34" charset="-122"/>
                <a:cs typeface="Helvetica" pitchFamily="34" charset="-120"/>
              </a:rPr>
              <a:t>, y no el Manejador de Carritos, es el que sabe sumar: la información y el comportamiento que la usa se quedan juntos.</a:t>
            </a:r>
            <a:endParaRPr lang="en-US" sz="1000" dirty="0"/>
          </a:p>
        </p:txBody>
      </p:sp>
      <p:sp>
        <p:nvSpPr>
          <p:cNvPr id="52" name="Text 50"/>
          <p:cNvSpPr/>
          <p:nvPr/>
        </p:nvSpPr>
        <p:spPr>
          <a:xfrm>
            <a:off x="8737402" y="4842570"/>
            <a:ext cx="129793" cy="148530"/>
          </a:xfrm>
          <a:prstGeom prst="rect">
            <a:avLst/>
          </a:prstGeom>
          <a:noFill/>
          <a:ln/>
        </p:spPr>
        <p:txBody>
          <a:bodyPr wrap="square" lIns="0" tIns="0" rIns="0" bIns="0" rtlCol="0" anchor="t"/>
          <a:lstStyle/>
          <a:p>
            <a:pPr marL="0" indent="0" algn="l">
              <a:lnSpc>
                <a:spcPts val="1170"/>
              </a:lnSpc>
              <a:buNone/>
            </a:pPr>
            <a:r>
              <a:rPr lang="en-US" sz="900" dirty="0">
                <a:solidFill>
                  <a:srgbClr val="9A9A9A"/>
                </a:solidFill>
                <a:latin typeface="Helvetica" pitchFamily="34" charset="0"/>
                <a:ea typeface="Helvetica" pitchFamily="34" charset="-122"/>
                <a:cs typeface="Helvetica" pitchFamily="34" charset="-120"/>
              </a:rPr>
              <a:t>15</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04800"/>
            <a:ext cx="8394192" cy="270123"/>
          </a:xfrm>
          <a:prstGeom prst="rect">
            <a:avLst/>
          </a:prstGeom>
          <a:noFill/>
          <a:ln/>
        </p:spPr>
        <p:txBody>
          <a:bodyPr wrap="square" lIns="0" tIns="0" rIns="0" bIns="0" rtlCol="0" anchor="t"/>
          <a:lstStyle/>
          <a:p>
            <a:pPr marL="0" indent="0" algn="l">
              <a:lnSpc>
                <a:spcPts val="2128"/>
              </a:lnSpc>
              <a:spcBef>
                <a:spcPts val="2400"/>
              </a:spcBef>
              <a:buNone/>
            </a:pPr>
            <a:r>
              <a:rPr lang="en-US" sz="1900" b="1" dirty="0">
                <a:solidFill>
                  <a:srgbClr val="111111"/>
                </a:solidFill>
                <a:latin typeface="Helvetica" pitchFamily="34" charset="0"/>
                <a:ea typeface="Helvetica" pitchFamily="34" charset="-122"/>
                <a:cs typeface="Helvetica" pitchFamily="34" charset="-120"/>
              </a:rPr>
              <a:t>Asignar responsabilidades (2 de 2)</a:t>
            </a:r>
            <a:endParaRPr lang="en-US" sz="1900" dirty="0"/>
          </a:p>
        </p:txBody>
      </p:sp>
      <p:sp>
        <p:nvSpPr>
          <p:cNvPr id="3" name="Text 1"/>
          <p:cNvSpPr/>
          <p:nvPr/>
        </p:nvSpPr>
        <p:spPr>
          <a:xfrm>
            <a:off x="431750" y="651123"/>
            <a:ext cx="8280350" cy="321915"/>
          </a:xfrm>
          <a:prstGeom prst="rect">
            <a:avLst/>
          </a:prstGeom>
          <a:solidFill>
            <a:srgbClr val="E4EFF8"/>
          </a:solidFill>
          <a:ln/>
        </p:spPr>
        <p:txBody>
          <a:bodyPr wrap="square" rtlCol="0" anchor="ctr"/>
          <a:lstStyle/>
          <a:p>
            <a:pPr marL="0" indent="0">
              <a:buNone/>
            </a:pPr>
            <a:endParaRPr lang="en-US" dirty="0"/>
          </a:p>
        </p:txBody>
      </p:sp>
      <p:sp>
        <p:nvSpPr>
          <p:cNvPr id="4" name="Text 2"/>
          <p:cNvSpPr/>
          <p:nvPr/>
        </p:nvSpPr>
        <p:spPr>
          <a:xfrm>
            <a:off x="507950" y="689223"/>
            <a:ext cx="318183" cy="156865"/>
          </a:xfrm>
          <a:prstGeom prst="rect">
            <a:avLst/>
          </a:prstGeom>
          <a:noFill/>
          <a:ln/>
        </p:spPr>
        <p:txBody>
          <a:bodyPr wrap="square" lIns="0" tIns="0" rIns="0" bIns="0" rtlCol="0" anchor="t"/>
          <a:lstStyle/>
          <a:p>
            <a:pPr marL="0" indent="0" algn="l">
              <a:lnSpc>
                <a:spcPts val="1235"/>
              </a:lnSpc>
              <a:spcAft>
                <a:spcPts val="700"/>
              </a:spcAft>
              <a:buNone/>
            </a:pPr>
            <a:r>
              <a:rPr lang="en-US" sz="950" b="1" dirty="0">
                <a:solidFill>
                  <a:srgbClr val="0B5C96"/>
                </a:solidFill>
                <a:latin typeface="Helvetica" pitchFamily="34" charset="0"/>
                <a:ea typeface="Helvetica" pitchFamily="34" charset="-122"/>
                <a:cs typeface="Helvetica" pitchFamily="34" charset="-120"/>
              </a:rPr>
              <a:t>#</a:t>
            </a:r>
            <a:endParaRPr lang="en-US" sz="950" dirty="0"/>
          </a:p>
        </p:txBody>
      </p:sp>
      <p:sp>
        <p:nvSpPr>
          <p:cNvPr id="5" name="Text 3"/>
          <p:cNvSpPr/>
          <p:nvPr/>
        </p:nvSpPr>
        <p:spPr>
          <a:xfrm>
            <a:off x="972294" y="689223"/>
            <a:ext cx="4895549" cy="156865"/>
          </a:xfrm>
          <a:prstGeom prst="rect">
            <a:avLst/>
          </a:prstGeom>
          <a:noFill/>
          <a:ln/>
        </p:spPr>
        <p:txBody>
          <a:bodyPr wrap="square" lIns="0" tIns="0" rIns="0" bIns="0" rtlCol="0" anchor="t"/>
          <a:lstStyle/>
          <a:p>
            <a:pPr marL="0" indent="0" algn="l">
              <a:lnSpc>
                <a:spcPts val="1235"/>
              </a:lnSpc>
              <a:spcAft>
                <a:spcPts val="700"/>
              </a:spcAft>
              <a:buNone/>
            </a:pPr>
            <a:r>
              <a:rPr lang="en-US" sz="950" b="1" dirty="0">
                <a:solidFill>
                  <a:srgbClr val="0B5C96"/>
                </a:solidFill>
                <a:latin typeface="Helvetica" pitchFamily="34" charset="0"/>
                <a:ea typeface="Helvetica" pitchFamily="34" charset="-122"/>
                <a:cs typeface="Helvetica" pitchFamily="34" charset="-120"/>
              </a:rPr>
              <a:t>Responsabilidad</a:t>
            </a:r>
            <a:endParaRPr lang="en-US" sz="950" dirty="0"/>
          </a:p>
        </p:txBody>
      </p:sp>
      <p:sp>
        <p:nvSpPr>
          <p:cNvPr id="6" name="Text 4"/>
          <p:cNvSpPr/>
          <p:nvPr/>
        </p:nvSpPr>
        <p:spPr>
          <a:xfrm>
            <a:off x="5924252" y="689223"/>
            <a:ext cx="2766033" cy="156865"/>
          </a:xfrm>
          <a:prstGeom prst="rect">
            <a:avLst/>
          </a:prstGeom>
          <a:noFill/>
          <a:ln/>
        </p:spPr>
        <p:txBody>
          <a:bodyPr wrap="square" lIns="0" tIns="0" rIns="0" bIns="0" rtlCol="0" anchor="t"/>
          <a:lstStyle/>
          <a:p>
            <a:pPr marL="0" indent="0" algn="l">
              <a:lnSpc>
                <a:spcPts val="1235"/>
              </a:lnSpc>
              <a:spcAft>
                <a:spcPts val="700"/>
              </a:spcAft>
              <a:buNone/>
            </a:pPr>
            <a:r>
              <a:rPr lang="en-US" sz="950" b="1" dirty="0">
                <a:solidFill>
                  <a:srgbClr val="0B5C96"/>
                </a:solidFill>
                <a:latin typeface="Helvetica" pitchFamily="34" charset="0"/>
                <a:ea typeface="Helvetica" pitchFamily="34" charset="-122"/>
                <a:cs typeface="Helvetica" pitchFamily="34" charset="-120"/>
              </a:rPr>
              <a:t>Componente</a:t>
            </a:r>
            <a:endParaRPr lang="en-US" sz="950" dirty="0"/>
          </a:p>
        </p:txBody>
      </p:sp>
      <p:sp>
        <p:nvSpPr>
          <p:cNvPr id="7" name="Text 5"/>
          <p:cNvSpPr/>
          <p:nvPr/>
        </p:nvSpPr>
        <p:spPr>
          <a:xfrm>
            <a:off x="431750" y="973038"/>
            <a:ext cx="8280350" cy="321915"/>
          </a:xfrm>
          <a:prstGeom prst="rect">
            <a:avLst/>
          </a:prstGeom>
          <a:solidFill>
            <a:srgbClr val="FFFFFF"/>
          </a:solidFill>
          <a:ln/>
        </p:spPr>
        <p:txBody>
          <a:bodyPr wrap="square" rtlCol="0" anchor="ctr"/>
          <a:lstStyle/>
          <a:p>
            <a:pPr marL="0" indent="0">
              <a:buNone/>
            </a:pPr>
            <a:endParaRPr lang="en-US" dirty="0"/>
          </a:p>
        </p:txBody>
      </p:sp>
      <p:sp>
        <p:nvSpPr>
          <p:cNvPr id="8" name="Text 6"/>
          <p:cNvSpPr/>
          <p:nvPr/>
        </p:nvSpPr>
        <p:spPr>
          <a:xfrm>
            <a:off x="507950" y="1011138"/>
            <a:ext cx="31818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12</a:t>
            </a:r>
            <a:endParaRPr lang="en-US" sz="950" dirty="0"/>
          </a:p>
        </p:txBody>
      </p:sp>
      <p:sp>
        <p:nvSpPr>
          <p:cNvPr id="9" name="Text 7"/>
          <p:cNvSpPr/>
          <p:nvPr/>
        </p:nvSpPr>
        <p:spPr>
          <a:xfrm>
            <a:off x="972294" y="1011138"/>
            <a:ext cx="4895549"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Estimar distancias y tiempos entre puntos</a:t>
            </a:r>
            <a:endParaRPr lang="en-US" sz="950" dirty="0"/>
          </a:p>
        </p:txBody>
      </p:sp>
      <p:sp>
        <p:nvSpPr>
          <p:cNvPr id="10" name="Text 8"/>
          <p:cNvSpPr/>
          <p:nvPr/>
        </p:nvSpPr>
        <p:spPr>
          <a:xfrm>
            <a:off x="5924252" y="1011138"/>
            <a:ext cx="276603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Servicio de Mapas</a:t>
            </a:r>
            <a:endParaRPr lang="en-US" sz="950" dirty="0"/>
          </a:p>
        </p:txBody>
      </p:sp>
      <p:sp>
        <p:nvSpPr>
          <p:cNvPr id="11" name="Text 9"/>
          <p:cNvSpPr/>
          <p:nvPr/>
        </p:nvSpPr>
        <p:spPr>
          <a:xfrm>
            <a:off x="431750" y="1294954"/>
            <a:ext cx="8280350" cy="321915"/>
          </a:xfrm>
          <a:prstGeom prst="rect">
            <a:avLst/>
          </a:prstGeom>
          <a:solidFill>
            <a:srgbClr val="F6F6F6"/>
          </a:solidFill>
          <a:ln/>
        </p:spPr>
        <p:txBody>
          <a:bodyPr wrap="square" rtlCol="0" anchor="ctr"/>
          <a:lstStyle/>
          <a:p>
            <a:pPr marL="0" indent="0">
              <a:buNone/>
            </a:pPr>
            <a:endParaRPr lang="en-US" dirty="0"/>
          </a:p>
        </p:txBody>
      </p:sp>
      <p:sp>
        <p:nvSpPr>
          <p:cNvPr id="12" name="Text 10"/>
          <p:cNvSpPr/>
          <p:nvPr/>
        </p:nvSpPr>
        <p:spPr>
          <a:xfrm>
            <a:off x="507950" y="1333054"/>
            <a:ext cx="31818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13</a:t>
            </a:r>
            <a:endParaRPr lang="en-US" sz="950" dirty="0"/>
          </a:p>
        </p:txBody>
      </p:sp>
      <p:sp>
        <p:nvSpPr>
          <p:cNvPr id="13" name="Text 11"/>
          <p:cNvSpPr/>
          <p:nvPr/>
        </p:nvSpPr>
        <p:spPr>
          <a:xfrm>
            <a:off x="972294" y="1333054"/>
            <a:ext cx="4895549"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Mantener los repartidores disponibles y su ubicación</a:t>
            </a:r>
            <a:endParaRPr lang="en-US" sz="950" dirty="0"/>
          </a:p>
        </p:txBody>
      </p:sp>
      <p:sp>
        <p:nvSpPr>
          <p:cNvPr id="14" name="Text 12"/>
          <p:cNvSpPr/>
          <p:nvPr/>
        </p:nvSpPr>
        <p:spPr>
          <a:xfrm>
            <a:off x="5924252" y="1333054"/>
            <a:ext cx="276603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Despachador</a:t>
            </a:r>
            <a:endParaRPr lang="en-US" sz="950" dirty="0"/>
          </a:p>
        </p:txBody>
      </p:sp>
      <p:sp>
        <p:nvSpPr>
          <p:cNvPr id="15" name="Text 13"/>
          <p:cNvSpPr/>
          <p:nvPr/>
        </p:nvSpPr>
        <p:spPr>
          <a:xfrm>
            <a:off x="431750" y="1616869"/>
            <a:ext cx="8280350" cy="321915"/>
          </a:xfrm>
          <a:prstGeom prst="rect">
            <a:avLst/>
          </a:prstGeom>
          <a:solidFill>
            <a:srgbClr val="FFFFFF"/>
          </a:solidFill>
          <a:ln/>
        </p:spPr>
        <p:txBody>
          <a:bodyPr wrap="square" rtlCol="0" anchor="ctr"/>
          <a:lstStyle/>
          <a:p>
            <a:pPr marL="0" indent="0">
              <a:buNone/>
            </a:pPr>
            <a:endParaRPr lang="en-US" dirty="0"/>
          </a:p>
        </p:txBody>
      </p:sp>
      <p:sp>
        <p:nvSpPr>
          <p:cNvPr id="16" name="Text 14"/>
          <p:cNvSpPr/>
          <p:nvPr/>
        </p:nvSpPr>
        <p:spPr>
          <a:xfrm>
            <a:off x="507950" y="1654969"/>
            <a:ext cx="31818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14</a:t>
            </a:r>
            <a:endParaRPr lang="en-US" sz="950" dirty="0"/>
          </a:p>
        </p:txBody>
      </p:sp>
      <p:sp>
        <p:nvSpPr>
          <p:cNvPr id="17" name="Text 15"/>
          <p:cNvSpPr/>
          <p:nvPr/>
        </p:nvSpPr>
        <p:spPr>
          <a:xfrm>
            <a:off x="972294" y="1654969"/>
            <a:ext cx="4895549"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Avanzar el estado de un pedido y validar la transición</a:t>
            </a:r>
            <a:endParaRPr lang="en-US" sz="950" dirty="0"/>
          </a:p>
        </p:txBody>
      </p:sp>
      <p:sp>
        <p:nvSpPr>
          <p:cNvPr id="18" name="Text 16"/>
          <p:cNvSpPr/>
          <p:nvPr/>
        </p:nvSpPr>
        <p:spPr>
          <a:xfrm>
            <a:off x="5924252" y="1654969"/>
            <a:ext cx="276603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Pedido</a:t>
            </a:r>
            <a:endParaRPr lang="en-US" sz="950" dirty="0"/>
          </a:p>
        </p:txBody>
      </p:sp>
      <p:sp>
        <p:nvSpPr>
          <p:cNvPr id="19" name="Text 17"/>
          <p:cNvSpPr/>
          <p:nvPr/>
        </p:nvSpPr>
        <p:spPr>
          <a:xfrm>
            <a:off x="431750" y="1938784"/>
            <a:ext cx="8280350" cy="321915"/>
          </a:xfrm>
          <a:prstGeom prst="rect">
            <a:avLst/>
          </a:prstGeom>
          <a:solidFill>
            <a:srgbClr val="F6F6F6"/>
          </a:solidFill>
          <a:ln/>
        </p:spPr>
        <p:txBody>
          <a:bodyPr wrap="square" rtlCol="0" anchor="ctr"/>
          <a:lstStyle/>
          <a:p>
            <a:pPr marL="0" indent="0">
              <a:buNone/>
            </a:pPr>
            <a:endParaRPr lang="en-US" dirty="0"/>
          </a:p>
        </p:txBody>
      </p:sp>
      <p:sp>
        <p:nvSpPr>
          <p:cNvPr id="20" name="Text 18"/>
          <p:cNvSpPr/>
          <p:nvPr/>
        </p:nvSpPr>
        <p:spPr>
          <a:xfrm>
            <a:off x="507950" y="1976884"/>
            <a:ext cx="31818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15</a:t>
            </a:r>
            <a:endParaRPr lang="en-US" sz="950" dirty="0"/>
          </a:p>
        </p:txBody>
      </p:sp>
      <p:sp>
        <p:nvSpPr>
          <p:cNvPr id="21" name="Text 19"/>
          <p:cNvSpPr/>
          <p:nvPr/>
        </p:nvSpPr>
        <p:spPr>
          <a:xfrm>
            <a:off x="972294" y="1976884"/>
            <a:ext cx="4895549"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Armar y enviar el mensaje de cada cambio de estado</a:t>
            </a:r>
            <a:endParaRPr lang="en-US" sz="950" dirty="0"/>
          </a:p>
        </p:txBody>
      </p:sp>
      <p:sp>
        <p:nvSpPr>
          <p:cNvPr id="22" name="Text 20"/>
          <p:cNvSpPr/>
          <p:nvPr/>
        </p:nvSpPr>
        <p:spPr>
          <a:xfrm>
            <a:off x="5924252" y="1976884"/>
            <a:ext cx="276603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Motor de Notificaciones</a:t>
            </a:r>
            <a:endParaRPr lang="en-US" sz="950" dirty="0"/>
          </a:p>
        </p:txBody>
      </p:sp>
      <p:sp>
        <p:nvSpPr>
          <p:cNvPr id="23" name="Text 21"/>
          <p:cNvSpPr/>
          <p:nvPr/>
        </p:nvSpPr>
        <p:spPr>
          <a:xfrm>
            <a:off x="431750" y="2260699"/>
            <a:ext cx="8280350" cy="321915"/>
          </a:xfrm>
          <a:prstGeom prst="rect">
            <a:avLst/>
          </a:prstGeom>
          <a:solidFill>
            <a:srgbClr val="FFFFFF"/>
          </a:solidFill>
          <a:ln/>
        </p:spPr>
        <p:txBody>
          <a:bodyPr wrap="square" rtlCol="0" anchor="ctr"/>
          <a:lstStyle/>
          <a:p>
            <a:pPr marL="0" indent="0">
              <a:buNone/>
            </a:pPr>
            <a:endParaRPr lang="en-US" dirty="0"/>
          </a:p>
        </p:txBody>
      </p:sp>
      <p:sp>
        <p:nvSpPr>
          <p:cNvPr id="24" name="Text 22"/>
          <p:cNvSpPr/>
          <p:nvPr/>
        </p:nvSpPr>
        <p:spPr>
          <a:xfrm>
            <a:off x="507950" y="2298799"/>
            <a:ext cx="31818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16</a:t>
            </a:r>
            <a:endParaRPr lang="en-US" sz="950" dirty="0"/>
          </a:p>
        </p:txBody>
      </p:sp>
      <p:sp>
        <p:nvSpPr>
          <p:cNvPr id="25" name="Text 23"/>
          <p:cNvSpPr/>
          <p:nvPr/>
        </p:nvSpPr>
        <p:spPr>
          <a:xfrm>
            <a:off x="972294" y="2298799"/>
            <a:ext cx="4895549"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Entregar la foto de un plato</a:t>
            </a:r>
            <a:endParaRPr lang="en-US" sz="950" dirty="0"/>
          </a:p>
        </p:txBody>
      </p:sp>
      <p:sp>
        <p:nvSpPr>
          <p:cNvPr id="26" name="Text 24"/>
          <p:cNvSpPr/>
          <p:nvPr/>
        </p:nvSpPr>
        <p:spPr>
          <a:xfrm>
            <a:off x="5924252" y="2298799"/>
            <a:ext cx="276603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Buscador de Fotos</a:t>
            </a:r>
            <a:endParaRPr lang="en-US" sz="950" dirty="0"/>
          </a:p>
        </p:txBody>
      </p:sp>
      <p:sp>
        <p:nvSpPr>
          <p:cNvPr id="27" name="Text 25"/>
          <p:cNvSpPr/>
          <p:nvPr/>
        </p:nvSpPr>
        <p:spPr>
          <a:xfrm>
            <a:off x="431750" y="2582614"/>
            <a:ext cx="8280350" cy="321915"/>
          </a:xfrm>
          <a:prstGeom prst="rect">
            <a:avLst/>
          </a:prstGeom>
          <a:solidFill>
            <a:srgbClr val="F6F6F6"/>
          </a:solidFill>
          <a:ln/>
        </p:spPr>
        <p:txBody>
          <a:bodyPr wrap="square" rtlCol="0" anchor="ctr"/>
          <a:lstStyle/>
          <a:p>
            <a:pPr marL="0" indent="0">
              <a:buNone/>
            </a:pPr>
            <a:endParaRPr lang="en-US" dirty="0"/>
          </a:p>
        </p:txBody>
      </p:sp>
      <p:sp>
        <p:nvSpPr>
          <p:cNvPr id="28" name="Text 26"/>
          <p:cNvSpPr/>
          <p:nvPr/>
        </p:nvSpPr>
        <p:spPr>
          <a:xfrm>
            <a:off x="507950" y="2620714"/>
            <a:ext cx="31818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17</a:t>
            </a:r>
            <a:endParaRPr lang="en-US" sz="950" dirty="0"/>
          </a:p>
        </p:txBody>
      </p:sp>
      <p:sp>
        <p:nvSpPr>
          <p:cNvPr id="29" name="Text 27"/>
          <p:cNvSpPr/>
          <p:nvPr/>
        </p:nvSpPr>
        <p:spPr>
          <a:xfrm>
            <a:off x="972294" y="2620714"/>
            <a:ext cx="4895549"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Abrir y reconectar conexiones a la base de datos</a:t>
            </a:r>
            <a:endParaRPr lang="en-US" sz="950" dirty="0"/>
          </a:p>
        </p:txBody>
      </p:sp>
      <p:sp>
        <p:nvSpPr>
          <p:cNvPr id="30" name="Text 28"/>
          <p:cNvSpPr/>
          <p:nvPr/>
        </p:nvSpPr>
        <p:spPr>
          <a:xfrm>
            <a:off x="5924252" y="2620714"/>
            <a:ext cx="276603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Conector DB</a:t>
            </a:r>
            <a:endParaRPr lang="en-US" sz="950" dirty="0"/>
          </a:p>
        </p:txBody>
      </p:sp>
      <p:sp>
        <p:nvSpPr>
          <p:cNvPr id="31" name="Text 29"/>
          <p:cNvSpPr/>
          <p:nvPr/>
        </p:nvSpPr>
        <p:spPr>
          <a:xfrm>
            <a:off x="431750" y="2904530"/>
            <a:ext cx="8280350" cy="321915"/>
          </a:xfrm>
          <a:prstGeom prst="rect">
            <a:avLst/>
          </a:prstGeom>
          <a:solidFill>
            <a:srgbClr val="FFFFFF"/>
          </a:solidFill>
          <a:ln/>
        </p:spPr>
        <p:txBody>
          <a:bodyPr wrap="square" rtlCol="0" anchor="ctr"/>
          <a:lstStyle/>
          <a:p>
            <a:pPr marL="0" indent="0">
              <a:buNone/>
            </a:pPr>
            <a:endParaRPr lang="en-US" dirty="0"/>
          </a:p>
        </p:txBody>
      </p:sp>
      <p:sp>
        <p:nvSpPr>
          <p:cNvPr id="32" name="Text 30"/>
          <p:cNvSpPr/>
          <p:nvPr/>
        </p:nvSpPr>
        <p:spPr>
          <a:xfrm>
            <a:off x="507950" y="2942630"/>
            <a:ext cx="31818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18</a:t>
            </a:r>
            <a:endParaRPr lang="en-US" sz="950" dirty="0"/>
          </a:p>
        </p:txBody>
      </p:sp>
      <p:sp>
        <p:nvSpPr>
          <p:cNvPr id="33" name="Text 31"/>
          <p:cNvSpPr/>
          <p:nvPr/>
        </p:nvSpPr>
        <p:spPr>
          <a:xfrm>
            <a:off x="972294" y="2942630"/>
            <a:ext cx="4895549"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Ejecutar una consulta sobre la base de datos</a:t>
            </a:r>
            <a:endParaRPr lang="en-US" sz="950" dirty="0"/>
          </a:p>
        </p:txBody>
      </p:sp>
      <p:sp>
        <p:nvSpPr>
          <p:cNvPr id="34" name="Text 32"/>
          <p:cNvSpPr/>
          <p:nvPr/>
        </p:nvSpPr>
        <p:spPr>
          <a:xfrm>
            <a:off x="5924252" y="2942630"/>
            <a:ext cx="276603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Conexión DB</a:t>
            </a:r>
            <a:endParaRPr lang="en-US" sz="950" dirty="0"/>
          </a:p>
        </p:txBody>
      </p:sp>
      <p:sp>
        <p:nvSpPr>
          <p:cNvPr id="35" name="Text 33"/>
          <p:cNvSpPr/>
          <p:nvPr/>
        </p:nvSpPr>
        <p:spPr>
          <a:xfrm>
            <a:off x="431750" y="3226445"/>
            <a:ext cx="8280350" cy="321915"/>
          </a:xfrm>
          <a:prstGeom prst="rect">
            <a:avLst/>
          </a:prstGeom>
          <a:solidFill>
            <a:srgbClr val="F6F6F6"/>
          </a:solidFill>
          <a:ln/>
        </p:spPr>
        <p:txBody>
          <a:bodyPr wrap="square" rtlCol="0" anchor="ctr"/>
          <a:lstStyle/>
          <a:p>
            <a:pPr marL="0" indent="0">
              <a:buNone/>
            </a:pPr>
            <a:endParaRPr lang="en-US" dirty="0"/>
          </a:p>
        </p:txBody>
      </p:sp>
      <p:sp>
        <p:nvSpPr>
          <p:cNvPr id="36" name="Text 34"/>
          <p:cNvSpPr/>
          <p:nvPr/>
        </p:nvSpPr>
        <p:spPr>
          <a:xfrm>
            <a:off x="507950" y="3264545"/>
            <a:ext cx="31818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19</a:t>
            </a:r>
            <a:endParaRPr lang="en-US" sz="950" dirty="0"/>
          </a:p>
        </p:txBody>
      </p:sp>
      <p:sp>
        <p:nvSpPr>
          <p:cNvPr id="37" name="Text 35"/>
          <p:cNvSpPr/>
          <p:nvPr/>
        </p:nvSpPr>
        <p:spPr>
          <a:xfrm>
            <a:off x="972294" y="3264545"/>
            <a:ext cx="4895549"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Recibir las acciones de la app y armar las solicitudes</a:t>
            </a:r>
            <a:endParaRPr lang="en-US" sz="950" dirty="0"/>
          </a:p>
        </p:txBody>
      </p:sp>
      <p:sp>
        <p:nvSpPr>
          <p:cNvPr id="38" name="Text 36"/>
          <p:cNvSpPr/>
          <p:nvPr/>
        </p:nvSpPr>
        <p:spPr>
          <a:xfrm>
            <a:off x="5924252" y="3264545"/>
            <a:ext cx="276603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API Móvil</a:t>
            </a:r>
            <a:endParaRPr lang="en-US" sz="950" dirty="0"/>
          </a:p>
        </p:txBody>
      </p:sp>
      <p:sp>
        <p:nvSpPr>
          <p:cNvPr id="39" name="Text 37"/>
          <p:cNvSpPr/>
          <p:nvPr/>
        </p:nvSpPr>
        <p:spPr>
          <a:xfrm>
            <a:off x="431750" y="3548360"/>
            <a:ext cx="8280350" cy="321915"/>
          </a:xfrm>
          <a:prstGeom prst="rect">
            <a:avLst/>
          </a:prstGeom>
          <a:solidFill>
            <a:srgbClr val="FFFFFF"/>
          </a:solidFill>
          <a:ln/>
        </p:spPr>
        <p:txBody>
          <a:bodyPr wrap="square" rtlCol="0" anchor="ctr"/>
          <a:lstStyle/>
          <a:p>
            <a:pPr marL="0" indent="0">
              <a:buNone/>
            </a:pPr>
            <a:endParaRPr lang="en-US" dirty="0"/>
          </a:p>
        </p:txBody>
      </p:sp>
      <p:sp>
        <p:nvSpPr>
          <p:cNvPr id="40" name="Text 38"/>
          <p:cNvSpPr/>
          <p:nvPr/>
        </p:nvSpPr>
        <p:spPr>
          <a:xfrm>
            <a:off x="507950" y="3586460"/>
            <a:ext cx="31818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20</a:t>
            </a:r>
            <a:endParaRPr lang="en-US" sz="950" dirty="0"/>
          </a:p>
        </p:txBody>
      </p:sp>
      <p:sp>
        <p:nvSpPr>
          <p:cNvPr id="41" name="Text 39"/>
          <p:cNvSpPr/>
          <p:nvPr/>
        </p:nvSpPr>
        <p:spPr>
          <a:xfrm>
            <a:off x="972294" y="3586460"/>
            <a:ext cx="4895549"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Crear el Despachador</a:t>
            </a:r>
            <a:endParaRPr lang="en-US" sz="950" dirty="0"/>
          </a:p>
        </p:txBody>
      </p:sp>
      <p:sp>
        <p:nvSpPr>
          <p:cNvPr id="42" name="Text 40"/>
          <p:cNvSpPr/>
          <p:nvPr/>
        </p:nvSpPr>
        <p:spPr>
          <a:xfrm>
            <a:off x="431750" y="3870275"/>
            <a:ext cx="8280350" cy="321915"/>
          </a:xfrm>
          <a:prstGeom prst="rect">
            <a:avLst/>
          </a:prstGeom>
          <a:solidFill>
            <a:srgbClr val="F6F6F6"/>
          </a:solidFill>
          <a:ln/>
        </p:spPr>
        <p:txBody>
          <a:bodyPr wrap="square" rtlCol="0" anchor="ctr"/>
          <a:lstStyle/>
          <a:p>
            <a:pPr marL="0" indent="0">
              <a:buNone/>
            </a:pPr>
            <a:endParaRPr lang="en-US" dirty="0"/>
          </a:p>
        </p:txBody>
      </p:sp>
      <p:sp>
        <p:nvSpPr>
          <p:cNvPr id="43" name="Text 41"/>
          <p:cNvSpPr/>
          <p:nvPr/>
        </p:nvSpPr>
        <p:spPr>
          <a:xfrm>
            <a:off x="507950" y="3908375"/>
            <a:ext cx="31818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21</a:t>
            </a:r>
            <a:endParaRPr lang="en-US" sz="950" dirty="0"/>
          </a:p>
        </p:txBody>
      </p:sp>
      <p:sp>
        <p:nvSpPr>
          <p:cNvPr id="44" name="Text 42"/>
          <p:cNvSpPr/>
          <p:nvPr/>
        </p:nvSpPr>
        <p:spPr>
          <a:xfrm>
            <a:off x="972294" y="3908375"/>
            <a:ext cx="4895549"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Crear el Manejador de Carritos, el Catálogo y el Buscador de Fotos</a:t>
            </a:r>
            <a:endParaRPr lang="en-US" sz="950" dirty="0"/>
          </a:p>
        </p:txBody>
      </p:sp>
      <p:sp>
        <p:nvSpPr>
          <p:cNvPr id="45" name="Text 43"/>
          <p:cNvSpPr/>
          <p:nvPr/>
        </p:nvSpPr>
        <p:spPr>
          <a:xfrm>
            <a:off x="431750" y="4192191"/>
            <a:ext cx="8280350" cy="321915"/>
          </a:xfrm>
          <a:prstGeom prst="rect">
            <a:avLst/>
          </a:prstGeom>
          <a:solidFill>
            <a:srgbClr val="FFFFFF"/>
          </a:solidFill>
          <a:ln/>
        </p:spPr>
        <p:txBody>
          <a:bodyPr wrap="square" rtlCol="0" anchor="ctr"/>
          <a:lstStyle/>
          <a:p>
            <a:pPr marL="0" indent="0">
              <a:buNone/>
            </a:pPr>
            <a:endParaRPr lang="en-US" dirty="0"/>
          </a:p>
        </p:txBody>
      </p:sp>
      <p:sp>
        <p:nvSpPr>
          <p:cNvPr id="46" name="Text 44"/>
          <p:cNvSpPr/>
          <p:nvPr/>
        </p:nvSpPr>
        <p:spPr>
          <a:xfrm>
            <a:off x="507950" y="4230291"/>
            <a:ext cx="318183"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22</a:t>
            </a:r>
            <a:endParaRPr lang="en-US" sz="950" dirty="0"/>
          </a:p>
        </p:txBody>
      </p:sp>
      <p:sp>
        <p:nvSpPr>
          <p:cNvPr id="47" name="Text 45"/>
          <p:cNvSpPr/>
          <p:nvPr/>
        </p:nvSpPr>
        <p:spPr>
          <a:xfrm>
            <a:off x="972294" y="4230291"/>
            <a:ext cx="4895549" cy="156865"/>
          </a:xfrm>
          <a:prstGeom prst="rect">
            <a:avLst/>
          </a:prstGeom>
          <a:noFill/>
          <a:ln/>
        </p:spPr>
        <p:txBody>
          <a:bodyPr wrap="square" lIns="0" tIns="0" rIns="0" bIns="0" rtlCol="0" anchor="t"/>
          <a:lstStyle/>
          <a:p>
            <a:pPr marL="0" indent="0" algn="l">
              <a:lnSpc>
                <a:spcPts val="1235"/>
              </a:lnSpc>
              <a:spcAft>
                <a:spcPts val="700"/>
              </a:spcAft>
              <a:buNone/>
            </a:pPr>
            <a:r>
              <a:rPr lang="en-US" sz="950" dirty="0">
                <a:solidFill>
                  <a:srgbClr val="111111"/>
                </a:solidFill>
                <a:latin typeface="Helvetica" pitchFamily="34" charset="0"/>
                <a:ea typeface="Helvetica" pitchFamily="34" charset="-122"/>
                <a:cs typeface="Helvetica" pitchFamily="34" charset="-120"/>
              </a:rPr>
              <a:t>Crear el Conector DB</a:t>
            </a:r>
            <a:endParaRPr lang="en-US" sz="950" dirty="0"/>
          </a:p>
        </p:txBody>
      </p:sp>
      <p:sp>
        <p:nvSpPr>
          <p:cNvPr id="48" name="Text 46"/>
          <p:cNvSpPr/>
          <p:nvPr/>
        </p:nvSpPr>
        <p:spPr>
          <a:xfrm>
            <a:off x="431750" y="4615607"/>
            <a:ext cx="8445957" cy="329803"/>
          </a:xfrm>
          <a:prstGeom prst="rect">
            <a:avLst/>
          </a:prstGeom>
          <a:noFill/>
          <a:ln/>
        </p:spPr>
        <p:txBody>
          <a:bodyPr wrap="square" lIns="0" tIns="0" rIns="0" bIns="0" rtlCol="0" anchor="t"/>
          <a:lstStyle/>
          <a:p>
            <a:pPr marL="0" indent="0" algn="l">
              <a:lnSpc>
                <a:spcPts val="1300"/>
              </a:lnSpc>
              <a:spcBef>
                <a:spcPts val="800"/>
              </a:spcBef>
              <a:spcAft>
                <a:spcPts val="700"/>
              </a:spcAft>
              <a:buNone/>
            </a:pPr>
            <a:r>
              <a:rPr lang="en-US" sz="1000" dirty="0">
                <a:solidFill>
                  <a:srgbClr val="4A4A4A"/>
                </a:solidFill>
                <a:latin typeface="Helvetica" pitchFamily="34" charset="0"/>
                <a:ea typeface="Helvetica" pitchFamily="34" charset="-122"/>
                <a:cs typeface="Helvetica" pitchFamily="34" charset="-120"/>
              </a:rPr>
              <a:t>Dos cosas para notar: las responsabilidades 15 y 19 quedaron asignadas a componentes que están </a:t>
            </a:r>
            <a:r>
              <a:rPr lang="en-US" sz="1000" b="1" dirty="0">
                <a:solidFill>
                  <a:srgbClr val="4A4A4A"/>
                </a:solidFill>
                <a:latin typeface="Helvetica" pitchFamily="34" charset="0"/>
                <a:ea typeface="Helvetica" pitchFamily="34" charset="-122"/>
                <a:cs typeface="Helvetica" pitchFamily="34" charset="-120"/>
              </a:rPr>
              <a:t>por fuera</a:t>
            </a:r>
            <a:r>
              <a:rPr lang="en-US" sz="1000" dirty="0">
                <a:solidFill>
                  <a:srgbClr val="4A4A4A"/>
                </a:solidFill>
                <a:latin typeface="Helvetica" pitchFamily="34" charset="0"/>
                <a:ea typeface="Helvetica" pitchFamily="34" charset="-122"/>
                <a:cs typeface="Helvetica" pitchFamily="34" charset="-120"/>
              </a:rPr>
              <a:t> del que estamos diseñando, así que las dejamos de lado y las retomamos cuando diseñemos esos componentes. Y las tres últimas </a:t>
            </a:r>
            <a:r>
              <a:rPr lang="en-US" sz="1000" b="1" dirty="0">
                <a:solidFill>
                  <a:srgbClr val="4A4A4A"/>
                </a:solidFill>
                <a:latin typeface="Helvetica" pitchFamily="34" charset="0"/>
                <a:ea typeface="Helvetica" pitchFamily="34" charset="-122"/>
                <a:cs typeface="Helvetica" pitchFamily="34" charset="-120"/>
              </a:rPr>
              <a:t>no tienen dueño</a:t>
            </a:r>
            <a:r>
              <a:rPr lang="en-US" sz="1000" dirty="0">
                <a:solidFill>
                  <a:srgbClr val="4A4A4A"/>
                </a:solidFill>
                <a:latin typeface="Helvetica" pitchFamily="34" charset="0"/>
                <a:ea typeface="Helvetica" pitchFamily="34" charset="-122"/>
                <a:cs typeface="Helvetica" pitchFamily="34" charset="-120"/>
              </a:rPr>
              <a:t>.</a:t>
            </a:r>
            <a:endParaRPr lang="en-US" sz="1000" dirty="0"/>
          </a:p>
        </p:txBody>
      </p:sp>
      <p:sp>
        <p:nvSpPr>
          <p:cNvPr id="49" name="Text 47"/>
          <p:cNvSpPr/>
          <p:nvPr/>
        </p:nvSpPr>
        <p:spPr>
          <a:xfrm>
            <a:off x="8737402" y="4842570"/>
            <a:ext cx="129793" cy="148530"/>
          </a:xfrm>
          <a:prstGeom prst="rect">
            <a:avLst/>
          </a:prstGeom>
          <a:noFill/>
          <a:ln/>
        </p:spPr>
        <p:txBody>
          <a:bodyPr wrap="square" lIns="0" tIns="0" rIns="0" bIns="0" rtlCol="0" anchor="t"/>
          <a:lstStyle/>
          <a:p>
            <a:pPr marL="0" indent="0" algn="l">
              <a:lnSpc>
                <a:spcPts val="1170"/>
              </a:lnSpc>
              <a:buNone/>
            </a:pPr>
            <a:r>
              <a:rPr lang="en-US" sz="900" dirty="0">
                <a:solidFill>
                  <a:srgbClr val="9A9A9A"/>
                </a:solidFill>
                <a:latin typeface="Helvetica" pitchFamily="34" charset="0"/>
                <a:ea typeface="Helvetica" pitchFamily="34" charset="-122"/>
                <a:cs typeface="Helvetica" pitchFamily="34" charset="-120"/>
              </a:rPr>
              <a:t>16</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ounded Rectangle 2"/>
          <p:cNvSpPr/>
          <p:nvPr/>
        </p:nvSpPr>
        <p:spPr>
          <a:xfrm>
            <a:off x="457200" y="4171950"/>
            <a:ext cx="8229600" cy="457200"/>
          </a:xfrm>
          <a:prstGeom prst="roundRect">
            <a:avLst>
              <a:gd name="adj" fmla="val 18750"/>
            </a:avLst>
          </a:prstGeom>
          <a:solidFill>
            <a:srgbClr val="F0F5FD"/>
          </a:solidFill>
          <a:ln w="9525">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ounded Rectangle 4"/>
          <p:cNvSpPr/>
          <p:nvPr/>
        </p:nvSpPr>
        <p:spPr>
          <a:xfrm>
            <a:off x="457200" y="2088096"/>
            <a:ext cx="3843338" cy="1187201"/>
          </a:xfrm>
          <a:prstGeom prst="roundRect">
            <a:avLst>
              <a:gd name="adj" fmla="val 9627"/>
            </a:avLst>
          </a:prstGeom>
          <a:solidFill>
            <a:srgbClr val="FEFD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 name="Rounded Rectangle 5"/>
          <p:cNvSpPr/>
          <p:nvPr/>
        </p:nvSpPr>
        <p:spPr>
          <a:xfrm>
            <a:off x="4843462" y="2088096"/>
            <a:ext cx="3843338" cy="1187201"/>
          </a:xfrm>
          <a:prstGeom prst="roundRect">
            <a:avLst>
              <a:gd name="adj" fmla="val 9627"/>
            </a:avLst>
          </a:prstGeom>
          <a:solidFill>
            <a:srgbClr val="FEFD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 name="Rectangle 6"/>
          <p:cNvSpPr/>
          <p:nvPr/>
        </p:nvSpPr>
        <p:spPr>
          <a:xfrm>
            <a:off x="457200" y="3268154"/>
            <a:ext cx="3843338" cy="714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Rectangle 7"/>
          <p:cNvSpPr/>
          <p:nvPr/>
        </p:nvSpPr>
        <p:spPr>
          <a:xfrm>
            <a:off x="457200" y="2088095"/>
            <a:ext cx="3843338" cy="28575"/>
          </a:xfrm>
          <a:prstGeom prst="rect">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 name="Rectangle 8"/>
          <p:cNvSpPr/>
          <p:nvPr/>
        </p:nvSpPr>
        <p:spPr>
          <a:xfrm>
            <a:off x="457200" y="2088096"/>
            <a:ext cx="7144" cy="11872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 name="Rectangle 9"/>
          <p:cNvSpPr/>
          <p:nvPr/>
        </p:nvSpPr>
        <p:spPr>
          <a:xfrm>
            <a:off x="4293394" y="2088096"/>
            <a:ext cx="7144" cy="11872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1" name="Rectangle 10"/>
          <p:cNvSpPr/>
          <p:nvPr/>
        </p:nvSpPr>
        <p:spPr>
          <a:xfrm>
            <a:off x="4843462" y="3268154"/>
            <a:ext cx="3843338" cy="714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 name="Rectangle 11"/>
          <p:cNvSpPr/>
          <p:nvPr/>
        </p:nvSpPr>
        <p:spPr>
          <a:xfrm>
            <a:off x="4843462" y="2088095"/>
            <a:ext cx="3843338" cy="2857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3" name="Rectangle 12"/>
          <p:cNvSpPr/>
          <p:nvPr/>
        </p:nvSpPr>
        <p:spPr>
          <a:xfrm>
            <a:off x="4843463" y="2088096"/>
            <a:ext cx="7144" cy="11872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4" name="Rectangle 13"/>
          <p:cNvSpPr/>
          <p:nvPr/>
        </p:nvSpPr>
        <p:spPr>
          <a:xfrm>
            <a:off x="8679657" y="2088096"/>
            <a:ext cx="7144" cy="11872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pic>
        <p:nvPicPr>
          <p:cNvPr id="15" name="Picture 14" descr="image.png"/>
          <p:cNvPicPr>
            <a:picLocks noChangeAspect="1"/>
          </p:cNvPicPr>
          <p:nvPr/>
        </p:nvPicPr>
        <p:blipFill>
          <a:blip r:embed="rId3"/>
          <a:stretch>
            <a:fillRect/>
          </a:stretch>
        </p:blipFill>
        <p:spPr>
          <a:xfrm>
            <a:off x="4471988" y="2567396"/>
            <a:ext cx="200025" cy="228600"/>
          </a:xfrm>
          <a:prstGeom prst="rect">
            <a:avLst/>
          </a:prstGeom>
        </p:spPr>
      </p:pic>
      <p:pic>
        <p:nvPicPr>
          <p:cNvPr id="16" name="Picture 15" descr="image.png"/>
          <p:cNvPicPr>
            <a:picLocks noChangeAspect="1"/>
          </p:cNvPicPr>
          <p:nvPr/>
        </p:nvPicPr>
        <p:blipFill>
          <a:blip r:embed="rId4"/>
          <a:stretch>
            <a:fillRect/>
          </a:stretch>
        </p:blipFill>
        <p:spPr>
          <a:xfrm>
            <a:off x="527634" y="2212927"/>
            <a:ext cx="393911" cy="393911"/>
          </a:xfrm>
          <a:prstGeom prst="rect">
            <a:avLst/>
          </a:prstGeom>
        </p:spPr>
      </p:pic>
      <p:pic>
        <p:nvPicPr>
          <p:cNvPr id="17" name="Picture 16" descr="image.png"/>
          <p:cNvPicPr>
            <a:picLocks noChangeAspect="1"/>
          </p:cNvPicPr>
          <p:nvPr/>
        </p:nvPicPr>
        <p:blipFill>
          <a:blip r:embed="rId5"/>
          <a:stretch>
            <a:fillRect/>
          </a:stretch>
        </p:blipFill>
        <p:spPr>
          <a:xfrm>
            <a:off x="4913897" y="2252737"/>
            <a:ext cx="379622" cy="379622"/>
          </a:xfrm>
          <a:prstGeom prst="rect">
            <a:avLst/>
          </a:prstGeom>
        </p:spPr>
      </p:pic>
      <p:sp>
        <p:nvSpPr>
          <p:cNvPr id="20" name="TextBox 19"/>
          <p:cNvSpPr txBox="1"/>
          <p:nvPr/>
        </p:nvSpPr>
        <p:spPr>
          <a:xfrm>
            <a:off x="-200025" y="4300538"/>
            <a:ext cx="9544050" cy="173124"/>
          </a:xfrm>
          <a:prstGeom prst="rect">
            <a:avLst/>
          </a:prstGeom>
          <a:noFill/>
        </p:spPr>
        <p:txBody>
          <a:bodyPr wrap="square" lIns="0" tIns="0" rIns="0" bIns="0" anchor="t">
            <a:spAutoFit/>
          </a:bodyPr>
          <a:lstStyle/>
          <a:p>
            <a:pPr algn="ctr"/>
            <a:r>
              <a:rPr sz="1125" b="1" dirty="0" err="1">
                <a:solidFill>
                  <a:srgbClr val="0F172A"/>
                </a:solidFill>
                <a:latin typeface="Plus Jakarta Sans"/>
              </a:rPr>
              <a:t>Normalidad</a:t>
            </a:r>
            <a:r>
              <a:rPr sz="1125" b="1" dirty="0">
                <a:solidFill>
                  <a:srgbClr val="0F172A"/>
                </a:solidFill>
                <a:latin typeface="Plus Jakarta Sans"/>
              </a:rPr>
              <a:t> del </a:t>
            </a:r>
            <a:r>
              <a:rPr sz="1125" b="1" dirty="0" err="1">
                <a:solidFill>
                  <a:srgbClr val="0F172A"/>
                </a:solidFill>
                <a:latin typeface="Plus Jakarta Sans"/>
              </a:rPr>
              <a:t>proceso</a:t>
            </a:r>
            <a:r>
              <a:rPr sz="1125" b="1" dirty="0">
                <a:solidFill>
                  <a:srgbClr val="0F172A"/>
                </a:solidFill>
                <a:latin typeface="Plus Jakarta Sans"/>
              </a:rPr>
              <a:t>:</a:t>
            </a:r>
            <a:r>
              <a:rPr sz="1125" dirty="0">
                <a:solidFill>
                  <a:srgbClr val="334155"/>
                </a:solidFill>
                <a:latin typeface="Plus Jakarta Sans"/>
              </a:rPr>
              <a:t> Es </a:t>
            </a:r>
            <a:r>
              <a:rPr sz="1125" dirty="0" err="1">
                <a:solidFill>
                  <a:srgbClr val="334155"/>
                </a:solidFill>
                <a:latin typeface="Plus Jakarta Sans"/>
              </a:rPr>
              <a:t>común</a:t>
            </a:r>
            <a:r>
              <a:rPr sz="1125" dirty="0">
                <a:solidFill>
                  <a:srgbClr val="334155"/>
                </a:solidFill>
                <a:latin typeface="Plus Jakarta Sans"/>
              </a:rPr>
              <a:t> </a:t>
            </a:r>
            <a:r>
              <a:rPr sz="1125" dirty="0" err="1">
                <a:solidFill>
                  <a:srgbClr val="334155"/>
                </a:solidFill>
                <a:latin typeface="Plus Jakarta Sans"/>
              </a:rPr>
              <a:t>ajustar</a:t>
            </a:r>
            <a:r>
              <a:rPr sz="1125" dirty="0">
                <a:solidFill>
                  <a:srgbClr val="334155"/>
                </a:solidFill>
                <a:latin typeface="Plus Jakarta Sans"/>
              </a:rPr>
              <a:t> </a:t>
            </a:r>
            <a:r>
              <a:rPr sz="1125" dirty="0" err="1">
                <a:solidFill>
                  <a:srgbClr val="334155"/>
                </a:solidFill>
                <a:latin typeface="Plus Jakarta Sans"/>
              </a:rPr>
              <a:t>candidatos</a:t>
            </a:r>
            <a:r>
              <a:rPr sz="1125" dirty="0">
                <a:solidFill>
                  <a:srgbClr val="334155"/>
                </a:solidFill>
                <a:latin typeface="Plus Jakarta Sans"/>
              </a:rPr>
              <a:t> </a:t>
            </a:r>
            <a:r>
              <a:rPr sz="1125" dirty="0" err="1">
                <a:solidFill>
                  <a:srgbClr val="334155"/>
                </a:solidFill>
                <a:latin typeface="Plus Jakarta Sans"/>
              </a:rPr>
              <a:t>sobre</a:t>
            </a:r>
            <a:r>
              <a:rPr sz="1125" dirty="0">
                <a:solidFill>
                  <a:srgbClr val="334155"/>
                </a:solidFill>
                <a:latin typeface="Plus Jakarta Sans"/>
              </a:rPr>
              <a:t> la </a:t>
            </a:r>
            <a:r>
              <a:rPr sz="1125" dirty="0" err="1">
                <a:solidFill>
                  <a:srgbClr val="334155"/>
                </a:solidFill>
                <a:latin typeface="Plus Jakarta Sans"/>
              </a:rPr>
              <a:t>marcha</a:t>
            </a:r>
            <a:r>
              <a:rPr sz="1125" dirty="0">
                <a:solidFill>
                  <a:srgbClr val="334155"/>
                </a:solidFill>
                <a:latin typeface="Plus Jakarta Sans"/>
              </a:rPr>
              <a:t>. El </a:t>
            </a:r>
            <a:r>
              <a:rPr sz="1125" dirty="0" err="1">
                <a:solidFill>
                  <a:srgbClr val="334155"/>
                </a:solidFill>
                <a:latin typeface="Plus Jakarta Sans"/>
              </a:rPr>
              <a:t>diseño</a:t>
            </a:r>
            <a:r>
              <a:rPr sz="1125" dirty="0">
                <a:solidFill>
                  <a:srgbClr val="334155"/>
                </a:solidFill>
                <a:latin typeface="Plus Jakarta Sans"/>
              </a:rPr>
              <a:t> es </a:t>
            </a:r>
            <a:r>
              <a:rPr sz="1125" dirty="0" err="1">
                <a:solidFill>
                  <a:srgbClr val="334155"/>
                </a:solidFill>
                <a:latin typeface="Plus Jakarta Sans"/>
              </a:rPr>
              <a:t>iterativo</a:t>
            </a:r>
            <a:r>
              <a:rPr sz="1125" dirty="0">
                <a:solidFill>
                  <a:srgbClr val="334155"/>
                </a:solidFill>
                <a:latin typeface="Plus Jakarta Sans"/>
              </a:rPr>
              <a:t>.</a:t>
            </a:r>
          </a:p>
        </p:txBody>
      </p:sp>
      <p:sp>
        <p:nvSpPr>
          <p:cNvPr id="22" name="TextBox 21"/>
          <p:cNvSpPr txBox="1"/>
          <p:nvPr/>
        </p:nvSpPr>
        <p:spPr>
          <a:xfrm>
            <a:off x="457199" y="278779"/>
            <a:ext cx="2432654" cy="322461"/>
          </a:xfrm>
          <a:prstGeom prst="rect">
            <a:avLst/>
          </a:prstGeom>
          <a:noFill/>
        </p:spPr>
        <p:txBody>
          <a:bodyPr wrap="none" lIns="0" tIns="0" rIns="0" bIns="0" anchor="t">
            <a:spAutoFit/>
          </a:bodyPr>
          <a:lstStyle/>
          <a:p>
            <a:pPr>
              <a:lnSpc>
                <a:spcPts val="2565"/>
              </a:lnSpc>
            </a:pPr>
            <a:r>
              <a:rPr sz="2138" b="1" dirty="0" err="1">
                <a:solidFill>
                  <a:srgbClr val="0F172A"/>
                </a:solidFill>
                <a:latin typeface="Plus Jakarta Sans"/>
              </a:rPr>
              <a:t>Aparece</a:t>
            </a:r>
            <a:r>
              <a:rPr sz="2138" b="1" dirty="0">
                <a:solidFill>
                  <a:srgbClr val="0F172A"/>
                </a:solidFill>
                <a:latin typeface="Plus Jakarta Sans"/>
              </a:rPr>
              <a:t> un nuevo </a:t>
            </a:r>
            <a:r>
              <a:rPr sz="2138" b="1" dirty="0" err="1">
                <a:solidFill>
                  <a:srgbClr val="0F172A"/>
                </a:solidFill>
                <a:latin typeface="Plus Jakarta Sans"/>
              </a:rPr>
              <a:t>rol</a:t>
            </a:r>
            <a:endParaRPr sz="2138" b="1" dirty="0">
              <a:solidFill>
                <a:srgbClr val="0F172A"/>
              </a:solidFill>
              <a:latin typeface="Plus Jakarta Sans"/>
            </a:endParaRPr>
          </a:p>
        </p:txBody>
      </p:sp>
      <p:sp>
        <p:nvSpPr>
          <p:cNvPr id="23" name="TextBox 22"/>
          <p:cNvSpPr txBox="1"/>
          <p:nvPr/>
        </p:nvSpPr>
        <p:spPr>
          <a:xfrm>
            <a:off x="446178" y="759439"/>
            <a:ext cx="8451669" cy="861774"/>
          </a:xfrm>
          <a:prstGeom prst="rect">
            <a:avLst/>
          </a:prstGeom>
          <a:noFill/>
        </p:spPr>
        <p:txBody>
          <a:bodyPr wrap="square" lIns="0" tIns="0" rIns="0" bIns="0" anchor="t">
            <a:spAutoFit/>
          </a:bodyPr>
          <a:lstStyle/>
          <a:p>
            <a:pPr>
              <a:spcAft>
                <a:spcPts val="700"/>
              </a:spcAft>
            </a:pPr>
            <a:r>
              <a:rPr lang="en-US" sz="1400" dirty="0">
                <a:solidFill>
                  <a:srgbClr val="4A4A4A"/>
                </a:solidFill>
                <a:latin typeface="Helvetica" pitchFamily="34" charset="0"/>
                <a:ea typeface="Helvetica" pitchFamily="34" charset="-122"/>
                <a:cs typeface="Helvetica" pitchFamily="34" charset="-120"/>
              </a:rPr>
              <a:t>Las </a:t>
            </a:r>
            <a:r>
              <a:rPr lang="en-US" sz="1400" dirty="0" err="1">
                <a:solidFill>
                  <a:srgbClr val="4A4A4A"/>
                </a:solidFill>
                <a:latin typeface="Helvetica" pitchFamily="34" charset="0"/>
                <a:ea typeface="Helvetica" pitchFamily="34" charset="-122"/>
                <a:cs typeface="Helvetica" pitchFamily="34" charset="-120"/>
              </a:rPr>
              <a:t>responsabilidades</a:t>
            </a:r>
            <a:r>
              <a:rPr lang="en-US" sz="1400" dirty="0">
                <a:solidFill>
                  <a:srgbClr val="4A4A4A"/>
                </a:solidFill>
                <a:latin typeface="Helvetica" pitchFamily="34" charset="0"/>
                <a:ea typeface="Helvetica" pitchFamily="34" charset="-122"/>
                <a:cs typeface="Helvetica" pitchFamily="34" charset="-120"/>
              </a:rPr>
              <a:t> de </a:t>
            </a:r>
            <a:r>
              <a:rPr lang="en-US" sz="1400" dirty="0" err="1">
                <a:solidFill>
                  <a:srgbClr val="4A4A4A"/>
                </a:solidFill>
                <a:latin typeface="Helvetica" pitchFamily="34" charset="0"/>
                <a:ea typeface="Helvetica" pitchFamily="34" charset="-122"/>
                <a:cs typeface="Helvetica" pitchFamily="34" charset="-120"/>
              </a:rPr>
              <a:t>crear</a:t>
            </a:r>
            <a:r>
              <a:rPr lang="en-US" sz="1400" dirty="0">
                <a:solidFill>
                  <a:srgbClr val="4A4A4A"/>
                </a:solidFill>
                <a:latin typeface="Helvetica" pitchFamily="34" charset="0"/>
                <a:ea typeface="Helvetica" pitchFamily="34" charset="-122"/>
                <a:cs typeface="Helvetica" pitchFamily="34" charset="-120"/>
              </a:rPr>
              <a:t> </a:t>
            </a:r>
            <a:r>
              <a:rPr lang="en-US" sz="1400" dirty="0" err="1">
                <a:solidFill>
                  <a:srgbClr val="4A4A4A"/>
                </a:solidFill>
                <a:latin typeface="Helvetica" pitchFamily="34" charset="0"/>
                <a:ea typeface="Helvetica" pitchFamily="34" charset="-122"/>
                <a:cs typeface="Helvetica" pitchFamily="34" charset="-120"/>
              </a:rPr>
              <a:t>los</a:t>
            </a:r>
            <a:r>
              <a:rPr lang="en-US" sz="1400" dirty="0">
                <a:solidFill>
                  <a:srgbClr val="4A4A4A"/>
                </a:solidFill>
                <a:latin typeface="Helvetica" pitchFamily="34" charset="0"/>
                <a:ea typeface="Helvetica" pitchFamily="34" charset="-122"/>
                <a:cs typeface="Helvetica" pitchFamily="34" charset="-120"/>
              </a:rPr>
              <a:t> </a:t>
            </a:r>
            <a:r>
              <a:rPr lang="en-US" sz="1400" dirty="0" err="1">
                <a:solidFill>
                  <a:srgbClr val="4A4A4A"/>
                </a:solidFill>
                <a:latin typeface="Helvetica" pitchFamily="34" charset="0"/>
                <a:ea typeface="Helvetica" pitchFamily="34" charset="-122"/>
                <a:cs typeface="Helvetica" pitchFamily="34" charset="-120"/>
              </a:rPr>
              <a:t>componentes</a:t>
            </a:r>
            <a:r>
              <a:rPr lang="en-US" sz="1400" dirty="0">
                <a:solidFill>
                  <a:srgbClr val="4A4A4A"/>
                </a:solidFill>
                <a:latin typeface="Helvetica" pitchFamily="34" charset="0"/>
                <a:ea typeface="Helvetica" pitchFamily="34" charset="-122"/>
                <a:cs typeface="Helvetica" pitchFamily="34" charset="-120"/>
              </a:rPr>
              <a:t> de </a:t>
            </a:r>
            <a:r>
              <a:rPr lang="en-US" sz="1400" dirty="0" err="1">
                <a:solidFill>
                  <a:srgbClr val="4A4A4A"/>
                </a:solidFill>
                <a:latin typeface="Helvetica" pitchFamily="34" charset="0"/>
                <a:ea typeface="Helvetica" pitchFamily="34" charset="-122"/>
                <a:cs typeface="Helvetica" pitchFamily="34" charset="-120"/>
              </a:rPr>
              <a:t>larga</a:t>
            </a:r>
            <a:r>
              <a:rPr lang="en-US" sz="1400" dirty="0">
                <a:solidFill>
                  <a:srgbClr val="4A4A4A"/>
                </a:solidFill>
                <a:latin typeface="Helvetica" pitchFamily="34" charset="0"/>
                <a:ea typeface="Helvetica" pitchFamily="34" charset="-122"/>
                <a:cs typeface="Helvetica" pitchFamily="34" charset="-120"/>
              </a:rPr>
              <a:t> </a:t>
            </a:r>
            <a:r>
              <a:rPr lang="en-US" sz="1400" dirty="0" err="1">
                <a:solidFill>
                  <a:srgbClr val="4A4A4A"/>
                </a:solidFill>
                <a:latin typeface="Helvetica" pitchFamily="34" charset="0"/>
                <a:ea typeface="Helvetica" pitchFamily="34" charset="-122"/>
                <a:cs typeface="Helvetica" pitchFamily="34" charset="-120"/>
              </a:rPr>
              <a:t>vida</a:t>
            </a:r>
            <a:r>
              <a:rPr lang="en-US" sz="1400" dirty="0">
                <a:solidFill>
                  <a:srgbClr val="4A4A4A"/>
                </a:solidFill>
                <a:latin typeface="Helvetica" pitchFamily="34" charset="0"/>
                <a:ea typeface="Helvetica" pitchFamily="34" charset="-122"/>
                <a:cs typeface="Helvetica" pitchFamily="34" charset="-120"/>
              </a:rPr>
              <a:t> se </a:t>
            </a:r>
            <a:r>
              <a:rPr lang="en-US" sz="1400" dirty="0" err="1">
                <a:solidFill>
                  <a:srgbClr val="4A4A4A"/>
                </a:solidFill>
                <a:latin typeface="Helvetica" pitchFamily="34" charset="0"/>
                <a:ea typeface="Helvetica" pitchFamily="34" charset="-122"/>
                <a:cs typeface="Helvetica" pitchFamily="34" charset="-120"/>
              </a:rPr>
              <a:t>quedaron</a:t>
            </a:r>
            <a:r>
              <a:rPr lang="en-US" sz="1400" dirty="0">
                <a:solidFill>
                  <a:srgbClr val="4A4A4A"/>
                </a:solidFill>
                <a:latin typeface="Helvetica" pitchFamily="34" charset="0"/>
                <a:ea typeface="Helvetica" pitchFamily="34" charset="-122"/>
                <a:cs typeface="Helvetica" pitchFamily="34" charset="-120"/>
              </a:rPr>
              <a:t> sin </a:t>
            </a:r>
            <a:r>
              <a:rPr lang="en-US" sz="1400" dirty="0" err="1">
                <a:solidFill>
                  <a:srgbClr val="4A4A4A"/>
                </a:solidFill>
                <a:latin typeface="Helvetica" pitchFamily="34" charset="0"/>
                <a:ea typeface="Helvetica" pitchFamily="34" charset="-122"/>
                <a:cs typeface="Helvetica" pitchFamily="34" charset="-120"/>
              </a:rPr>
              <a:t>dueño</a:t>
            </a:r>
            <a:r>
              <a:rPr lang="en-US" sz="1400" dirty="0">
                <a:solidFill>
                  <a:srgbClr val="4A4A4A"/>
                </a:solidFill>
                <a:latin typeface="Helvetica" pitchFamily="34" charset="0"/>
                <a:ea typeface="Helvetica" pitchFamily="34" charset="-122"/>
                <a:cs typeface="Helvetica" pitchFamily="34" charset="-120"/>
              </a:rPr>
              <a:t>. Eso </a:t>
            </a:r>
            <a:r>
              <a:rPr lang="en-US" sz="1400" dirty="0" err="1">
                <a:solidFill>
                  <a:srgbClr val="4A4A4A"/>
                </a:solidFill>
                <a:latin typeface="Helvetica" pitchFamily="34" charset="0"/>
                <a:ea typeface="Helvetica" pitchFamily="34" charset="-122"/>
                <a:cs typeface="Helvetica" pitchFamily="34" charset="-120"/>
              </a:rPr>
              <a:t>nos</a:t>
            </a:r>
            <a:r>
              <a:rPr lang="en-US" sz="1400" dirty="0">
                <a:solidFill>
                  <a:srgbClr val="4A4A4A"/>
                </a:solidFill>
                <a:latin typeface="Helvetica" pitchFamily="34" charset="0"/>
                <a:ea typeface="Helvetica" pitchFamily="34" charset="-122"/>
                <a:cs typeface="Helvetica" pitchFamily="34" charset="-120"/>
              </a:rPr>
              <a:t> </a:t>
            </a:r>
            <a:r>
              <a:rPr lang="en-US" sz="1400" dirty="0" err="1">
                <a:solidFill>
                  <a:srgbClr val="4A4A4A"/>
                </a:solidFill>
                <a:latin typeface="Helvetica" pitchFamily="34" charset="0"/>
                <a:ea typeface="Helvetica" pitchFamily="34" charset="-122"/>
                <a:cs typeface="Helvetica" pitchFamily="34" charset="-120"/>
              </a:rPr>
              <a:t>obliga</a:t>
            </a:r>
            <a:r>
              <a:rPr lang="en-US" sz="1400" dirty="0">
                <a:solidFill>
                  <a:srgbClr val="4A4A4A"/>
                </a:solidFill>
                <a:latin typeface="Helvetica" pitchFamily="34" charset="0"/>
                <a:ea typeface="Helvetica" pitchFamily="34" charset="-122"/>
                <a:cs typeface="Helvetica" pitchFamily="34" charset="-120"/>
              </a:rPr>
              <a:t> a </a:t>
            </a:r>
            <a:r>
              <a:rPr lang="en-US" sz="1400" dirty="0" err="1">
                <a:solidFill>
                  <a:srgbClr val="4A4A4A"/>
                </a:solidFill>
                <a:latin typeface="Helvetica" pitchFamily="34" charset="0"/>
                <a:ea typeface="Helvetica" pitchFamily="34" charset="-122"/>
                <a:cs typeface="Helvetica" pitchFamily="34" charset="-120"/>
              </a:rPr>
              <a:t>agregar</a:t>
            </a:r>
            <a:r>
              <a:rPr lang="en-US" sz="1400" dirty="0">
                <a:solidFill>
                  <a:srgbClr val="4A4A4A"/>
                </a:solidFill>
                <a:latin typeface="Helvetica" pitchFamily="34" charset="0"/>
                <a:ea typeface="Helvetica" pitchFamily="34" charset="-122"/>
                <a:cs typeface="Helvetica" pitchFamily="34" charset="-120"/>
              </a:rPr>
              <a:t> un </a:t>
            </a:r>
            <a:r>
              <a:rPr lang="en-US" sz="1400" dirty="0" err="1">
                <a:solidFill>
                  <a:srgbClr val="4A4A4A"/>
                </a:solidFill>
                <a:latin typeface="Helvetica" pitchFamily="34" charset="0"/>
                <a:ea typeface="Helvetica" pitchFamily="34" charset="-122"/>
                <a:cs typeface="Helvetica" pitchFamily="34" charset="-120"/>
              </a:rPr>
              <a:t>candidato</a:t>
            </a:r>
            <a:r>
              <a:rPr lang="en-US" sz="1400" dirty="0">
                <a:solidFill>
                  <a:srgbClr val="4A4A4A"/>
                </a:solidFill>
                <a:latin typeface="Helvetica" pitchFamily="34" charset="0"/>
                <a:ea typeface="Helvetica" pitchFamily="34" charset="-122"/>
                <a:cs typeface="Helvetica" pitchFamily="34" charset="-120"/>
              </a:rPr>
              <a:t> </a:t>
            </a:r>
            <a:r>
              <a:rPr lang="en-US" sz="1400" dirty="0" err="1">
                <a:solidFill>
                  <a:srgbClr val="4A4A4A"/>
                </a:solidFill>
                <a:latin typeface="Helvetica" pitchFamily="34" charset="0"/>
                <a:ea typeface="Helvetica" pitchFamily="34" charset="-122"/>
                <a:cs typeface="Helvetica" pitchFamily="34" charset="-120"/>
              </a:rPr>
              <a:t>que</a:t>
            </a:r>
            <a:r>
              <a:rPr lang="en-US" sz="1400" dirty="0">
                <a:solidFill>
                  <a:srgbClr val="4A4A4A"/>
                </a:solidFill>
                <a:latin typeface="Helvetica" pitchFamily="34" charset="0"/>
                <a:ea typeface="Helvetica" pitchFamily="34" charset="-122"/>
                <a:cs typeface="Helvetica" pitchFamily="34" charset="-120"/>
              </a:rPr>
              <a:t> no </a:t>
            </a:r>
            <a:r>
              <a:rPr lang="en-US" sz="1400" dirty="0" err="1">
                <a:solidFill>
                  <a:srgbClr val="4A4A4A"/>
                </a:solidFill>
                <a:latin typeface="Helvetica" pitchFamily="34" charset="0"/>
                <a:ea typeface="Helvetica" pitchFamily="34" charset="-122"/>
                <a:cs typeface="Helvetica" pitchFamily="34" charset="-120"/>
              </a:rPr>
              <a:t>habíamos</a:t>
            </a:r>
            <a:r>
              <a:rPr lang="en-US" sz="1400" dirty="0">
                <a:solidFill>
                  <a:srgbClr val="4A4A4A"/>
                </a:solidFill>
                <a:latin typeface="Helvetica" pitchFamily="34" charset="0"/>
                <a:ea typeface="Helvetica" pitchFamily="34" charset="-122"/>
                <a:cs typeface="Helvetica" pitchFamily="34" charset="-120"/>
              </a:rPr>
              <a:t> visto: el </a:t>
            </a:r>
            <a:r>
              <a:rPr lang="en-US" sz="1400" b="1" dirty="0" err="1">
                <a:solidFill>
                  <a:srgbClr val="4A4A4A"/>
                </a:solidFill>
                <a:latin typeface="Helvetica" pitchFamily="34" charset="0"/>
                <a:ea typeface="Helvetica" pitchFamily="34" charset="-122"/>
                <a:cs typeface="Helvetica" pitchFamily="34" charset="-120"/>
              </a:rPr>
              <a:t>Núcleo</a:t>
            </a:r>
            <a:r>
              <a:rPr lang="en-US" sz="1400" b="1" dirty="0">
                <a:solidFill>
                  <a:srgbClr val="4A4A4A"/>
                </a:solidFill>
                <a:latin typeface="Helvetica" pitchFamily="34" charset="0"/>
                <a:ea typeface="Helvetica" pitchFamily="34" charset="-122"/>
                <a:cs typeface="Helvetica" pitchFamily="34" charset="-120"/>
              </a:rPr>
              <a:t> de </a:t>
            </a:r>
            <a:r>
              <a:rPr lang="en-US" sz="1400" b="1" dirty="0" err="1">
                <a:solidFill>
                  <a:srgbClr val="4A4A4A"/>
                </a:solidFill>
                <a:latin typeface="Helvetica" pitchFamily="34" charset="0"/>
                <a:ea typeface="Helvetica" pitchFamily="34" charset="-122"/>
                <a:cs typeface="Helvetica" pitchFamily="34" charset="-120"/>
              </a:rPr>
              <a:t>Pedidos</a:t>
            </a:r>
            <a:r>
              <a:rPr lang="en-US" sz="1400" dirty="0">
                <a:solidFill>
                  <a:srgbClr val="4A4A4A"/>
                </a:solidFill>
                <a:latin typeface="Helvetica" pitchFamily="34" charset="0"/>
                <a:ea typeface="Helvetica" pitchFamily="34" charset="-122"/>
                <a:cs typeface="Helvetica" pitchFamily="34" charset="-120"/>
              </a:rPr>
              <a:t> </a:t>
            </a:r>
            <a:r>
              <a:rPr lang="en-US" sz="1400" dirty="0" err="1">
                <a:solidFill>
                  <a:srgbClr val="4A4A4A"/>
                </a:solidFill>
                <a:latin typeface="Helvetica" pitchFamily="34" charset="0"/>
                <a:ea typeface="Helvetica" pitchFamily="34" charset="-122"/>
                <a:cs typeface="Helvetica" pitchFamily="34" charset="-120"/>
              </a:rPr>
              <a:t>mismo</a:t>
            </a:r>
            <a:r>
              <a:rPr lang="en-US" sz="1400" dirty="0">
                <a:solidFill>
                  <a:srgbClr val="4A4A4A"/>
                </a:solidFill>
                <a:latin typeface="Helvetica" pitchFamily="34" charset="0"/>
                <a:ea typeface="Helvetica" pitchFamily="34" charset="-122"/>
                <a:cs typeface="Helvetica" pitchFamily="34" charset="-120"/>
              </a:rPr>
              <a:t>, </a:t>
            </a:r>
            <a:r>
              <a:rPr lang="en-US" sz="1400" dirty="0" err="1">
                <a:solidFill>
                  <a:srgbClr val="4A4A4A"/>
                </a:solidFill>
                <a:latin typeface="Helvetica" pitchFamily="34" charset="0"/>
                <a:ea typeface="Helvetica" pitchFamily="34" charset="-122"/>
                <a:cs typeface="Helvetica" pitchFamily="34" charset="-120"/>
              </a:rPr>
              <a:t>como</a:t>
            </a:r>
            <a:r>
              <a:rPr lang="en-US" sz="1400" dirty="0">
                <a:solidFill>
                  <a:srgbClr val="4A4A4A"/>
                </a:solidFill>
                <a:latin typeface="Helvetica" pitchFamily="34" charset="0"/>
                <a:ea typeface="Helvetica" pitchFamily="34" charset="-122"/>
                <a:cs typeface="Helvetica" pitchFamily="34" charset="-120"/>
              </a:rPr>
              <a:t> </a:t>
            </a:r>
            <a:r>
              <a:rPr lang="en-US" sz="1400" dirty="0" err="1">
                <a:solidFill>
                  <a:srgbClr val="4A4A4A"/>
                </a:solidFill>
                <a:latin typeface="Helvetica" pitchFamily="34" charset="0"/>
                <a:ea typeface="Helvetica" pitchFamily="34" charset="-122"/>
                <a:cs typeface="Helvetica" pitchFamily="34" charset="-120"/>
              </a:rPr>
              <a:t>elemento</a:t>
            </a:r>
            <a:r>
              <a:rPr lang="en-US" sz="1400" dirty="0">
                <a:solidFill>
                  <a:srgbClr val="4A4A4A"/>
                </a:solidFill>
                <a:latin typeface="Helvetica" pitchFamily="34" charset="0"/>
                <a:ea typeface="Helvetica" pitchFamily="34" charset="-122"/>
                <a:cs typeface="Helvetica" pitchFamily="34" charset="-120"/>
              </a:rPr>
              <a:t> con </a:t>
            </a:r>
            <a:r>
              <a:rPr lang="en-US" sz="1400" dirty="0" err="1">
                <a:solidFill>
                  <a:srgbClr val="4A4A4A"/>
                </a:solidFill>
                <a:latin typeface="Helvetica" pitchFamily="34" charset="0"/>
                <a:ea typeface="Helvetica" pitchFamily="34" charset="-122"/>
                <a:cs typeface="Helvetica" pitchFamily="34" charset="-120"/>
              </a:rPr>
              <a:t>nombre</a:t>
            </a:r>
            <a:r>
              <a:rPr lang="en-US" sz="1400" dirty="0">
                <a:solidFill>
                  <a:srgbClr val="4A4A4A"/>
                </a:solidFill>
                <a:latin typeface="Helvetica" pitchFamily="34" charset="0"/>
                <a:ea typeface="Helvetica" pitchFamily="34" charset="-122"/>
                <a:cs typeface="Helvetica" pitchFamily="34" charset="-120"/>
              </a:rPr>
              <a:t> </a:t>
            </a:r>
            <a:r>
              <a:rPr lang="en-US" sz="1400" dirty="0" err="1">
                <a:solidFill>
                  <a:srgbClr val="4A4A4A"/>
                </a:solidFill>
                <a:latin typeface="Helvetica" pitchFamily="34" charset="0"/>
                <a:ea typeface="Helvetica" pitchFamily="34" charset="-122"/>
                <a:cs typeface="Helvetica" pitchFamily="34" charset="-120"/>
              </a:rPr>
              <a:t>propio</a:t>
            </a:r>
            <a:r>
              <a:rPr lang="en-US" sz="1400" dirty="0">
                <a:solidFill>
                  <a:srgbClr val="4A4A4A"/>
                </a:solidFill>
                <a:latin typeface="Helvetica" pitchFamily="34" charset="0"/>
                <a:ea typeface="Helvetica" pitchFamily="34" charset="-122"/>
                <a:cs typeface="Helvetica" pitchFamily="34" charset="-120"/>
              </a:rPr>
              <a:t>, </a:t>
            </a:r>
            <a:r>
              <a:rPr lang="en-US" sz="1400" dirty="0" err="1">
                <a:solidFill>
                  <a:srgbClr val="4A4A4A"/>
                </a:solidFill>
                <a:latin typeface="Helvetica" pitchFamily="34" charset="0"/>
                <a:ea typeface="Helvetica" pitchFamily="34" charset="-122"/>
                <a:cs typeface="Helvetica" pitchFamily="34" charset="-120"/>
              </a:rPr>
              <a:t>responsable</a:t>
            </a:r>
            <a:r>
              <a:rPr lang="en-US" sz="1400" dirty="0">
                <a:solidFill>
                  <a:srgbClr val="4A4A4A"/>
                </a:solidFill>
                <a:latin typeface="Helvetica" pitchFamily="34" charset="0"/>
                <a:ea typeface="Helvetica" pitchFamily="34" charset="-122"/>
                <a:cs typeface="Helvetica" pitchFamily="34" charset="-120"/>
              </a:rPr>
              <a:t> de </a:t>
            </a:r>
            <a:r>
              <a:rPr lang="en-US" sz="1400" dirty="0" err="1">
                <a:solidFill>
                  <a:srgbClr val="4A4A4A"/>
                </a:solidFill>
                <a:latin typeface="Helvetica" pitchFamily="34" charset="0"/>
                <a:ea typeface="Helvetica" pitchFamily="34" charset="-122"/>
                <a:cs typeface="Helvetica" pitchFamily="34" charset="-120"/>
              </a:rPr>
              <a:t>armar</a:t>
            </a:r>
            <a:r>
              <a:rPr lang="en-US" sz="1400" dirty="0">
                <a:solidFill>
                  <a:srgbClr val="4A4A4A"/>
                </a:solidFill>
                <a:latin typeface="Helvetica" pitchFamily="34" charset="0"/>
                <a:ea typeface="Helvetica" pitchFamily="34" charset="-122"/>
                <a:cs typeface="Helvetica" pitchFamily="34" charset="-120"/>
              </a:rPr>
              <a:t> y </a:t>
            </a:r>
            <a:r>
              <a:rPr lang="en-US" sz="1400" dirty="0" err="1">
                <a:solidFill>
                  <a:srgbClr val="4A4A4A"/>
                </a:solidFill>
                <a:latin typeface="Helvetica" pitchFamily="34" charset="0"/>
                <a:ea typeface="Helvetica" pitchFamily="34" charset="-122"/>
                <a:cs typeface="Helvetica" pitchFamily="34" charset="-120"/>
              </a:rPr>
              <a:t>sostener</a:t>
            </a:r>
            <a:r>
              <a:rPr lang="en-US" sz="1400" dirty="0">
                <a:solidFill>
                  <a:srgbClr val="4A4A4A"/>
                </a:solidFill>
                <a:latin typeface="Helvetica" pitchFamily="34" charset="0"/>
                <a:ea typeface="Helvetica" pitchFamily="34" charset="-122"/>
                <a:cs typeface="Helvetica" pitchFamily="34" charset="-120"/>
              </a:rPr>
              <a:t> el </a:t>
            </a:r>
            <a:r>
              <a:rPr lang="en-US" sz="1400" dirty="0" err="1">
                <a:solidFill>
                  <a:srgbClr val="4A4A4A"/>
                </a:solidFill>
                <a:latin typeface="Helvetica" pitchFamily="34" charset="0"/>
                <a:ea typeface="Helvetica" pitchFamily="34" charset="-122"/>
                <a:cs typeface="Helvetica" pitchFamily="34" charset="-120"/>
              </a:rPr>
              <a:t>Despachador</a:t>
            </a:r>
            <a:r>
              <a:rPr lang="en-US" sz="1400" dirty="0">
                <a:solidFill>
                  <a:srgbClr val="4A4A4A"/>
                </a:solidFill>
                <a:latin typeface="Helvetica" pitchFamily="34" charset="0"/>
                <a:ea typeface="Helvetica" pitchFamily="34" charset="-122"/>
                <a:cs typeface="Helvetica" pitchFamily="34" charset="-120"/>
              </a:rPr>
              <a:t>, el </a:t>
            </a:r>
            <a:r>
              <a:rPr lang="en-US" sz="1400" dirty="0" err="1">
                <a:solidFill>
                  <a:srgbClr val="4A4A4A"/>
                </a:solidFill>
                <a:latin typeface="Helvetica" pitchFamily="34" charset="0"/>
                <a:ea typeface="Helvetica" pitchFamily="34" charset="-122"/>
                <a:cs typeface="Helvetica" pitchFamily="34" charset="-120"/>
              </a:rPr>
              <a:t>Manejador</a:t>
            </a:r>
            <a:r>
              <a:rPr lang="en-US" sz="1400" dirty="0">
                <a:solidFill>
                  <a:srgbClr val="4A4A4A"/>
                </a:solidFill>
                <a:latin typeface="Helvetica" pitchFamily="34" charset="0"/>
                <a:ea typeface="Helvetica" pitchFamily="34" charset="-122"/>
                <a:cs typeface="Helvetica" pitchFamily="34" charset="-120"/>
              </a:rPr>
              <a:t> de </a:t>
            </a:r>
            <a:r>
              <a:rPr lang="en-US" sz="1400" dirty="0" err="1">
                <a:solidFill>
                  <a:srgbClr val="4A4A4A"/>
                </a:solidFill>
                <a:latin typeface="Helvetica" pitchFamily="34" charset="0"/>
                <a:ea typeface="Helvetica" pitchFamily="34" charset="-122"/>
                <a:cs typeface="Helvetica" pitchFamily="34" charset="-120"/>
              </a:rPr>
              <a:t>Carritos</a:t>
            </a:r>
            <a:r>
              <a:rPr lang="en-US" sz="1400" dirty="0">
                <a:solidFill>
                  <a:srgbClr val="4A4A4A"/>
                </a:solidFill>
                <a:latin typeface="Helvetica" pitchFamily="34" charset="0"/>
                <a:ea typeface="Helvetica" pitchFamily="34" charset="-122"/>
                <a:cs typeface="Helvetica" pitchFamily="34" charset="-120"/>
              </a:rPr>
              <a:t>, el </a:t>
            </a:r>
            <a:r>
              <a:rPr lang="en-US" sz="1400" dirty="0" err="1">
                <a:solidFill>
                  <a:srgbClr val="4A4A4A"/>
                </a:solidFill>
                <a:latin typeface="Helvetica" pitchFamily="34" charset="0"/>
                <a:ea typeface="Helvetica" pitchFamily="34" charset="-122"/>
                <a:cs typeface="Helvetica" pitchFamily="34" charset="-120"/>
              </a:rPr>
              <a:t>Catálogo</a:t>
            </a:r>
            <a:r>
              <a:rPr lang="en-US" sz="1400" dirty="0">
                <a:solidFill>
                  <a:srgbClr val="4A4A4A"/>
                </a:solidFill>
                <a:latin typeface="Helvetica" pitchFamily="34" charset="0"/>
                <a:ea typeface="Helvetica" pitchFamily="34" charset="-122"/>
                <a:cs typeface="Helvetica" pitchFamily="34" charset="-120"/>
              </a:rPr>
              <a:t>, el </a:t>
            </a:r>
            <a:r>
              <a:rPr lang="en-US" sz="1400" dirty="0" err="1">
                <a:solidFill>
                  <a:srgbClr val="4A4A4A"/>
                </a:solidFill>
                <a:latin typeface="Helvetica" pitchFamily="34" charset="0"/>
                <a:ea typeface="Helvetica" pitchFamily="34" charset="-122"/>
                <a:cs typeface="Helvetica" pitchFamily="34" charset="-120"/>
              </a:rPr>
              <a:t>Buscador</a:t>
            </a:r>
            <a:r>
              <a:rPr lang="en-US" sz="1400" dirty="0">
                <a:solidFill>
                  <a:srgbClr val="4A4A4A"/>
                </a:solidFill>
                <a:latin typeface="Helvetica" pitchFamily="34" charset="0"/>
                <a:ea typeface="Helvetica" pitchFamily="34" charset="-122"/>
                <a:cs typeface="Helvetica" pitchFamily="34" charset="-120"/>
              </a:rPr>
              <a:t> de Fotos y el </a:t>
            </a:r>
            <a:r>
              <a:rPr lang="en-US" sz="1400" dirty="0" err="1">
                <a:solidFill>
                  <a:srgbClr val="4A4A4A"/>
                </a:solidFill>
                <a:latin typeface="Helvetica" pitchFamily="34" charset="0"/>
                <a:ea typeface="Helvetica" pitchFamily="34" charset="-122"/>
                <a:cs typeface="Helvetica" pitchFamily="34" charset="-120"/>
              </a:rPr>
              <a:t>Conector</a:t>
            </a:r>
            <a:r>
              <a:rPr lang="en-US" sz="1400" dirty="0">
                <a:solidFill>
                  <a:srgbClr val="4A4A4A"/>
                </a:solidFill>
                <a:latin typeface="Helvetica" pitchFamily="34" charset="0"/>
                <a:ea typeface="Helvetica" pitchFamily="34" charset="-122"/>
                <a:cs typeface="Helvetica" pitchFamily="34" charset="-120"/>
              </a:rPr>
              <a:t> DB.</a:t>
            </a:r>
            <a:endParaRPr lang="en-US" sz="1400" dirty="0"/>
          </a:p>
        </p:txBody>
      </p:sp>
      <p:sp>
        <p:nvSpPr>
          <p:cNvPr id="24" name="TextBox 23"/>
          <p:cNvSpPr txBox="1"/>
          <p:nvPr/>
        </p:nvSpPr>
        <p:spPr>
          <a:xfrm>
            <a:off x="664369" y="2688170"/>
            <a:ext cx="3500438" cy="372794"/>
          </a:xfrm>
          <a:prstGeom prst="rect">
            <a:avLst/>
          </a:prstGeom>
          <a:noFill/>
        </p:spPr>
        <p:txBody>
          <a:bodyPr wrap="square" lIns="0" tIns="0" rIns="0" bIns="0" anchor="t">
            <a:spAutoFit/>
          </a:bodyPr>
          <a:lstStyle/>
          <a:p>
            <a:pPr>
              <a:lnSpc>
                <a:spcPts val="1496"/>
              </a:lnSpc>
            </a:pPr>
            <a:r>
              <a:rPr sz="1069" dirty="0">
                <a:solidFill>
                  <a:srgbClr val="334155"/>
                </a:solidFill>
                <a:latin typeface="Plus Jakarta Sans"/>
              </a:rPr>
              <a:t>¿</a:t>
            </a:r>
            <a:r>
              <a:rPr sz="1069" dirty="0" err="1">
                <a:solidFill>
                  <a:srgbClr val="334155"/>
                </a:solidFill>
                <a:latin typeface="Plus Jakarta Sans"/>
              </a:rPr>
              <a:t>Quién</a:t>
            </a:r>
            <a:r>
              <a:rPr sz="1069" dirty="0">
                <a:solidFill>
                  <a:srgbClr val="334155"/>
                </a:solidFill>
                <a:latin typeface="Plus Jakarta Sans"/>
              </a:rPr>
              <a:t> </a:t>
            </a:r>
            <a:r>
              <a:rPr sz="1069" dirty="0" err="1">
                <a:solidFill>
                  <a:srgbClr val="334155"/>
                </a:solidFill>
                <a:latin typeface="Plus Jakarta Sans"/>
              </a:rPr>
              <a:t>crea</a:t>
            </a:r>
            <a:r>
              <a:rPr sz="1069" dirty="0">
                <a:solidFill>
                  <a:srgbClr val="334155"/>
                </a:solidFill>
                <a:latin typeface="Plus Jakarta Sans"/>
              </a:rPr>
              <a:t> y </a:t>
            </a:r>
            <a:r>
              <a:rPr sz="1069" dirty="0" err="1">
                <a:solidFill>
                  <a:srgbClr val="334155"/>
                </a:solidFill>
                <a:latin typeface="Plus Jakarta Sans"/>
              </a:rPr>
              <a:t>sostiene</a:t>
            </a:r>
            <a:r>
              <a:rPr sz="1069" dirty="0">
                <a:solidFill>
                  <a:srgbClr val="334155"/>
                </a:solidFill>
                <a:latin typeface="Plus Jakarta Sans"/>
              </a:rPr>
              <a:t> </a:t>
            </a:r>
            <a:r>
              <a:rPr sz="1069" dirty="0" err="1">
                <a:solidFill>
                  <a:srgbClr val="334155"/>
                </a:solidFill>
                <a:latin typeface="Plus Jakarta Sans"/>
              </a:rPr>
              <a:t>los</a:t>
            </a:r>
            <a:r>
              <a:rPr sz="1069" dirty="0">
                <a:solidFill>
                  <a:srgbClr val="334155"/>
                </a:solidFill>
                <a:latin typeface="Plus Jakarta Sans"/>
              </a:rPr>
              <a:t> </a:t>
            </a:r>
            <a:r>
              <a:rPr sz="1069" dirty="0" err="1">
                <a:solidFill>
                  <a:srgbClr val="334155"/>
                </a:solidFill>
                <a:latin typeface="Plus Jakarta Sans"/>
              </a:rPr>
              <a:t>componentes</a:t>
            </a:r>
            <a:r>
              <a:rPr sz="1069" dirty="0">
                <a:solidFill>
                  <a:srgbClr val="334155"/>
                </a:solidFill>
                <a:latin typeface="Plus Jakarta Sans"/>
              </a:rPr>
              <a:t> </a:t>
            </a:r>
            <a:r>
              <a:rPr lang="es-CO" sz="1069" dirty="0">
                <a:solidFill>
                  <a:srgbClr val="334155"/>
                </a:solidFill>
                <a:latin typeface="Plus Jakarta Sans"/>
              </a:rPr>
              <a:t>? </a:t>
            </a:r>
            <a:r>
              <a:rPr sz="1069" dirty="0">
                <a:solidFill>
                  <a:srgbClr val="334155"/>
                </a:solidFill>
                <a:latin typeface="Plus Jakarta Sans"/>
              </a:rPr>
              <a:t>(</a:t>
            </a:r>
            <a:r>
              <a:rPr sz="1069" dirty="0" err="1">
                <a:solidFill>
                  <a:srgbClr val="334155"/>
                </a:solidFill>
                <a:latin typeface="Plus Jakarta Sans"/>
              </a:rPr>
              <a:t>Despachador</a:t>
            </a:r>
            <a:r>
              <a:rPr sz="1069" dirty="0">
                <a:solidFill>
                  <a:srgbClr val="334155"/>
                </a:solidFill>
                <a:latin typeface="Plus Jakarta Sans"/>
              </a:rPr>
              <a:t>, </a:t>
            </a:r>
            <a:r>
              <a:rPr sz="1069" dirty="0" err="1">
                <a:solidFill>
                  <a:srgbClr val="334155"/>
                </a:solidFill>
                <a:latin typeface="Plus Jakarta Sans"/>
              </a:rPr>
              <a:t>Catálogo</a:t>
            </a:r>
            <a:r>
              <a:rPr sz="1069" dirty="0">
                <a:solidFill>
                  <a:srgbClr val="334155"/>
                </a:solidFill>
                <a:latin typeface="Plus Jakarta Sans"/>
              </a:rPr>
              <a:t>, </a:t>
            </a:r>
            <a:r>
              <a:rPr sz="1069" dirty="0" err="1">
                <a:solidFill>
                  <a:srgbClr val="334155"/>
                </a:solidFill>
                <a:latin typeface="Plus Jakarta Sans"/>
              </a:rPr>
              <a:t>Conector</a:t>
            </a:r>
            <a:r>
              <a:rPr sz="1069" dirty="0">
                <a:solidFill>
                  <a:srgbClr val="334155"/>
                </a:solidFill>
                <a:latin typeface="Plus Jakarta Sans"/>
              </a:rPr>
              <a:t> DB).</a:t>
            </a:r>
          </a:p>
        </p:txBody>
      </p:sp>
      <p:sp>
        <p:nvSpPr>
          <p:cNvPr id="25" name="TextBox 24"/>
          <p:cNvSpPr txBox="1"/>
          <p:nvPr/>
        </p:nvSpPr>
        <p:spPr>
          <a:xfrm>
            <a:off x="5050631" y="2688170"/>
            <a:ext cx="3500438" cy="372794"/>
          </a:xfrm>
          <a:prstGeom prst="rect">
            <a:avLst/>
          </a:prstGeom>
          <a:noFill/>
        </p:spPr>
        <p:txBody>
          <a:bodyPr wrap="square" lIns="0" tIns="0" rIns="0" bIns="0" anchor="t">
            <a:spAutoFit/>
          </a:bodyPr>
          <a:lstStyle/>
          <a:p>
            <a:pPr>
              <a:lnSpc>
                <a:spcPts val="1496"/>
              </a:lnSpc>
            </a:pPr>
            <a:r>
              <a:rPr sz="1069" dirty="0">
                <a:solidFill>
                  <a:srgbClr val="334155"/>
                </a:solidFill>
                <a:latin typeface="Plus Jakarta Sans"/>
              </a:rPr>
              <a:t>Nace un </a:t>
            </a:r>
            <a:r>
              <a:rPr sz="1069" dirty="0" err="1">
                <a:solidFill>
                  <a:srgbClr val="334155"/>
                </a:solidFill>
                <a:latin typeface="Plus Jakarta Sans"/>
              </a:rPr>
              <a:t>componente</a:t>
            </a:r>
            <a:r>
              <a:rPr sz="1069" dirty="0">
                <a:solidFill>
                  <a:srgbClr val="334155"/>
                </a:solidFill>
                <a:latin typeface="Plus Jakarta Sans"/>
              </a:rPr>
              <a:t> con </a:t>
            </a:r>
            <a:r>
              <a:rPr sz="1069" dirty="0" err="1">
                <a:solidFill>
                  <a:srgbClr val="334155"/>
                </a:solidFill>
                <a:latin typeface="Plus Jakarta Sans"/>
              </a:rPr>
              <a:t>nombre</a:t>
            </a:r>
            <a:r>
              <a:rPr sz="1069" dirty="0">
                <a:solidFill>
                  <a:srgbClr val="334155"/>
                </a:solidFill>
                <a:latin typeface="Plus Jakarta Sans"/>
              </a:rPr>
              <a:t> </a:t>
            </a:r>
            <a:r>
              <a:rPr sz="1069" dirty="0" err="1">
                <a:solidFill>
                  <a:srgbClr val="334155"/>
                </a:solidFill>
                <a:latin typeface="Plus Jakarta Sans"/>
              </a:rPr>
              <a:t>propio</a:t>
            </a:r>
            <a:r>
              <a:rPr sz="1069" dirty="0">
                <a:solidFill>
                  <a:srgbClr val="334155"/>
                </a:solidFill>
                <a:latin typeface="Plus Jakarta Sans"/>
              </a:rPr>
              <a:t>. </a:t>
            </a:r>
            <a:r>
              <a:rPr sz="1069" dirty="0" err="1">
                <a:solidFill>
                  <a:srgbClr val="334155"/>
                </a:solidFill>
                <a:latin typeface="Plus Jakarta Sans"/>
              </a:rPr>
              <a:t>Responsable</a:t>
            </a:r>
            <a:r>
              <a:rPr sz="1069" dirty="0">
                <a:solidFill>
                  <a:srgbClr val="334155"/>
                </a:solidFill>
                <a:latin typeface="Plus Jakarta Sans"/>
              </a:rPr>
              <a:t> central de </a:t>
            </a:r>
            <a:r>
              <a:rPr sz="1069" dirty="0" err="1">
                <a:solidFill>
                  <a:srgbClr val="334155"/>
                </a:solidFill>
                <a:latin typeface="Plus Jakarta Sans"/>
              </a:rPr>
              <a:t>armar</a:t>
            </a:r>
            <a:r>
              <a:rPr sz="1069" dirty="0">
                <a:solidFill>
                  <a:srgbClr val="334155"/>
                </a:solidFill>
                <a:latin typeface="Plus Jakarta Sans"/>
              </a:rPr>
              <a:t> y </a:t>
            </a:r>
            <a:r>
              <a:rPr sz="1069" dirty="0" err="1">
                <a:solidFill>
                  <a:srgbClr val="334155"/>
                </a:solidFill>
                <a:latin typeface="Plus Jakarta Sans"/>
              </a:rPr>
              <a:t>sostener</a:t>
            </a:r>
            <a:r>
              <a:rPr sz="1069" dirty="0">
                <a:solidFill>
                  <a:srgbClr val="334155"/>
                </a:solidFill>
                <a:latin typeface="Plus Jakarta Sans"/>
              </a:rPr>
              <a:t> el </a:t>
            </a:r>
            <a:r>
              <a:rPr sz="1069" dirty="0" err="1">
                <a:solidFill>
                  <a:srgbClr val="334155"/>
                </a:solidFill>
                <a:latin typeface="Plus Jakarta Sans"/>
              </a:rPr>
              <a:t>sistema</a:t>
            </a:r>
            <a:r>
              <a:rPr sz="1069" dirty="0">
                <a:solidFill>
                  <a:srgbClr val="334155"/>
                </a:solidFill>
                <a:latin typeface="Plus Jakarta Sans"/>
              </a:rPr>
              <a:t>.</a:t>
            </a:r>
          </a:p>
        </p:txBody>
      </p:sp>
      <p:sp>
        <p:nvSpPr>
          <p:cNvPr id="26" name="TextBox 25"/>
          <p:cNvSpPr txBox="1"/>
          <p:nvPr/>
        </p:nvSpPr>
        <p:spPr>
          <a:xfrm>
            <a:off x="1007269" y="2355986"/>
            <a:ext cx="1737655" cy="173124"/>
          </a:xfrm>
          <a:prstGeom prst="rect">
            <a:avLst/>
          </a:prstGeom>
          <a:noFill/>
        </p:spPr>
        <p:txBody>
          <a:bodyPr wrap="none" lIns="0" tIns="0" rIns="0" bIns="0" anchor="t">
            <a:spAutoFit/>
          </a:bodyPr>
          <a:lstStyle/>
          <a:p>
            <a:pPr algn="l"/>
            <a:r>
              <a:rPr sz="1125" b="1">
                <a:solidFill>
                  <a:srgbClr val="F43F5E"/>
                </a:solidFill>
                <a:latin typeface="Plus Jakarta Sans"/>
              </a:rPr>
              <a:t>Responsabilidades huérfanas</a:t>
            </a:r>
          </a:p>
        </p:txBody>
      </p:sp>
      <p:sp>
        <p:nvSpPr>
          <p:cNvPr id="27" name="TextBox 26"/>
          <p:cNvSpPr txBox="1"/>
          <p:nvPr/>
        </p:nvSpPr>
        <p:spPr>
          <a:xfrm>
            <a:off x="5393531" y="2355986"/>
            <a:ext cx="1102866" cy="173124"/>
          </a:xfrm>
          <a:prstGeom prst="rect">
            <a:avLst/>
          </a:prstGeom>
          <a:noFill/>
        </p:spPr>
        <p:txBody>
          <a:bodyPr wrap="none" lIns="0" tIns="0" rIns="0" bIns="0" anchor="t">
            <a:spAutoFit/>
          </a:bodyPr>
          <a:lstStyle/>
          <a:p>
            <a:pPr algn="l"/>
            <a:r>
              <a:rPr sz="1125" b="1">
                <a:solidFill>
                  <a:srgbClr val="0F172A"/>
                </a:solidFill>
                <a:latin typeface="Plus Jakarta Sans"/>
              </a:rPr>
              <a:t>Núcleo de Pedidos</a:t>
            </a:r>
          </a:p>
        </p:txBody>
      </p:sp>
      <p:pic>
        <p:nvPicPr>
          <p:cNvPr id="28" name="Imagen 27" descr="Inventario disponible - Iconos gratis de comercio y compras">
            <a:extLst>
              <a:ext uri="{FF2B5EF4-FFF2-40B4-BE49-F238E27FC236}">
                <a16:creationId xmlns:a16="http://schemas.microsoft.com/office/drawing/2014/main" id="{BE4BCC64-937D-80D5-668D-8DAE9F68EB49}"/>
              </a:ext>
            </a:extLst>
          </p:cNvPr>
          <p:cNvPicPr>
            <a:picLocks noChangeAspect="1"/>
          </p:cNvPicPr>
          <p:nvPr/>
        </p:nvPicPr>
        <p:blipFill>
          <a:blip r:embed="rId6"/>
          <a:stretch>
            <a:fillRect/>
          </a:stretch>
        </p:blipFill>
        <p:spPr>
          <a:xfrm>
            <a:off x="4960609" y="2313655"/>
            <a:ext cx="287706" cy="287706"/>
          </a:xfrm>
          <a:prstGeom prst="rect">
            <a:avLst/>
          </a:prstGeom>
        </p:spPr>
      </p:pic>
      <p:pic>
        <p:nvPicPr>
          <p:cNvPr id="29" name="Imagen 28" descr="Peligro - Iconos gratis de señales">
            <a:extLst>
              <a:ext uri="{FF2B5EF4-FFF2-40B4-BE49-F238E27FC236}">
                <a16:creationId xmlns:a16="http://schemas.microsoft.com/office/drawing/2014/main" id="{DE885C99-9360-5363-9C52-4DF4937588F9}"/>
              </a:ext>
            </a:extLst>
          </p:cNvPr>
          <p:cNvPicPr>
            <a:picLocks noChangeAspect="1"/>
          </p:cNvPicPr>
          <p:nvPr/>
        </p:nvPicPr>
        <p:blipFill>
          <a:blip r:embed="rId7"/>
          <a:stretch>
            <a:fillRect/>
          </a:stretch>
        </p:blipFill>
        <p:spPr>
          <a:xfrm>
            <a:off x="575553" y="2253366"/>
            <a:ext cx="320505" cy="32050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ounded Rectangle 2"/>
          <p:cNvSpPr/>
          <p:nvPr/>
        </p:nvSpPr>
        <p:spPr>
          <a:xfrm>
            <a:off x="457200" y="4164807"/>
            <a:ext cx="8229600" cy="635794"/>
          </a:xfrm>
          <a:prstGeom prst="roundRect">
            <a:avLst>
              <a:gd name="adj" fmla="val 13483"/>
            </a:avLst>
          </a:prstGeom>
          <a:solidFill>
            <a:srgbClr val="D9F8F2"/>
          </a:solidFill>
          <a:ln w="9525">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ounded Rectangle 4"/>
          <p:cNvSpPr/>
          <p:nvPr/>
        </p:nvSpPr>
        <p:spPr>
          <a:xfrm>
            <a:off x="457200" y="1778012"/>
            <a:ext cx="8229600" cy="814388"/>
          </a:xfrm>
          <a:prstGeom prst="roundRect">
            <a:avLst>
              <a:gd name="adj" fmla="val 14035"/>
            </a:avLst>
          </a:prstGeom>
          <a:solidFill>
            <a:srgbClr val="FCFBFB"/>
          </a:solidFill>
          <a:ln w="9525">
            <a:solidFill>
              <a:srgbClr val="D6C4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 name="Rounded Rectangle 5"/>
          <p:cNvSpPr/>
          <p:nvPr/>
        </p:nvSpPr>
        <p:spPr>
          <a:xfrm>
            <a:off x="914400" y="2735275"/>
            <a:ext cx="7772400" cy="814388"/>
          </a:xfrm>
          <a:prstGeom prst="roundRect">
            <a:avLst>
              <a:gd name="adj" fmla="val 14035"/>
            </a:avLst>
          </a:prstGeom>
          <a:solidFill>
            <a:srgbClr val="FCFBFB"/>
          </a:solidFill>
          <a:ln w="9525">
            <a:solidFill>
              <a:srgbClr val="F3B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pic>
        <p:nvPicPr>
          <p:cNvPr id="7" name="Picture 6" descr="image.png"/>
          <p:cNvPicPr>
            <a:picLocks noChangeAspect="1"/>
          </p:cNvPicPr>
          <p:nvPr/>
        </p:nvPicPr>
        <p:blipFill>
          <a:blip r:embed="rId3"/>
          <a:stretch>
            <a:fillRect/>
          </a:stretch>
        </p:blipFill>
        <p:spPr>
          <a:xfrm>
            <a:off x="635794" y="1956606"/>
            <a:ext cx="457200" cy="457200"/>
          </a:xfrm>
          <a:prstGeom prst="rect">
            <a:avLst/>
          </a:prstGeom>
        </p:spPr>
      </p:pic>
      <p:pic>
        <p:nvPicPr>
          <p:cNvPr id="8" name="Picture 7" descr="image.png"/>
          <p:cNvPicPr>
            <a:picLocks noChangeAspect="1"/>
          </p:cNvPicPr>
          <p:nvPr/>
        </p:nvPicPr>
        <p:blipFill>
          <a:blip r:embed="rId4"/>
          <a:stretch>
            <a:fillRect/>
          </a:stretch>
        </p:blipFill>
        <p:spPr>
          <a:xfrm>
            <a:off x="1092994" y="2913869"/>
            <a:ext cx="457200" cy="457200"/>
          </a:xfrm>
          <a:prstGeom prst="rect">
            <a:avLst/>
          </a:prstGeom>
        </p:spPr>
      </p:pic>
      <p:sp>
        <p:nvSpPr>
          <p:cNvPr id="11" name="TextBox 10"/>
          <p:cNvSpPr txBox="1"/>
          <p:nvPr/>
        </p:nvSpPr>
        <p:spPr>
          <a:xfrm>
            <a:off x="-200025" y="4379956"/>
            <a:ext cx="9544050" cy="173124"/>
          </a:xfrm>
          <a:prstGeom prst="rect">
            <a:avLst/>
          </a:prstGeom>
          <a:noFill/>
        </p:spPr>
        <p:txBody>
          <a:bodyPr wrap="square" lIns="0" tIns="0" rIns="0" bIns="0" anchor="t">
            <a:spAutoFit/>
          </a:bodyPr>
          <a:lstStyle/>
          <a:p>
            <a:pPr algn="ctr"/>
            <a:r>
              <a:rPr sz="1125" b="1" dirty="0" err="1">
                <a:solidFill>
                  <a:srgbClr val="0F172A"/>
                </a:solidFill>
                <a:latin typeface="Plus Jakarta Sans"/>
              </a:rPr>
              <a:t>Decisión</a:t>
            </a:r>
            <a:r>
              <a:rPr sz="1125" b="1" dirty="0">
                <a:solidFill>
                  <a:srgbClr val="0F172A"/>
                </a:solidFill>
                <a:latin typeface="Plus Jakarta Sans"/>
              </a:rPr>
              <a:t> </a:t>
            </a:r>
            <a:r>
              <a:rPr sz="1125" b="1" dirty="0" err="1">
                <a:solidFill>
                  <a:srgbClr val="0F172A"/>
                </a:solidFill>
                <a:latin typeface="Plus Jakarta Sans"/>
              </a:rPr>
              <a:t>pequeña</a:t>
            </a:r>
            <a:r>
              <a:rPr sz="1125" b="1" dirty="0">
                <a:solidFill>
                  <a:srgbClr val="0F172A"/>
                </a:solidFill>
                <a:latin typeface="Plus Jakarta Sans"/>
              </a:rPr>
              <a:t>, </a:t>
            </a:r>
            <a:r>
              <a:rPr sz="1125" b="1" dirty="0" err="1">
                <a:solidFill>
                  <a:srgbClr val="0F172A"/>
                </a:solidFill>
                <a:latin typeface="Plus Jakarta Sans"/>
              </a:rPr>
              <a:t>consecuencia</a:t>
            </a:r>
            <a:r>
              <a:rPr sz="1125" b="1" dirty="0">
                <a:solidFill>
                  <a:srgbClr val="0F172A"/>
                </a:solidFill>
                <a:latin typeface="Plus Jakarta Sans"/>
              </a:rPr>
              <a:t> grande:</a:t>
            </a:r>
            <a:r>
              <a:rPr sz="1125" dirty="0">
                <a:solidFill>
                  <a:srgbClr val="334155"/>
                </a:solidFill>
                <a:latin typeface="Plus Jakarta Sans"/>
              </a:rPr>
              <a:t> </a:t>
            </a:r>
            <a:r>
              <a:rPr sz="1125" dirty="0" err="1">
                <a:solidFill>
                  <a:srgbClr val="334155"/>
                </a:solidFill>
                <a:latin typeface="Plus Jakarta Sans"/>
              </a:rPr>
              <a:t>Agregar</a:t>
            </a:r>
            <a:r>
              <a:rPr sz="1125" dirty="0">
                <a:solidFill>
                  <a:srgbClr val="334155"/>
                </a:solidFill>
                <a:latin typeface="Plus Jakarta Sans"/>
              </a:rPr>
              <a:t> un </a:t>
            </a:r>
            <a:r>
              <a:rPr sz="1125" dirty="0" err="1">
                <a:solidFill>
                  <a:srgbClr val="334155"/>
                </a:solidFill>
                <a:latin typeface="Plus Jakarta Sans"/>
              </a:rPr>
              <a:t>restaurante</a:t>
            </a:r>
            <a:r>
              <a:rPr sz="1125" dirty="0">
                <a:solidFill>
                  <a:srgbClr val="334155"/>
                </a:solidFill>
                <a:latin typeface="Plus Jakarta Sans"/>
              </a:rPr>
              <a:t> nuevo no </a:t>
            </a:r>
            <a:r>
              <a:rPr sz="1125" dirty="0" err="1">
                <a:solidFill>
                  <a:srgbClr val="334155"/>
                </a:solidFill>
                <a:latin typeface="Plus Jakarta Sans"/>
              </a:rPr>
              <a:t>obliga</a:t>
            </a:r>
            <a:r>
              <a:rPr sz="1125" dirty="0">
                <a:solidFill>
                  <a:srgbClr val="334155"/>
                </a:solidFill>
                <a:latin typeface="Plus Jakarta Sans"/>
              </a:rPr>
              <a:t> a </a:t>
            </a:r>
            <a:r>
              <a:rPr sz="1125" dirty="0" err="1">
                <a:solidFill>
                  <a:srgbClr val="334155"/>
                </a:solidFill>
                <a:latin typeface="Plus Jakarta Sans"/>
              </a:rPr>
              <a:t>tocar</a:t>
            </a:r>
            <a:r>
              <a:rPr sz="1125" dirty="0">
                <a:solidFill>
                  <a:srgbClr val="334155"/>
                </a:solidFill>
                <a:latin typeface="Plus Jakarta Sans"/>
              </a:rPr>
              <a:t> nada del resto del </a:t>
            </a:r>
            <a:r>
              <a:rPr sz="1125" dirty="0" err="1">
                <a:solidFill>
                  <a:srgbClr val="334155"/>
                </a:solidFill>
                <a:latin typeface="Plus Jakarta Sans"/>
              </a:rPr>
              <a:t>sistema</a:t>
            </a:r>
            <a:r>
              <a:rPr sz="1125" dirty="0">
                <a:solidFill>
                  <a:srgbClr val="334155"/>
                </a:solidFill>
                <a:latin typeface="Plus Jakarta Sans"/>
              </a:rPr>
              <a:t>.</a:t>
            </a:r>
          </a:p>
        </p:txBody>
      </p:sp>
      <p:sp>
        <p:nvSpPr>
          <p:cNvPr id="13" name="TextBox 12"/>
          <p:cNvSpPr txBox="1"/>
          <p:nvPr/>
        </p:nvSpPr>
        <p:spPr>
          <a:xfrm>
            <a:off x="457200" y="342899"/>
            <a:ext cx="3362395" cy="322461"/>
          </a:xfrm>
          <a:prstGeom prst="rect">
            <a:avLst/>
          </a:prstGeom>
          <a:noFill/>
        </p:spPr>
        <p:txBody>
          <a:bodyPr wrap="none" lIns="0" tIns="0" rIns="0" bIns="0" anchor="t">
            <a:spAutoFit/>
          </a:bodyPr>
          <a:lstStyle/>
          <a:p>
            <a:pPr>
              <a:lnSpc>
                <a:spcPts val="2565"/>
              </a:lnSpc>
            </a:pPr>
            <a:r>
              <a:rPr sz="2138" b="1" dirty="0" err="1">
                <a:solidFill>
                  <a:srgbClr val="0F172A"/>
                </a:solidFill>
                <a:latin typeface="Plus Jakarta Sans"/>
              </a:rPr>
              <a:t>Delegación</a:t>
            </a:r>
            <a:r>
              <a:rPr sz="2138" b="1" dirty="0">
                <a:solidFill>
                  <a:srgbClr val="0F172A"/>
                </a:solidFill>
                <a:latin typeface="Plus Jakarta Sans"/>
              </a:rPr>
              <a:t> de </a:t>
            </a:r>
            <a:r>
              <a:rPr sz="2138" b="1" dirty="0" err="1">
                <a:solidFill>
                  <a:srgbClr val="0F172A"/>
                </a:solidFill>
                <a:latin typeface="Plus Jakarta Sans"/>
              </a:rPr>
              <a:t>identificadores</a:t>
            </a:r>
            <a:endParaRPr sz="2138" b="1" dirty="0">
              <a:solidFill>
                <a:srgbClr val="0F172A"/>
              </a:solidFill>
              <a:latin typeface="Plus Jakarta Sans"/>
            </a:endParaRPr>
          </a:p>
        </p:txBody>
      </p:sp>
      <p:sp>
        <p:nvSpPr>
          <p:cNvPr id="14" name="TextBox 13"/>
          <p:cNvSpPr txBox="1"/>
          <p:nvPr/>
        </p:nvSpPr>
        <p:spPr>
          <a:xfrm>
            <a:off x="457200" y="848823"/>
            <a:ext cx="8383642" cy="707566"/>
          </a:xfrm>
          <a:prstGeom prst="rect">
            <a:avLst/>
          </a:prstGeom>
          <a:noFill/>
        </p:spPr>
        <p:txBody>
          <a:bodyPr wrap="none" lIns="0" tIns="0" rIns="0" bIns="0" anchor="t">
            <a:spAutoFit/>
          </a:bodyPr>
          <a:lstStyle/>
          <a:p>
            <a:pPr>
              <a:lnSpc>
                <a:spcPts val="1417"/>
              </a:lnSpc>
            </a:pPr>
            <a:r>
              <a:rPr sz="1600" b="1" dirty="0" err="1">
                <a:solidFill>
                  <a:srgbClr val="64748B"/>
                </a:solidFill>
                <a:latin typeface="Plus Jakarta Sans"/>
              </a:rPr>
              <a:t>Pregunta</a:t>
            </a:r>
            <a:r>
              <a:rPr sz="1600" b="1" dirty="0">
                <a:solidFill>
                  <a:srgbClr val="64748B"/>
                </a:solidFill>
                <a:latin typeface="Plus Jakarta Sans"/>
              </a:rPr>
              <a:t> </a:t>
            </a:r>
            <a:r>
              <a:rPr sz="1600" b="1" dirty="0" err="1">
                <a:solidFill>
                  <a:srgbClr val="64748B"/>
                </a:solidFill>
                <a:latin typeface="Plus Jakarta Sans"/>
              </a:rPr>
              <a:t>incómoda</a:t>
            </a:r>
            <a:r>
              <a:rPr sz="1600" b="1" dirty="0">
                <a:solidFill>
                  <a:srgbClr val="64748B"/>
                </a:solidFill>
                <a:latin typeface="Plus Jakarta Sans"/>
              </a:rPr>
              <a:t>: </a:t>
            </a:r>
            <a:r>
              <a:rPr sz="1600" dirty="0">
                <a:solidFill>
                  <a:srgbClr val="64748B"/>
                </a:solidFill>
                <a:latin typeface="Plus Jakarta Sans"/>
              </a:rPr>
              <a:t>¿</a:t>
            </a:r>
            <a:r>
              <a:rPr sz="1600" dirty="0" err="1">
                <a:solidFill>
                  <a:srgbClr val="64748B"/>
                </a:solidFill>
                <a:latin typeface="Plus Jakarta Sans"/>
              </a:rPr>
              <a:t>Quién</a:t>
            </a:r>
            <a:r>
              <a:rPr sz="1600" dirty="0">
                <a:solidFill>
                  <a:srgbClr val="64748B"/>
                </a:solidFill>
                <a:latin typeface="Plus Jakarta Sans"/>
              </a:rPr>
              <a:t> sabe a </a:t>
            </a:r>
            <a:r>
              <a:rPr sz="1600" dirty="0" err="1">
                <a:solidFill>
                  <a:srgbClr val="64748B"/>
                </a:solidFill>
                <a:latin typeface="Plus Jakarta Sans"/>
              </a:rPr>
              <a:t>qué</a:t>
            </a:r>
            <a:r>
              <a:rPr sz="1600" dirty="0">
                <a:solidFill>
                  <a:srgbClr val="64748B"/>
                </a:solidFill>
                <a:latin typeface="Plus Jakarta Sans"/>
              </a:rPr>
              <a:t> </a:t>
            </a:r>
            <a:r>
              <a:rPr sz="1600" dirty="0" err="1">
                <a:solidFill>
                  <a:srgbClr val="64748B"/>
                </a:solidFill>
                <a:latin typeface="Plus Jakarta Sans"/>
              </a:rPr>
              <a:t>restaurante</a:t>
            </a:r>
            <a:r>
              <a:rPr sz="1600" dirty="0">
                <a:solidFill>
                  <a:srgbClr val="64748B"/>
                </a:solidFill>
                <a:latin typeface="Plus Jakarta Sans"/>
              </a:rPr>
              <a:t> y </a:t>
            </a:r>
            <a:r>
              <a:rPr sz="1600" dirty="0" err="1">
                <a:solidFill>
                  <a:srgbClr val="64748B"/>
                </a:solidFill>
                <a:latin typeface="Plus Jakarta Sans"/>
              </a:rPr>
              <a:t>plato</a:t>
            </a:r>
            <a:r>
              <a:rPr sz="1600" dirty="0">
                <a:solidFill>
                  <a:srgbClr val="64748B"/>
                </a:solidFill>
                <a:latin typeface="Plus Jakarta Sans"/>
              </a:rPr>
              <a:t> </a:t>
            </a:r>
            <a:r>
              <a:rPr sz="1600" dirty="0" err="1">
                <a:solidFill>
                  <a:srgbClr val="64748B"/>
                </a:solidFill>
                <a:latin typeface="Plus Jakarta Sans"/>
              </a:rPr>
              <a:t>corresponde</a:t>
            </a:r>
            <a:r>
              <a:rPr sz="1600" dirty="0">
                <a:solidFill>
                  <a:srgbClr val="64748B"/>
                </a:solidFill>
                <a:latin typeface="Plus Jakarta Sans"/>
              </a:rPr>
              <a:t> </a:t>
            </a:r>
            <a:r>
              <a:rPr sz="1600" dirty="0" err="1">
                <a:solidFill>
                  <a:srgbClr val="64748B"/>
                </a:solidFill>
                <a:latin typeface="Plus Jakarta Sans"/>
              </a:rPr>
              <a:t>cada</a:t>
            </a:r>
            <a:r>
              <a:rPr sz="1600" dirty="0">
                <a:solidFill>
                  <a:srgbClr val="64748B"/>
                </a:solidFill>
                <a:latin typeface="Plus Jakarta Sans"/>
              </a:rPr>
              <a:t> ID </a:t>
            </a:r>
            <a:r>
              <a:rPr sz="1600" dirty="0" err="1">
                <a:solidFill>
                  <a:srgbClr val="64748B"/>
                </a:solidFill>
                <a:latin typeface="Plus Jakarta Sans"/>
              </a:rPr>
              <a:t>que</a:t>
            </a:r>
            <a:r>
              <a:rPr sz="1600" dirty="0">
                <a:solidFill>
                  <a:srgbClr val="64748B"/>
                </a:solidFill>
                <a:latin typeface="Plus Jakarta Sans"/>
              </a:rPr>
              <a:t> </a:t>
            </a:r>
            <a:r>
              <a:rPr sz="1600" dirty="0" err="1">
                <a:solidFill>
                  <a:srgbClr val="64748B"/>
                </a:solidFill>
                <a:latin typeface="Plus Jakarta Sans"/>
              </a:rPr>
              <a:t>llega</a:t>
            </a:r>
            <a:r>
              <a:rPr sz="1600" dirty="0">
                <a:solidFill>
                  <a:srgbClr val="64748B"/>
                </a:solidFill>
                <a:latin typeface="Plus Jakarta Sans"/>
              </a:rPr>
              <a:t> de la app?</a:t>
            </a:r>
            <a:r>
              <a:rPr lang="es-CO" sz="1600" dirty="0">
                <a:solidFill>
                  <a:srgbClr val="64748B"/>
                </a:solidFill>
                <a:latin typeface="Plus Jakarta Sans"/>
              </a:rPr>
              <a:t> </a:t>
            </a:r>
          </a:p>
          <a:p>
            <a:pPr>
              <a:lnSpc>
                <a:spcPts val="1417"/>
              </a:lnSpc>
            </a:pPr>
            <a:endParaRPr lang="es-CO" sz="1600" dirty="0">
              <a:solidFill>
                <a:srgbClr val="64748B"/>
              </a:solidFill>
              <a:latin typeface="Plus Jakarta Sans"/>
            </a:endParaRPr>
          </a:p>
          <a:p>
            <a:pPr>
              <a:lnSpc>
                <a:spcPts val="1417"/>
              </a:lnSpc>
            </a:pPr>
            <a:r>
              <a:rPr lang="en-US" sz="1600" dirty="0" err="1">
                <a:solidFill>
                  <a:srgbClr val="64748B"/>
                </a:solidFill>
                <a:latin typeface="Plus Jakarta Sans"/>
              </a:rPr>
              <a:t>Podríamos</a:t>
            </a:r>
            <a:r>
              <a:rPr lang="en-US" sz="1600" dirty="0">
                <a:solidFill>
                  <a:srgbClr val="64748B"/>
                </a:solidFill>
                <a:latin typeface="Plus Jakarta Sans"/>
              </a:rPr>
              <a:t> </a:t>
            </a:r>
            <a:r>
              <a:rPr lang="en-US" sz="1600" dirty="0" err="1">
                <a:solidFill>
                  <a:srgbClr val="64748B"/>
                </a:solidFill>
                <a:latin typeface="Plus Jakarta Sans"/>
              </a:rPr>
              <a:t>ponerlo</a:t>
            </a:r>
            <a:r>
              <a:rPr lang="en-US" sz="1600" dirty="0">
                <a:solidFill>
                  <a:srgbClr val="64748B"/>
                </a:solidFill>
                <a:latin typeface="Plus Jakarta Sans"/>
              </a:rPr>
              <a:t> </a:t>
            </a:r>
            <a:r>
              <a:rPr lang="en-US" sz="1600" dirty="0" err="1">
                <a:solidFill>
                  <a:srgbClr val="64748B"/>
                </a:solidFill>
                <a:latin typeface="Plus Jakarta Sans"/>
              </a:rPr>
              <a:t>todo</a:t>
            </a:r>
            <a:r>
              <a:rPr lang="en-US" sz="1600" dirty="0">
                <a:solidFill>
                  <a:srgbClr val="64748B"/>
                </a:solidFill>
                <a:latin typeface="Plus Jakarta Sans"/>
              </a:rPr>
              <a:t> </a:t>
            </a:r>
            <a:r>
              <a:rPr lang="en-US" sz="1600" dirty="0" err="1">
                <a:solidFill>
                  <a:srgbClr val="64748B"/>
                </a:solidFill>
                <a:latin typeface="Plus Jakarta Sans"/>
              </a:rPr>
              <a:t>en</a:t>
            </a:r>
            <a:r>
              <a:rPr lang="en-US" sz="1600" dirty="0">
                <a:solidFill>
                  <a:srgbClr val="64748B"/>
                </a:solidFill>
                <a:latin typeface="Plus Jakarta Sans"/>
              </a:rPr>
              <a:t> un solo </a:t>
            </a:r>
            <a:r>
              <a:rPr lang="en-US" sz="1600" dirty="0" err="1">
                <a:solidFill>
                  <a:srgbClr val="64748B"/>
                </a:solidFill>
                <a:latin typeface="Plus Jakarta Sans"/>
              </a:rPr>
              <a:t>lugar</a:t>
            </a:r>
            <a:r>
              <a:rPr lang="en-US" sz="1600" dirty="0">
                <a:solidFill>
                  <a:srgbClr val="64748B"/>
                </a:solidFill>
                <a:latin typeface="Plus Jakarta Sans"/>
              </a:rPr>
              <a:t>, </a:t>
            </a:r>
            <a:r>
              <a:rPr lang="en-US" sz="1600" dirty="0" err="1">
                <a:solidFill>
                  <a:srgbClr val="64748B"/>
                </a:solidFill>
                <a:latin typeface="Plus Jakarta Sans"/>
              </a:rPr>
              <a:t>pero</a:t>
            </a:r>
            <a:r>
              <a:rPr lang="en-US" sz="1600" dirty="0">
                <a:solidFill>
                  <a:srgbClr val="64748B"/>
                </a:solidFill>
                <a:latin typeface="Plus Jakarta Sans"/>
              </a:rPr>
              <a:t> </a:t>
            </a:r>
            <a:r>
              <a:rPr lang="en-US" sz="1600" dirty="0" err="1">
                <a:solidFill>
                  <a:srgbClr val="64748B"/>
                </a:solidFill>
                <a:latin typeface="Plus Jakarta Sans"/>
              </a:rPr>
              <a:t>preferimos</a:t>
            </a:r>
            <a:r>
              <a:rPr lang="en-US" sz="1600" dirty="0">
                <a:solidFill>
                  <a:srgbClr val="64748B"/>
                </a:solidFill>
                <a:latin typeface="Plus Jakarta Sans"/>
              </a:rPr>
              <a:t> </a:t>
            </a:r>
            <a:r>
              <a:rPr lang="en-US" sz="1600" dirty="0" err="1">
                <a:solidFill>
                  <a:srgbClr val="64748B"/>
                </a:solidFill>
                <a:latin typeface="Plus Jakarta Sans"/>
              </a:rPr>
              <a:t>repartirlo</a:t>
            </a:r>
            <a:r>
              <a:rPr lang="en-US" sz="1600" dirty="0">
                <a:solidFill>
                  <a:srgbClr val="64748B"/>
                </a:solidFill>
                <a:latin typeface="Plus Jakarta Sans"/>
              </a:rPr>
              <a:t> </a:t>
            </a:r>
            <a:r>
              <a:rPr lang="en-US" sz="1600" dirty="0" err="1">
                <a:solidFill>
                  <a:srgbClr val="64748B"/>
                </a:solidFill>
                <a:latin typeface="Plus Jakarta Sans"/>
              </a:rPr>
              <a:t>en</a:t>
            </a:r>
            <a:r>
              <a:rPr lang="en-US" sz="1600" dirty="0">
                <a:solidFill>
                  <a:srgbClr val="64748B"/>
                </a:solidFill>
                <a:latin typeface="Plus Jakarta Sans"/>
              </a:rPr>
              <a:t> dos </a:t>
            </a:r>
            <a:r>
              <a:rPr lang="en-US" sz="1600" dirty="0" err="1">
                <a:solidFill>
                  <a:srgbClr val="64748B"/>
                </a:solidFill>
                <a:latin typeface="Plus Jakarta Sans"/>
              </a:rPr>
              <a:t>niveles</a:t>
            </a:r>
            <a:r>
              <a:rPr lang="en-US" sz="1600" dirty="0">
                <a:solidFill>
                  <a:srgbClr val="64748B"/>
                </a:solidFill>
                <a:latin typeface="Plus Jakarta Sans"/>
              </a:rPr>
              <a:t>:</a:t>
            </a:r>
          </a:p>
          <a:p>
            <a:pPr>
              <a:lnSpc>
                <a:spcPts val="1417"/>
              </a:lnSpc>
            </a:pPr>
            <a:endParaRPr sz="1013" dirty="0">
              <a:solidFill>
                <a:srgbClr val="64748B"/>
              </a:solidFill>
              <a:latin typeface="Plus Jakarta Sans"/>
            </a:endParaRPr>
          </a:p>
        </p:txBody>
      </p:sp>
      <p:sp>
        <p:nvSpPr>
          <p:cNvPr id="15" name="TextBox 14"/>
          <p:cNvSpPr txBox="1"/>
          <p:nvPr/>
        </p:nvSpPr>
        <p:spPr>
          <a:xfrm>
            <a:off x="1264444" y="1981609"/>
            <a:ext cx="1101648" cy="190501"/>
          </a:xfrm>
          <a:prstGeom prst="rect">
            <a:avLst/>
          </a:prstGeom>
          <a:noFill/>
        </p:spPr>
        <p:txBody>
          <a:bodyPr wrap="none" lIns="0" tIns="0" rIns="0" bIns="0" anchor="t">
            <a:spAutoFit/>
          </a:bodyPr>
          <a:lstStyle/>
          <a:p>
            <a:pPr algn="l"/>
            <a:r>
              <a:rPr sz="1238" b="1">
                <a:solidFill>
                  <a:srgbClr val="0F172A"/>
                </a:solidFill>
                <a:latin typeface="Plus Jakarta Sans"/>
              </a:rPr>
              <a:t>1. Nivel Catálogo</a:t>
            </a:r>
          </a:p>
        </p:txBody>
      </p:sp>
      <p:sp>
        <p:nvSpPr>
          <p:cNvPr id="16" name="TextBox 15"/>
          <p:cNvSpPr txBox="1"/>
          <p:nvPr/>
        </p:nvSpPr>
        <p:spPr>
          <a:xfrm>
            <a:off x="1264444" y="2224497"/>
            <a:ext cx="4810612" cy="155877"/>
          </a:xfrm>
          <a:prstGeom prst="rect">
            <a:avLst/>
          </a:prstGeom>
          <a:noFill/>
        </p:spPr>
        <p:txBody>
          <a:bodyPr wrap="none" lIns="0" tIns="0" rIns="0" bIns="0" anchor="t">
            <a:spAutoFit/>
          </a:bodyPr>
          <a:lstStyle/>
          <a:p>
            <a:pPr algn="l"/>
            <a:r>
              <a:rPr sz="1013">
                <a:solidFill>
                  <a:srgbClr val="475569"/>
                </a:solidFill>
                <a:latin typeface="Plus Jakarta Sans"/>
              </a:rPr>
              <a:t>El </a:t>
            </a:r>
            <a:r>
              <a:rPr sz="1013" b="1">
                <a:solidFill>
                  <a:srgbClr val="475569"/>
                </a:solidFill>
                <a:latin typeface="Plus Jakarta Sans"/>
              </a:rPr>
              <a:t>Catálogo de Restaurantes</a:t>
            </a:r>
            <a:r>
              <a:rPr sz="1013">
                <a:solidFill>
                  <a:srgbClr val="475569"/>
                </a:solidFill>
                <a:latin typeface="Plus Jakarta Sans"/>
              </a:rPr>
              <a:t> sabe qué restaurante corresponde a cada identificador global.</a:t>
            </a:r>
          </a:p>
        </p:txBody>
      </p:sp>
      <p:sp>
        <p:nvSpPr>
          <p:cNvPr id="17" name="TextBox 16"/>
          <p:cNvSpPr txBox="1"/>
          <p:nvPr/>
        </p:nvSpPr>
        <p:spPr>
          <a:xfrm>
            <a:off x="1721644" y="2938872"/>
            <a:ext cx="1321324" cy="190501"/>
          </a:xfrm>
          <a:prstGeom prst="rect">
            <a:avLst/>
          </a:prstGeom>
          <a:noFill/>
        </p:spPr>
        <p:txBody>
          <a:bodyPr wrap="none" lIns="0" tIns="0" rIns="0" bIns="0" anchor="t">
            <a:spAutoFit/>
          </a:bodyPr>
          <a:lstStyle/>
          <a:p>
            <a:pPr algn="l"/>
            <a:r>
              <a:rPr sz="1238" b="1">
                <a:solidFill>
                  <a:srgbClr val="0F172A"/>
                </a:solidFill>
                <a:latin typeface="Plus Jakarta Sans"/>
              </a:rPr>
              <a:t>2. Nivel Restaurante</a:t>
            </a:r>
          </a:p>
        </p:txBody>
      </p:sp>
      <p:sp>
        <p:nvSpPr>
          <p:cNvPr id="18" name="TextBox 17"/>
          <p:cNvSpPr txBox="1"/>
          <p:nvPr/>
        </p:nvSpPr>
        <p:spPr>
          <a:xfrm>
            <a:off x="1721644" y="3181759"/>
            <a:ext cx="4977325" cy="155877"/>
          </a:xfrm>
          <a:prstGeom prst="rect">
            <a:avLst/>
          </a:prstGeom>
          <a:noFill/>
        </p:spPr>
        <p:txBody>
          <a:bodyPr wrap="none" lIns="0" tIns="0" rIns="0" bIns="0" anchor="t">
            <a:spAutoFit/>
          </a:bodyPr>
          <a:lstStyle/>
          <a:p>
            <a:pPr algn="l"/>
            <a:r>
              <a:rPr sz="1013">
                <a:solidFill>
                  <a:srgbClr val="475569"/>
                </a:solidFill>
                <a:latin typeface="Plus Jakarta Sans"/>
              </a:rPr>
              <a:t>Cada </a:t>
            </a:r>
            <a:r>
              <a:rPr sz="1013" b="1">
                <a:solidFill>
                  <a:srgbClr val="475569"/>
                </a:solidFill>
                <a:latin typeface="Plus Jakarta Sans"/>
              </a:rPr>
              <a:t>Restaurante</a:t>
            </a:r>
            <a:r>
              <a:rPr sz="1013">
                <a:solidFill>
                  <a:srgbClr val="475569"/>
                </a:solidFill>
                <a:latin typeface="Plus Jakarta Sans"/>
              </a:rPr>
              <a:t> sabe qué plato corresponde a cada identificador dentro de su propio menú.</a:t>
            </a:r>
          </a:p>
        </p:txBody>
      </p:sp>
      <p:pic>
        <p:nvPicPr>
          <p:cNvPr id="19" name="Imagen 18" descr="Restaurante - Iconos gratis de mapas y ubicación">
            <a:extLst>
              <a:ext uri="{FF2B5EF4-FFF2-40B4-BE49-F238E27FC236}">
                <a16:creationId xmlns:a16="http://schemas.microsoft.com/office/drawing/2014/main" id="{72169B6C-50BB-2EA7-4184-946302A55313}"/>
              </a:ext>
            </a:extLst>
          </p:cNvPr>
          <p:cNvPicPr>
            <a:picLocks noChangeAspect="1"/>
          </p:cNvPicPr>
          <p:nvPr/>
        </p:nvPicPr>
        <p:blipFill>
          <a:blip r:embed="rId5"/>
          <a:stretch>
            <a:fillRect/>
          </a:stretch>
        </p:blipFill>
        <p:spPr>
          <a:xfrm>
            <a:off x="1163722" y="2923521"/>
            <a:ext cx="357897" cy="357897"/>
          </a:xfrm>
          <a:prstGeom prst="rect">
            <a:avLst/>
          </a:prstGeom>
        </p:spPr>
      </p:pic>
      <p:pic>
        <p:nvPicPr>
          <p:cNvPr id="20" name="Imagen 19" descr="Catálogo - Iconos gratis de márketing">
            <a:extLst>
              <a:ext uri="{FF2B5EF4-FFF2-40B4-BE49-F238E27FC236}">
                <a16:creationId xmlns:a16="http://schemas.microsoft.com/office/drawing/2014/main" id="{B3CF12DB-97CE-C1BC-9F9E-AA38A06E51E5}"/>
              </a:ext>
            </a:extLst>
          </p:cNvPr>
          <p:cNvPicPr>
            <a:picLocks noChangeAspect="1"/>
          </p:cNvPicPr>
          <p:nvPr/>
        </p:nvPicPr>
        <p:blipFill>
          <a:blip r:embed="rId6"/>
          <a:stretch>
            <a:fillRect/>
          </a:stretch>
        </p:blipFill>
        <p:spPr>
          <a:xfrm>
            <a:off x="683963" y="2037025"/>
            <a:ext cx="360862" cy="360862"/>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99A57-0F6A-4EA1-9B16-33F1CFF3AABF}"/>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0AA0B570-8042-B001-A788-989889A981E7}"/>
              </a:ext>
            </a:extLst>
          </p:cNvPr>
          <p:cNvPicPr>
            <a:picLocks noChangeAspect="1"/>
          </p:cNvPicPr>
          <p:nvPr/>
        </p:nvPicPr>
        <p:blipFill>
          <a:blip r:embed="rId2"/>
          <a:stretch>
            <a:fillRect/>
          </a:stretch>
        </p:blipFill>
        <p:spPr>
          <a:xfrm>
            <a:off x="-22323" y="0"/>
            <a:ext cx="9144000" cy="5143500"/>
          </a:xfrm>
          <a:prstGeom prst="rect">
            <a:avLst/>
          </a:prstGeom>
        </p:spPr>
      </p:pic>
      <p:sp>
        <p:nvSpPr>
          <p:cNvPr id="4" name="Rectangle 3">
            <a:extLst>
              <a:ext uri="{FF2B5EF4-FFF2-40B4-BE49-F238E27FC236}">
                <a16:creationId xmlns:a16="http://schemas.microsoft.com/office/drawing/2014/main" id="{3FA04396-F90B-B9F5-1670-F0809C406E71}"/>
              </a:ext>
            </a:extLst>
          </p:cNvPr>
          <p:cNvSpPr/>
          <p:nvPr/>
        </p:nvSpPr>
        <p:spPr>
          <a:xfrm>
            <a:off x="817960" y="2336006"/>
            <a:ext cx="3590753" cy="1071563"/>
          </a:xfrm>
          <a:prstGeom prst="rect">
            <a:avLst/>
          </a:prstGeom>
          <a:solidFill>
            <a:srgbClr val="EFC4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a:extLst>
              <a:ext uri="{FF2B5EF4-FFF2-40B4-BE49-F238E27FC236}">
                <a16:creationId xmlns:a16="http://schemas.microsoft.com/office/drawing/2014/main" id="{86C5AB51-C12A-2FF2-0367-3E31811E2134}"/>
              </a:ext>
            </a:extLst>
          </p:cNvPr>
          <p:cNvSpPr/>
          <p:nvPr/>
        </p:nvSpPr>
        <p:spPr>
          <a:xfrm>
            <a:off x="4857750" y="2336006"/>
            <a:ext cx="3286125" cy="1071563"/>
          </a:xfrm>
          <a:prstGeom prst="rect">
            <a:avLst/>
          </a:prstGeom>
          <a:solidFill>
            <a:srgbClr val="EFC4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dirty="0"/>
          </a:p>
        </p:txBody>
      </p:sp>
      <p:sp>
        <p:nvSpPr>
          <p:cNvPr id="6" name="Rectangle 5">
            <a:extLst>
              <a:ext uri="{FF2B5EF4-FFF2-40B4-BE49-F238E27FC236}">
                <a16:creationId xmlns:a16="http://schemas.microsoft.com/office/drawing/2014/main" id="{913DF8A1-D11B-55E6-6C66-966B54B2435C}"/>
              </a:ext>
            </a:extLst>
          </p:cNvPr>
          <p:cNvSpPr/>
          <p:nvPr/>
        </p:nvSpPr>
        <p:spPr>
          <a:xfrm>
            <a:off x="817960" y="3864769"/>
            <a:ext cx="3559373" cy="1071563"/>
          </a:xfrm>
          <a:prstGeom prst="rect">
            <a:avLst/>
          </a:prstGeom>
          <a:solidFill>
            <a:srgbClr val="EFC4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 name="Rectangle 6">
            <a:extLst>
              <a:ext uri="{FF2B5EF4-FFF2-40B4-BE49-F238E27FC236}">
                <a16:creationId xmlns:a16="http://schemas.microsoft.com/office/drawing/2014/main" id="{952CB957-2B20-BF6C-973C-5A3BA26B4B3E}"/>
              </a:ext>
            </a:extLst>
          </p:cNvPr>
          <p:cNvSpPr/>
          <p:nvPr/>
        </p:nvSpPr>
        <p:spPr>
          <a:xfrm>
            <a:off x="4857750" y="3864769"/>
            <a:ext cx="3286125" cy="1071563"/>
          </a:xfrm>
          <a:prstGeom prst="rect">
            <a:avLst/>
          </a:prstGeom>
          <a:solidFill>
            <a:srgbClr val="EFC4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TextBox 7">
            <a:extLst>
              <a:ext uri="{FF2B5EF4-FFF2-40B4-BE49-F238E27FC236}">
                <a16:creationId xmlns:a16="http://schemas.microsoft.com/office/drawing/2014/main" id="{A3FAB2D7-E36A-EA36-B113-6E7AD668356D}"/>
              </a:ext>
            </a:extLst>
          </p:cNvPr>
          <p:cNvSpPr txBox="1"/>
          <p:nvPr/>
        </p:nvSpPr>
        <p:spPr>
          <a:xfrm>
            <a:off x="3337822" y="400051"/>
            <a:ext cx="2468369" cy="450123"/>
          </a:xfrm>
          <a:prstGeom prst="rect">
            <a:avLst/>
          </a:prstGeom>
          <a:noFill/>
        </p:spPr>
        <p:txBody>
          <a:bodyPr wrap="none" lIns="0" tIns="0" rIns="0" bIns="0" anchor="t">
            <a:spAutoFit/>
          </a:bodyPr>
          <a:lstStyle/>
          <a:p>
            <a:pPr algn="ctr"/>
            <a:r>
              <a:rPr lang="es-CO" sz="2925" b="1" dirty="0">
                <a:solidFill>
                  <a:srgbClr val="000000"/>
                </a:solidFill>
                <a:latin typeface="Inter"/>
              </a:rPr>
              <a:t>Colaboraciones</a:t>
            </a:r>
            <a:endParaRPr sz="2925" b="1" dirty="0">
              <a:solidFill>
                <a:srgbClr val="000000"/>
              </a:solidFill>
              <a:latin typeface="Inter"/>
            </a:endParaRPr>
          </a:p>
        </p:txBody>
      </p:sp>
      <p:sp>
        <p:nvSpPr>
          <p:cNvPr id="9" name="TextBox 8">
            <a:extLst>
              <a:ext uri="{FF2B5EF4-FFF2-40B4-BE49-F238E27FC236}">
                <a16:creationId xmlns:a16="http://schemas.microsoft.com/office/drawing/2014/main" id="{993ED076-A5FB-294C-7624-5E373981C9C3}"/>
              </a:ext>
            </a:extLst>
          </p:cNvPr>
          <p:cNvSpPr txBox="1"/>
          <p:nvPr/>
        </p:nvSpPr>
        <p:spPr>
          <a:xfrm>
            <a:off x="-22323" y="1200150"/>
            <a:ext cx="9188648" cy="292837"/>
          </a:xfrm>
          <a:prstGeom prst="rect">
            <a:avLst/>
          </a:prstGeom>
          <a:noFill/>
        </p:spPr>
        <p:txBody>
          <a:bodyPr wrap="square" lIns="0" tIns="0" rIns="0" bIns="0" anchor="t">
            <a:spAutoFit/>
          </a:bodyPr>
          <a:lstStyle/>
          <a:p>
            <a:pPr algn="ctr">
              <a:lnSpc>
                <a:spcPts val="2194"/>
              </a:lnSpc>
            </a:pPr>
            <a:r>
              <a:rPr sz="2000" b="1" dirty="0">
                <a:solidFill>
                  <a:srgbClr val="111827"/>
                </a:solidFill>
                <a:latin typeface="Inter"/>
              </a:rPr>
              <a:t>¿</a:t>
            </a:r>
            <a:r>
              <a:rPr lang="es-CO" sz="2000" b="1" dirty="0">
                <a:solidFill>
                  <a:srgbClr val="111827"/>
                </a:solidFill>
                <a:latin typeface="Inter"/>
              </a:rPr>
              <a:t>Cómo interactúan los participantes?</a:t>
            </a:r>
            <a:endParaRPr sz="2000" b="1" dirty="0">
              <a:solidFill>
                <a:srgbClr val="111827"/>
              </a:solidFill>
              <a:latin typeface="Inter"/>
            </a:endParaRPr>
          </a:p>
        </p:txBody>
      </p:sp>
      <p:sp>
        <p:nvSpPr>
          <p:cNvPr id="10" name="TextBox 9">
            <a:extLst>
              <a:ext uri="{FF2B5EF4-FFF2-40B4-BE49-F238E27FC236}">
                <a16:creationId xmlns:a16="http://schemas.microsoft.com/office/drawing/2014/main" id="{0D26EFD0-D653-162A-1438-35D9406F7BDC}"/>
              </a:ext>
            </a:extLst>
          </p:cNvPr>
          <p:cNvSpPr txBox="1"/>
          <p:nvPr/>
        </p:nvSpPr>
        <p:spPr>
          <a:xfrm>
            <a:off x="817960" y="2410121"/>
            <a:ext cx="3650456" cy="923330"/>
          </a:xfrm>
          <a:prstGeom prst="rect">
            <a:avLst/>
          </a:prstGeom>
          <a:noFill/>
        </p:spPr>
        <p:txBody>
          <a:bodyPr wrap="square" lIns="0" tIns="0" rIns="0" bIns="0" anchor="ctr">
            <a:spAutoFit/>
          </a:bodyPr>
          <a:lstStyle/>
          <a:p>
            <a:pPr algn="ctr">
              <a:spcAft>
                <a:spcPts val="300"/>
              </a:spcAft>
              <a:buSzPct val="100000"/>
            </a:pPr>
            <a:r>
              <a:rPr lang="en-US" sz="2000" dirty="0" err="1">
                <a:solidFill>
                  <a:srgbClr val="111827"/>
                </a:solidFill>
                <a:latin typeface="Inter"/>
              </a:rPr>
              <a:t>Identificar</a:t>
            </a:r>
            <a:r>
              <a:rPr lang="en-US" sz="2000" dirty="0">
                <a:solidFill>
                  <a:srgbClr val="111827"/>
                </a:solidFill>
                <a:latin typeface="Inter"/>
              </a:rPr>
              <a:t> las </a:t>
            </a:r>
            <a:r>
              <a:rPr lang="en-US" sz="2000" dirty="0" err="1">
                <a:solidFill>
                  <a:srgbClr val="111827"/>
                </a:solidFill>
                <a:latin typeface="Inter"/>
              </a:rPr>
              <a:t>colaboraciones</a:t>
            </a:r>
            <a:r>
              <a:rPr lang="en-US" sz="2000" dirty="0">
                <a:solidFill>
                  <a:srgbClr val="111827"/>
                </a:solidFill>
                <a:latin typeface="Inter"/>
              </a:rPr>
              <a:t> y </a:t>
            </a:r>
            <a:r>
              <a:rPr lang="en-US" sz="2000" dirty="0" err="1">
                <a:solidFill>
                  <a:srgbClr val="111827"/>
                </a:solidFill>
                <a:latin typeface="Inter"/>
              </a:rPr>
              <a:t>distinguir</a:t>
            </a:r>
            <a:r>
              <a:rPr lang="en-US" sz="2000" dirty="0">
                <a:solidFill>
                  <a:srgbClr val="111827"/>
                </a:solidFill>
                <a:latin typeface="Inter"/>
              </a:rPr>
              <a:t> las </a:t>
            </a:r>
            <a:r>
              <a:rPr lang="en-US" sz="2000" dirty="0" err="1">
                <a:solidFill>
                  <a:srgbClr val="111827"/>
                </a:solidFill>
                <a:latin typeface="Inter"/>
              </a:rPr>
              <a:t>críticas</a:t>
            </a:r>
            <a:r>
              <a:rPr lang="en-US" sz="2000" dirty="0">
                <a:solidFill>
                  <a:srgbClr val="111827"/>
                </a:solidFill>
                <a:latin typeface="Inter"/>
              </a:rPr>
              <a:t> de las </a:t>
            </a:r>
            <a:r>
              <a:rPr lang="en-US" sz="2000" dirty="0" err="1">
                <a:solidFill>
                  <a:srgbClr val="111827"/>
                </a:solidFill>
                <a:latin typeface="Inter"/>
              </a:rPr>
              <a:t>que</a:t>
            </a:r>
            <a:r>
              <a:rPr lang="en-US" sz="2000" dirty="0">
                <a:solidFill>
                  <a:srgbClr val="111827"/>
                </a:solidFill>
                <a:latin typeface="Inter"/>
              </a:rPr>
              <a:t> no lo son.</a:t>
            </a:r>
          </a:p>
        </p:txBody>
      </p:sp>
      <p:sp>
        <p:nvSpPr>
          <p:cNvPr id="11" name="TextBox 10">
            <a:extLst>
              <a:ext uri="{FF2B5EF4-FFF2-40B4-BE49-F238E27FC236}">
                <a16:creationId xmlns:a16="http://schemas.microsoft.com/office/drawing/2014/main" id="{B0E7757F-AB22-A315-861F-501828694C4F}"/>
              </a:ext>
            </a:extLst>
          </p:cNvPr>
          <p:cNvSpPr txBox="1"/>
          <p:nvPr/>
        </p:nvSpPr>
        <p:spPr>
          <a:xfrm>
            <a:off x="4813102" y="2571750"/>
            <a:ext cx="3286125" cy="615553"/>
          </a:xfrm>
          <a:prstGeom prst="rect">
            <a:avLst/>
          </a:prstGeom>
          <a:noFill/>
        </p:spPr>
        <p:txBody>
          <a:bodyPr wrap="square" lIns="0" tIns="0" rIns="0" bIns="0" anchor="ctr">
            <a:spAutoFit/>
          </a:bodyPr>
          <a:lstStyle/>
          <a:p>
            <a:pPr algn="ctr">
              <a:spcAft>
                <a:spcPts val="300"/>
              </a:spcAft>
              <a:buSzPct val="100000"/>
            </a:pPr>
            <a:r>
              <a:rPr lang="en-US" sz="2000" dirty="0" err="1">
                <a:solidFill>
                  <a:srgbClr val="111111"/>
                </a:solidFill>
                <a:latin typeface="Helvetica" pitchFamily="34" charset="0"/>
                <a:ea typeface="Helvetica" pitchFamily="34" charset="-122"/>
                <a:cs typeface="Helvetica" pitchFamily="34" charset="-120"/>
              </a:rPr>
              <a:t>Diseñarlas</a:t>
            </a:r>
            <a:r>
              <a:rPr lang="en-US" sz="2000" dirty="0">
                <a:solidFill>
                  <a:srgbClr val="111111"/>
                </a:solidFill>
                <a:latin typeface="Helvetica" pitchFamily="34" charset="0"/>
                <a:ea typeface="Helvetica" pitchFamily="34" charset="-122"/>
                <a:cs typeface="Helvetica" pitchFamily="34" charset="-120"/>
              </a:rPr>
              <a:t> y </a:t>
            </a:r>
            <a:r>
              <a:rPr lang="en-US" sz="2000" dirty="0" err="1">
                <a:solidFill>
                  <a:srgbClr val="111111"/>
                </a:solidFill>
                <a:latin typeface="Helvetica" pitchFamily="34" charset="0"/>
                <a:ea typeface="Helvetica" pitchFamily="34" charset="-122"/>
                <a:cs typeface="Helvetica" pitchFamily="34" charset="-120"/>
              </a:rPr>
              <a:t>analizar</a:t>
            </a:r>
            <a:r>
              <a:rPr lang="en-US" sz="2000" dirty="0">
                <a:solidFill>
                  <a:srgbClr val="111111"/>
                </a:solidFill>
                <a:latin typeface="Helvetica" pitchFamily="34" charset="0"/>
                <a:ea typeface="Helvetica" pitchFamily="34" charset="-122"/>
                <a:cs typeface="Helvetica" pitchFamily="34" charset="-120"/>
              </a:rPr>
              <a:t> el </a:t>
            </a:r>
            <a:r>
              <a:rPr lang="en-US" sz="2000" dirty="0" err="1">
                <a:solidFill>
                  <a:srgbClr val="111111"/>
                </a:solidFill>
                <a:latin typeface="Helvetica" pitchFamily="34" charset="0"/>
                <a:ea typeface="Helvetica" pitchFamily="34" charset="-122"/>
                <a:cs typeface="Helvetica" pitchFamily="34" charset="-120"/>
              </a:rPr>
              <a:t>estilo</a:t>
            </a:r>
            <a:r>
              <a:rPr lang="en-US" sz="2000" dirty="0">
                <a:solidFill>
                  <a:srgbClr val="111111"/>
                </a:solidFill>
                <a:latin typeface="Helvetica" pitchFamily="34" charset="0"/>
                <a:ea typeface="Helvetica" pitchFamily="34" charset="-122"/>
                <a:cs typeface="Helvetica" pitchFamily="34" charset="-120"/>
              </a:rPr>
              <a:t> de control</a:t>
            </a:r>
            <a:endParaRPr lang="en-US" sz="2000" dirty="0"/>
          </a:p>
        </p:txBody>
      </p:sp>
      <p:sp>
        <p:nvSpPr>
          <p:cNvPr id="12" name="TextBox 11">
            <a:extLst>
              <a:ext uri="{FF2B5EF4-FFF2-40B4-BE49-F238E27FC236}">
                <a16:creationId xmlns:a16="http://schemas.microsoft.com/office/drawing/2014/main" id="{3641B5A6-77B5-8B4B-088D-61427A4ACED9}"/>
              </a:ext>
            </a:extLst>
          </p:cNvPr>
          <p:cNvSpPr txBox="1"/>
          <p:nvPr/>
        </p:nvSpPr>
        <p:spPr>
          <a:xfrm>
            <a:off x="919834" y="3943350"/>
            <a:ext cx="3355623" cy="923330"/>
          </a:xfrm>
          <a:prstGeom prst="rect">
            <a:avLst/>
          </a:prstGeom>
          <a:noFill/>
        </p:spPr>
        <p:txBody>
          <a:bodyPr wrap="square" lIns="0" tIns="0" rIns="0" bIns="0" anchor="ctr">
            <a:spAutoFit/>
          </a:bodyPr>
          <a:lstStyle/>
          <a:p>
            <a:pPr algn="ctr">
              <a:spcAft>
                <a:spcPts val="300"/>
              </a:spcAft>
              <a:buSzPct val="100000"/>
            </a:pPr>
            <a:r>
              <a:rPr lang="en-US" sz="2000" dirty="0" err="1">
                <a:solidFill>
                  <a:srgbClr val="111111"/>
                </a:solidFill>
                <a:latin typeface="Helvetica" pitchFamily="34" charset="0"/>
                <a:ea typeface="Helvetica" pitchFamily="34" charset="-122"/>
                <a:cs typeface="Helvetica" pitchFamily="34" charset="-120"/>
              </a:rPr>
              <a:t>Ajustar</a:t>
            </a:r>
            <a:r>
              <a:rPr lang="en-US" sz="2000" dirty="0">
                <a:solidFill>
                  <a:srgbClr val="111111"/>
                </a:solidFill>
                <a:latin typeface="Helvetica" pitchFamily="34" charset="0"/>
                <a:ea typeface="Helvetica" pitchFamily="34" charset="-122"/>
                <a:cs typeface="Helvetica" pitchFamily="34" charset="-120"/>
              </a:rPr>
              <a:t> </a:t>
            </a:r>
            <a:r>
              <a:rPr lang="en-US" sz="2000" dirty="0" err="1">
                <a:solidFill>
                  <a:srgbClr val="111111"/>
                </a:solidFill>
                <a:latin typeface="Helvetica" pitchFamily="34" charset="0"/>
                <a:ea typeface="Helvetica" pitchFamily="34" charset="-122"/>
                <a:cs typeface="Helvetica" pitchFamily="34" charset="-120"/>
              </a:rPr>
              <a:t>responsabilidades</a:t>
            </a:r>
            <a:r>
              <a:rPr lang="en-US" sz="2000" dirty="0">
                <a:solidFill>
                  <a:srgbClr val="111111"/>
                </a:solidFill>
                <a:latin typeface="Helvetica" pitchFamily="34" charset="0"/>
                <a:ea typeface="Helvetica" pitchFamily="34" charset="-122"/>
                <a:cs typeface="Helvetica" pitchFamily="34" charset="-120"/>
              </a:rPr>
              <a:t> las para </a:t>
            </a:r>
            <a:r>
              <a:rPr lang="en-US" sz="2000" dirty="0" err="1">
                <a:solidFill>
                  <a:srgbClr val="111111"/>
                </a:solidFill>
                <a:latin typeface="Helvetica" pitchFamily="34" charset="0"/>
                <a:ea typeface="Helvetica" pitchFamily="34" charset="-122"/>
                <a:cs typeface="Helvetica" pitchFamily="34" charset="-120"/>
              </a:rPr>
              <a:t>que</a:t>
            </a:r>
            <a:r>
              <a:rPr lang="en-US" sz="2000" dirty="0">
                <a:solidFill>
                  <a:srgbClr val="111111"/>
                </a:solidFill>
                <a:latin typeface="Helvetica" pitchFamily="34" charset="0"/>
                <a:ea typeface="Helvetica" pitchFamily="34" charset="-122"/>
                <a:cs typeface="Helvetica" pitchFamily="34" charset="-120"/>
              </a:rPr>
              <a:t> </a:t>
            </a:r>
            <a:r>
              <a:rPr lang="en-US" sz="2000" dirty="0" err="1">
                <a:solidFill>
                  <a:srgbClr val="111111"/>
                </a:solidFill>
                <a:latin typeface="Helvetica" pitchFamily="34" charset="0"/>
                <a:ea typeface="Helvetica" pitchFamily="34" charset="-122"/>
                <a:cs typeface="Helvetica" pitchFamily="34" charset="-120"/>
              </a:rPr>
              <a:t>coincidan</a:t>
            </a:r>
            <a:r>
              <a:rPr lang="en-US" sz="2000" dirty="0">
                <a:solidFill>
                  <a:srgbClr val="111111"/>
                </a:solidFill>
                <a:latin typeface="Helvetica" pitchFamily="34" charset="0"/>
                <a:ea typeface="Helvetica" pitchFamily="34" charset="-122"/>
                <a:cs typeface="Helvetica" pitchFamily="34" charset="-120"/>
              </a:rPr>
              <a:t> con las </a:t>
            </a:r>
            <a:r>
              <a:rPr lang="en-US" sz="2000" dirty="0" err="1">
                <a:solidFill>
                  <a:srgbClr val="111111"/>
                </a:solidFill>
                <a:latin typeface="Helvetica" pitchFamily="34" charset="0"/>
                <a:ea typeface="Helvetica" pitchFamily="34" charset="-122"/>
                <a:cs typeface="Helvetica" pitchFamily="34" charset="-120"/>
              </a:rPr>
              <a:t>colaboraciones</a:t>
            </a:r>
            <a:endParaRPr lang="en-US" sz="2000" dirty="0"/>
          </a:p>
        </p:txBody>
      </p:sp>
      <p:sp>
        <p:nvSpPr>
          <p:cNvPr id="13" name="TextBox 12">
            <a:extLst>
              <a:ext uri="{FF2B5EF4-FFF2-40B4-BE49-F238E27FC236}">
                <a16:creationId xmlns:a16="http://schemas.microsoft.com/office/drawing/2014/main" id="{D7BE5F63-DF1A-9AE7-9B89-2799A7D8F342}"/>
              </a:ext>
            </a:extLst>
          </p:cNvPr>
          <p:cNvSpPr txBox="1"/>
          <p:nvPr/>
        </p:nvSpPr>
        <p:spPr>
          <a:xfrm>
            <a:off x="4766667" y="4092774"/>
            <a:ext cx="3468290" cy="615553"/>
          </a:xfrm>
          <a:prstGeom prst="rect">
            <a:avLst/>
          </a:prstGeom>
          <a:noFill/>
        </p:spPr>
        <p:txBody>
          <a:bodyPr wrap="square" lIns="0" tIns="0" rIns="0" bIns="0" anchor="ctr">
            <a:spAutoFit/>
          </a:bodyPr>
          <a:lstStyle/>
          <a:p>
            <a:pPr algn="ctr"/>
            <a:r>
              <a:rPr lang="es-ES" sz="2000" dirty="0">
                <a:solidFill>
                  <a:srgbClr val="111827"/>
                </a:solidFill>
                <a:latin typeface="Inter"/>
              </a:rPr>
              <a:t>Ajustarlas cuando aparezcan huecos</a:t>
            </a:r>
            <a:endParaRPr sz="2000" dirty="0">
              <a:solidFill>
                <a:srgbClr val="111827"/>
              </a:solidFill>
              <a:latin typeface="Inter"/>
            </a:endParaRPr>
          </a:p>
        </p:txBody>
      </p:sp>
    </p:spTree>
    <p:extLst>
      <p:ext uri="{BB962C8B-B14F-4D97-AF65-F5344CB8AC3E}">
        <p14:creationId xmlns:p14="http://schemas.microsoft.com/office/powerpoint/2010/main" val="13918354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ounded Rectangle 2"/>
          <p:cNvSpPr/>
          <p:nvPr/>
        </p:nvSpPr>
        <p:spPr>
          <a:xfrm>
            <a:off x="323255" y="3681258"/>
            <a:ext cx="8441922" cy="903805"/>
          </a:xfrm>
          <a:prstGeom prst="roundRect">
            <a:avLst>
              <a:gd name="adj" fmla="val 17647"/>
            </a:avLst>
          </a:prstGeom>
          <a:solidFill>
            <a:srgbClr val="FCFBFB"/>
          </a:solidFill>
          <a:ln w="9525">
            <a:solidFill>
              <a:srgbClr val="A855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pic>
        <p:nvPicPr>
          <p:cNvPr id="5" name="Picture 4" descr="image.png"/>
          <p:cNvPicPr>
            <a:picLocks noChangeAspect="1"/>
          </p:cNvPicPr>
          <p:nvPr/>
        </p:nvPicPr>
        <p:blipFill>
          <a:blip r:embed="rId3"/>
          <a:stretch>
            <a:fillRect/>
          </a:stretch>
        </p:blipFill>
        <p:spPr>
          <a:xfrm>
            <a:off x="1064419" y="1875234"/>
            <a:ext cx="714375" cy="714375"/>
          </a:xfrm>
          <a:prstGeom prst="rect">
            <a:avLst/>
          </a:prstGeom>
        </p:spPr>
      </p:pic>
      <p:pic>
        <p:nvPicPr>
          <p:cNvPr id="6" name="Picture 5" descr="image.png"/>
          <p:cNvPicPr>
            <a:picLocks noChangeAspect="1"/>
          </p:cNvPicPr>
          <p:nvPr/>
        </p:nvPicPr>
        <p:blipFill>
          <a:blip r:embed="rId4"/>
          <a:stretch>
            <a:fillRect/>
          </a:stretch>
        </p:blipFill>
        <p:spPr>
          <a:xfrm>
            <a:off x="3164681" y="1875234"/>
            <a:ext cx="714375" cy="714375"/>
          </a:xfrm>
          <a:prstGeom prst="rect">
            <a:avLst/>
          </a:prstGeom>
        </p:spPr>
      </p:pic>
      <p:pic>
        <p:nvPicPr>
          <p:cNvPr id="7" name="Picture 6" descr="image.png"/>
          <p:cNvPicPr>
            <a:picLocks noChangeAspect="1"/>
          </p:cNvPicPr>
          <p:nvPr/>
        </p:nvPicPr>
        <p:blipFill>
          <a:blip r:embed="rId5"/>
          <a:stretch>
            <a:fillRect/>
          </a:stretch>
        </p:blipFill>
        <p:spPr>
          <a:xfrm>
            <a:off x="5264944" y="1875234"/>
            <a:ext cx="714375" cy="714375"/>
          </a:xfrm>
          <a:prstGeom prst="rect">
            <a:avLst/>
          </a:prstGeom>
        </p:spPr>
      </p:pic>
      <p:pic>
        <p:nvPicPr>
          <p:cNvPr id="8" name="Picture 7" descr="image.png"/>
          <p:cNvPicPr>
            <a:picLocks noChangeAspect="1"/>
          </p:cNvPicPr>
          <p:nvPr/>
        </p:nvPicPr>
        <p:blipFill>
          <a:blip r:embed="rId6"/>
          <a:stretch>
            <a:fillRect/>
          </a:stretch>
        </p:blipFill>
        <p:spPr>
          <a:xfrm>
            <a:off x="7365206" y="1875234"/>
            <a:ext cx="714375" cy="714375"/>
          </a:xfrm>
          <a:prstGeom prst="rect">
            <a:avLst/>
          </a:prstGeom>
        </p:spPr>
      </p:pic>
      <p:sp>
        <p:nvSpPr>
          <p:cNvPr id="13" name="TextBox 12"/>
          <p:cNvSpPr txBox="1"/>
          <p:nvPr/>
        </p:nvSpPr>
        <p:spPr>
          <a:xfrm>
            <a:off x="-262533" y="3766984"/>
            <a:ext cx="9572625" cy="161583"/>
          </a:xfrm>
          <a:prstGeom prst="rect">
            <a:avLst/>
          </a:prstGeom>
          <a:noFill/>
        </p:spPr>
        <p:txBody>
          <a:bodyPr wrap="square" lIns="0" tIns="0" rIns="0" bIns="0" anchor="t">
            <a:spAutoFit/>
          </a:bodyPr>
          <a:lstStyle/>
          <a:p>
            <a:pPr algn="ctr"/>
            <a:r>
              <a:rPr sz="1050" dirty="0">
                <a:solidFill>
                  <a:srgbClr val="334155"/>
                </a:solidFill>
                <a:latin typeface="Plus Jakarta Sans"/>
              </a:rPr>
              <a:t>💡 </a:t>
            </a:r>
            <a:r>
              <a:rPr sz="1050" b="1" dirty="0">
                <a:solidFill>
                  <a:srgbClr val="0F172A"/>
                </a:solidFill>
                <a:latin typeface="Plus Jakarta Sans"/>
              </a:rPr>
              <a:t>Nota de </a:t>
            </a:r>
            <a:r>
              <a:rPr sz="1050" b="1" dirty="0" err="1">
                <a:solidFill>
                  <a:srgbClr val="0F172A"/>
                </a:solidFill>
                <a:latin typeface="Plus Jakarta Sans"/>
              </a:rPr>
              <a:t>diseño</a:t>
            </a:r>
            <a:r>
              <a:rPr sz="1050" b="1" dirty="0">
                <a:solidFill>
                  <a:srgbClr val="0F172A"/>
                </a:solidFill>
                <a:latin typeface="Plus Jakarta Sans"/>
              </a:rPr>
              <a:t>:</a:t>
            </a:r>
            <a:r>
              <a:rPr sz="1050" dirty="0">
                <a:solidFill>
                  <a:srgbClr val="334155"/>
                </a:solidFill>
                <a:latin typeface="Plus Jakarta Sans"/>
              </a:rPr>
              <a:t> Se </a:t>
            </a:r>
            <a:r>
              <a:rPr sz="1050" dirty="0" err="1">
                <a:solidFill>
                  <a:srgbClr val="334155"/>
                </a:solidFill>
                <a:latin typeface="Plus Jakarta Sans"/>
              </a:rPr>
              <a:t>analizarán</a:t>
            </a:r>
            <a:r>
              <a:rPr sz="1050" dirty="0">
                <a:solidFill>
                  <a:srgbClr val="334155"/>
                </a:solidFill>
                <a:latin typeface="Plus Jakarta Sans"/>
              </a:rPr>
              <a:t> </a:t>
            </a:r>
            <a:r>
              <a:rPr sz="1050" dirty="0" err="1">
                <a:solidFill>
                  <a:srgbClr val="334155"/>
                </a:solidFill>
                <a:latin typeface="Plus Jakarta Sans"/>
              </a:rPr>
              <a:t>mediante</a:t>
            </a:r>
            <a:r>
              <a:rPr sz="1050" dirty="0">
                <a:solidFill>
                  <a:srgbClr val="334155"/>
                </a:solidFill>
                <a:latin typeface="Plus Jakarta Sans"/>
              </a:rPr>
              <a:t> </a:t>
            </a:r>
            <a:r>
              <a:rPr sz="1050" dirty="0" err="1">
                <a:solidFill>
                  <a:srgbClr val="334155"/>
                </a:solidFill>
                <a:latin typeface="Plus Jakarta Sans"/>
              </a:rPr>
              <a:t>diagramas</a:t>
            </a:r>
            <a:r>
              <a:rPr sz="1050" dirty="0">
                <a:solidFill>
                  <a:srgbClr val="334155"/>
                </a:solidFill>
                <a:latin typeface="Plus Jakarta Sans"/>
              </a:rPr>
              <a:t> de </a:t>
            </a:r>
            <a:r>
              <a:rPr sz="1050" dirty="0" err="1">
                <a:solidFill>
                  <a:srgbClr val="334155"/>
                </a:solidFill>
                <a:latin typeface="Plus Jakarta Sans"/>
              </a:rPr>
              <a:t>secuencia</a:t>
            </a:r>
            <a:r>
              <a:rPr sz="1050" dirty="0">
                <a:solidFill>
                  <a:srgbClr val="334155"/>
                </a:solidFill>
                <a:latin typeface="Plus Jakarta Sans"/>
              </a:rPr>
              <a:t> para </a:t>
            </a:r>
            <a:r>
              <a:rPr sz="1050" dirty="0" err="1">
                <a:solidFill>
                  <a:srgbClr val="334155"/>
                </a:solidFill>
                <a:latin typeface="Plus Jakarta Sans"/>
              </a:rPr>
              <a:t>definir</a:t>
            </a:r>
            <a:r>
              <a:rPr sz="1050" dirty="0">
                <a:solidFill>
                  <a:srgbClr val="334155"/>
                </a:solidFill>
                <a:latin typeface="Plus Jakarta Sans"/>
              </a:rPr>
              <a:t> la </a:t>
            </a:r>
            <a:r>
              <a:rPr sz="1050" dirty="0" err="1">
                <a:solidFill>
                  <a:srgbClr val="334155"/>
                </a:solidFill>
                <a:latin typeface="Plus Jakarta Sans"/>
              </a:rPr>
              <a:t>interacción</a:t>
            </a:r>
            <a:r>
              <a:rPr sz="1050" dirty="0">
                <a:solidFill>
                  <a:srgbClr val="334155"/>
                </a:solidFill>
                <a:latin typeface="Plus Jakarta Sans"/>
              </a:rPr>
              <a:t> </a:t>
            </a:r>
            <a:r>
              <a:rPr sz="1050" dirty="0" err="1">
                <a:solidFill>
                  <a:srgbClr val="334155"/>
                </a:solidFill>
                <a:latin typeface="Plus Jakarta Sans"/>
              </a:rPr>
              <a:t>necesaria</a:t>
            </a:r>
            <a:r>
              <a:rPr sz="1050" dirty="0">
                <a:solidFill>
                  <a:srgbClr val="334155"/>
                </a:solidFill>
                <a:latin typeface="Plus Jakarta Sans"/>
              </a:rPr>
              <a:t> antes de </a:t>
            </a:r>
            <a:r>
              <a:rPr sz="1050" dirty="0" err="1">
                <a:solidFill>
                  <a:srgbClr val="334155"/>
                </a:solidFill>
                <a:latin typeface="Plus Jakarta Sans"/>
              </a:rPr>
              <a:t>consolidar</a:t>
            </a:r>
            <a:r>
              <a:rPr sz="1050" dirty="0">
                <a:solidFill>
                  <a:srgbClr val="334155"/>
                </a:solidFill>
                <a:latin typeface="Plus Jakarta Sans"/>
              </a:rPr>
              <a:t> </a:t>
            </a:r>
            <a:r>
              <a:rPr sz="1050" dirty="0" err="1">
                <a:solidFill>
                  <a:srgbClr val="334155"/>
                </a:solidFill>
                <a:latin typeface="Plus Jakarta Sans"/>
              </a:rPr>
              <a:t>los</a:t>
            </a:r>
            <a:r>
              <a:rPr sz="1050" dirty="0">
                <a:solidFill>
                  <a:srgbClr val="334155"/>
                </a:solidFill>
                <a:latin typeface="Plus Jakarta Sans"/>
              </a:rPr>
              <a:t> </a:t>
            </a:r>
            <a:r>
              <a:rPr sz="1050" dirty="0" err="1">
                <a:solidFill>
                  <a:srgbClr val="334155"/>
                </a:solidFill>
                <a:latin typeface="Plus Jakarta Sans"/>
              </a:rPr>
              <a:t>métodos</a:t>
            </a:r>
            <a:r>
              <a:rPr sz="1050" dirty="0">
                <a:solidFill>
                  <a:srgbClr val="334155"/>
                </a:solidFill>
                <a:latin typeface="Plus Jakarta Sans"/>
              </a:rPr>
              <a:t> de </a:t>
            </a:r>
            <a:r>
              <a:rPr sz="1050" dirty="0" err="1">
                <a:solidFill>
                  <a:srgbClr val="334155"/>
                </a:solidFill>
                <a:latin typeface="Plus Jakarta Sans"/>
              </a:rPr>
              <a:t>cada</a:t>
            </a:r>
            <a:r>
              <a:rPr sz="1050" dirty="0">
                <a:solidFill>
                  <a:srgbClr val="334155"/>
                </a:solidFill>
                <a:latin typeface="Plus Jakarta Sans"/>
              </a:rPr>
              <a:t> </a:t>
            </a:r>
            <a:r>
              <a:rPr sz="1050" dirty="0" err="1">
                <a:solidFill>
                  <a:srgbClr val="334155"/>
                </a:solidFill>
                <a:latin typeface="Plus Jakarta Sans"/>
              </a:rPr>
              <a:t>clase</a:t>
            </a:r>
            <a:r>
              <a:rPr sz="1050" dirty="0">
                <a:solidFill>
                  <a:srgbClr val="334155"/>
                </a:solidFill>
                <a:latin typeface="Plus Jakarta Sans"/>
              </a:rPr>
              <a:t>.</a:t>
            </a:r>
            <a:endParaRPr lang="es-CO" sz="1050" dirty="0">
              <a:solidFill>
                <a:srgbClr val="334155"/>
              </a:solidFill>
              <a:latin typeface="Plus Jakarta Sans"/>
            </a:endParaRPr>
          </a:p>
        </p:txBody>
      </p:sp>
      <p:sp>
        <p:nvSpPr>
          <p:cNvPr id="16" name="TextBox 15"/>
          <p:cNvSpPr txBox="1"/>
          <p:nvPr/>
        </p:nvSpPr>
        <p:spPr>
          <a:xfrm>
            <a:off x="2969766" y="433844"/>
            <a:ext cx="3204468" cy="346249"/>
          </a:xfrm>
          <a:prstGeom prst="rect">
            <a:avLst/>
          </a:prstGeom>
          <a:noFill/>
        </p:spPr>
        <p:txBody>
          <a:bodyPr wrap="none" lIns="0" tIns="0" rIns="0" bIns="0" anchor="t">
            <a:spAutoFit/>
          </a:bodyPr>
          <a:lstStyle/>
          <a:p>
            <a:pPr algn="ctr">
              <a:lnSpc>
                <a:spcPts val="2700"/>
              </a:lnSpc>
            </a:pPr>
            <a:r>
              <a:rPr sz="2250" b="1" dirty="0" err="1">
                <a:solidFill>
                  <a:srgbClr val="0F172A"/>
                </a:solidFill>
                <a:latin typeface="Plus Jakarta Sans"/>
              </a:rPr>
              <a:t>Colaboraciones</a:t>
            </a:r>
            <a:r>
              <a:rPr sz="2250" b="1" dirty="0">
                <a:solidFill>
                  <a:srgbClr val="0F172A"/>
                </a:solidFill>
                <a:latin typeface="Plus Jakarta Sans"/>
              </a:rPr>
              <a:t> </a:t>
            </a:r>
            <a:r>
              <a:rPr sz="2250" b="1" dirty="0" err="1">
                <a:solidFill>
                  <a:srgbClr val="0F172A"/>
                </a:solidFill>
                <a:latin typeface="Plus Jakarta Sans"/>
              </a:rPr>
              <a:t>principales</a:t>
            </a:r>
            <a:endParaRPr sz="2250" b="1" dirty="0">
              <a:solidFill>
                <a:srgbClr val="0F172A"/>
              </a:solidFill>
              <a:latin typeface="Plus Jakarta Sans"/>
            </a:endParaRPr>
          </a:p>
        </p:txBody>
      </p:sp>
      <p:sp>
        <p:nvSpPr>
          <p:cNvPr id="17" name="TextBox 16"/>
          <p:cNvSpPr txBox="1"/>
          <p:nvPr/>
        </p:nvSpPr>
        <p:spPr>
          <a:xfrm>
            <a:off x="476455" y="1028700"/>
            <a:ext cx="8191090" cy="188770"/>
          </a:xfrm>
          <a:prstGeom prst="rect">
            <a:avLst/>
          </a:prstGeom>
          <a:noFill/>
        </p:spPr>
        <p:txBody>
          <a:bodyPr wrap="none" lIns="0" tIns="0" rIns="0" bIns="0" anchor="t">
            <a:spAutoFit/>
          </a:bodyPr>
          <a:lstStyle/>
          <a:p>
            <a:pPr algn="ctr">
              <a:lnSpc>
                <a:spcPts val="1417"/>
              </a:lnSpc>
            </a:pPr>
            <a:r>
              <a:rPr sz="1600" dirty="0">
                <a:solidFill>
                  <a:srgbClr val="64748B"/>
                </a:solidFill>
                <a:latin typeface="Plus Jakarta Sans"/>
              </a:rPr>
              <a:t>Cuatro </a:t>
            </a:r>
            <a:r>
              <a:rPr sz="1600" dirty="0" err="1">
                <a:solidFill>
                  <a:srgbClr val="64748B"/>
                </a:solidFill>
                <a:latin typeface="Plus Jakarta Sans"/>
              </a:rPr>
              <a:t>escenarios</a:t>
            </a:r>
            <a:r>
              <a:rPr sz="1600" dirty="0">
                <a:solidFill>
                  <a:srgbClr val="64748B"/>
                </a:solidFill>
                <a:latin typeface="Plus Jakarta Sans"/>
              </a:rPr>
              <a:t> clave </a:t>
            </a:r>
            <a:r>
              <a:rPr sz="1600" dirty="0" err="1">
                <a:solidFill>
                  <a:srgbClr val="64748B"/>
                </a:solidFill>
                <a:latin typeface="Plus Jakarta Sans"/>
              </a:rPr>
              <a:t>que</a:t>
            </a:r>
            <a:r>
              <a:rPr sz="1600" dirty="0">
                <a:solidFill>
                  <a:srgbClr val="64748B"/>
                </a:solidFill>
                <a:latin typeface="Plus Jakarta Sans"/>
              </a:rPr>
              <a:t> </a:t>
            </a:r>
            <a:r>
              <a:rPr sz="1600" dirty="0" err="1">
                <a:solidFill>
                  <a:srgbClr val="64748B"/>
                </a:solidFill>
                <a:latin typeface="Plus Jakarta Sans"/>
              </a:rPr>
              <a:t>concentran</a:t>
            </a:r>
            <a:r>
              <a:rPr sz="1600" dirty="0">
                <a:solidFill>
                  <a:srgbClr val="64748B"/>
                </a:solidFill>
                <a:latin typeface="Plus Jakarta Sans"/>
              </a:rPr>
              <a:t> la mayor </a:t>
            </a:r>
            <a:r>
              <a:rPr sz="1600" dirty="0" err="1">
                <a:solidFill>
                  <a:srgbClr val="64748B"/>
                </a:solidFill>
                <a:latin typeface="Plus Jakarta Sans"/>
              </a:rPr>
              <a:t>interacción</a:t>
            </a:r>
            <a:r>
              <a:rPr sz="1600" dirty="0">
                <a:solidFill>
                  <a:srgbClr val="64748B"/>
                </a:solidFill>
                <a:latin typeface="Plus Jakarta Sans"/>
              </a:rPr>
              <a:t> entre </a:t>
            </a:r>
            <a:r>
              <a:rPr sz="1600" dirty="0" err="1">
                <a:solidFill>
                  <a:srgbClr val="64748B"/>
                </a:solidFill>
                <a:latin typeface="Plus Jakarta Sans"/>
              </a:rPr>
              <a:t>los</a:t>
            </a:r>
            <a:r>
              <a:rPr sz="1600" dirty="0">
                <a:solidFill>
                  <a:srgbClr val="64748B"/>
                </a:solidFill>
                <a:latin typeface="Plus Jakarta Sans"/>
              </a:rPr>
              <a:t> </a:t>
            </a:r>
            <a:r>
              <a:rPr sz="1600" dirty="0" err="1">
                <a:solidFill>
                  <a:srgbClr val="64748B"/>
                </a:solidFill>
                <a:latin typeface="Plus Jakarta Sans"/>
              </a:rPr>
              <a:t>componentes</a:t>
            </a:r>
            <a:r>
              <a:rPr sz="1600" dirty="0">
                <a:solidFill>
                  <a:srgbClr val="64748B"/>
                </a:solidFill>
                <a:latin typeface="Plus Jakarta Sans"/>
              </a:rPr>
              <a:t> de la </a:t>
            </a:r>
            <a:r>
              <a:rPr sz="1600" dirty="0" err="1">
                <a:solidFill>
                  <a:srgbClr val="64748B"/>
                </a:solidFill>
                <a:latin typeface="Plus Jakarta Sans"/>
              </a:rPr>
              <a:t>solución</a:t>
            </a:r>
            <a:endParaRPr sz="1600" dirty="0">
              <a:solidFill>
                <a:srgbClr val="64748B"/>
              </a:solidFill>
              <a:latin typeface="Plus Jakarta Sans"/>
            </a:endParaRPr>
          </a:p>
        </p:txBody>
      </p:sp>
      <p:sp>
        <p:nvSpPr>
          <p:cNvPr id="18" name="TextBox 17"/>
          <p:cNvSpPr txBox="1"/>
          <p:nvPr/>
        </p:nvSpPr>
        <p:spPr>
          <a:xfrm>
            <a:off x="875783" y="2718197"/>
            <a:ext cx="1091646" cy="173124"/>
          </a:xfrm>
          <a:prstGeom prst="rect">
            <a:avLst/>
          </a:prstGeom>
          <a:noFill/>
        </p:spPr>
        <p:txBody>
          <a:bodyPr wrap="none" lIns="0" tIns="0" rIns="0" bIns="0" anchor="t">
            <a:spAutoFit/>
          </a:bodyPr>
          <a:lstStyle/>
          <a:p>
            <a:pPr algn="ctr"/>
            <a:r>
              <a:rPr sz="1125" b="1">
                <a:solidFill>
                  <a:srgbClr val="0F172A"/>
                </a:solidFill>
                <a:latin typeface="Plus Jakarta Sans"/>
              </a:rPr>
              <a:t>1. Consultar menú</a:t>
            </a:r>
          </a:p>
        </p:txBody>
      </p:sp>
      <p:sp>
        <p:nvSpPr>
          <p:cNvPr id="19" name="TextBox 18"/>
          <p:cNvSpPr txBox="1"/>
          <p:nvPr/>
        </p:nvSpPr>
        <p:spPr>
          <a:xfrm>
            <a:off x="323256" y="2953940"/>
            <a:ext cx="2021528" cy="322204"/>
          </a:xfrm>
          <a:prstGeom prst="rect">
            <a:avLst/>
          </a:prstGeom>
          <a:noFill/>
        </p:spPr>
        <p:txBody>
          <a:bodyPr wrap="square" lIns="0" tIns="0" rIns="0" bIns="0" anchor="t">
            <a:spAutoFit/>
          </a:bodyPr>
          <a:lstStyle/>
          <a:p>
            <a:pPr algn="ctr">
              <a:lnSpc>
                <a:spcPts val="1259"/>
              </a:lnSpc>
            </a:pPr>
            <a:r>
              <a:rPr sz="900" dirty="0">
                <a:solidFill>
                  <a:srgbClr val="475569"/>
                </a:solidFill>
                <a:latin typeface="Plus Jakarta Sans"/>
              </a:rPr>
              <a:t>Consulta de </a:t>
            </a:r>
            <a:r>
              <a:rPr sz="900" dirty="0" err="1">
                <a:solidFill>
                  <a:srgbClr val="475569"/>
                </a:solidFill>
                <a:latin typeface="Plus Jakarta Sans"/>
              </a:rPr>
              <a:t>restaurante</a:t>
            </a:r>
            <a:r>
              <a:rPr sz="900" dirty="0">
                <a:solidFill>
                  <a:srgbClr val="475569"/>
                </a:solidFill>
                <a:latin typeface="Plus Jakarta Sans"/>
              </a:rPr>
              <a:t>. Es el </a:t>
            </a:r>
            <a:r>
              <a:rPr sz="900" dirty="0" err="1">
                <a:solidFill>
                  <a:srgbClr val="475569"/>
                </a:solidFill>
                <a:latin typeface="Plus Jakarta Sans"/>
              </a:rPr>
              <a:t>escenario</a:t>
            </a:r>
            <a:r>
              <a:rPr sz="900" dirty="0">
                <a:solidFill>
                  <a:srgbClr val="475569"/>
                </a:solidFill>
                <a:latin typeface="Plus Jakarta Sans"/>
              </a:rPr>
              <a:t> </a:t>
            </a:r>
            <a:r>
              <a:rPr sz="900" dirty="0" err="1">
                <a:solidFill>
                  <a:srgbClr val="475569"/>
                </a:solidFill>
                <a:latin typeface="Plus Jakarta Sans"/>
              </a:rPr>
              <a:t>más</a:t>
            </a:r>
            <a:r>
              <a:rPr sz="900" dirty="0">
                <a:solidFill>
                  <a:srgbClr val="475569"/>
                </a:solidFill>
                <a:latin typeface="Plus Jakarta Sans"/>
              </a:rPr>
              <a:t> </a:t>
            </a:r>
            <a:r>
              <a:rPr sz="900" dirty="0" err="1">
                <a:solidFill>
                  <a:srgbClr val="475569"/>
                </a:solidFill>
                <a:latin typeface="Plus Jakarta Sans"/>
              </a:rPr>
              <a:t>frecuente</a:t>
            </a:r>
            <a:r>
              <a:rPr sz="900" dirty="0">
                <a:solidFill>
                  <a:srgbClr val="475569"/>
                </a:solidFill>
                <a:latin typeface="Plus Jakarta Sans"/>
              </a:rPr>
              <a:t> </a:t>
            </a:r>
            <a:r>
              <a:rPr sz="900" dirty="0" err="1">
                <a:solidFill>
                  <a:srgbClr val="475569"/>
                </a:solidFill>
                <a:latin typeface="Plus Jakarta Sans"/>
              </a:rPr>
              <a:t>en</a:t>
            </a:r>
            <a:r>
              <a:rPr sz="900" dirty="0">
                <a:solidFill>
                  <a:srgbClr val="475569"/>
                </a:solidFill>
                <a:latin typeface="Plus Jakarta Sans"/>
              </a:rPr>
              <a:t> la </a:t>
            </a:r>
            <a:r>
              <a:rPr sz="900" dirty="0" err="1">
                <a:solidFill>
                  <a:srgbClr val="475569"/>
                </a:solidFill>
                <a:latin typeface="Plus Jakarta Sans"/>
              </a:rPr>
              <a:t>aplicación</a:t>
            </a:r>
            <a:r>
              <a:rPr sz="900" dirty="0">
                <a:solidFill>
                  <a:srgbClr val="475569"/>
                </a:solidFill>
                <a:latin typeface="Plus Jakarta Sans"/>
              </a:rPr>
              <a:t>.</a:t>
            </a:r>
          </a:p>
        </p:txBody>
      </p:sp>
      <p:sp>
        <p:nvSpPr>
          <p:cNvPr id="20" name="TextBox 19"/>
          <p:cNvSpPr txBox="1"/>
          <p:nvPr/>
        </p:nvSpPr>
        <p:spPr>
          <a:xfrm>
            <a:off x="3043372" y="2718197"/>
            <a:ext cx="956993" cy="173124"/>
          </a:xfrm>
          <a:prstGeom prst="rect">
            <a:avLst/>
          </a:prstGeom>
          <a:noFill/>
        </p:spPr>
        <p:txBody>
          <a:bodyPr wrap="none" lIns="0" tIns="0" rIns="0" bIns="0" anchor="t">
            <a:spAutoFit/>
          </a:bodyPr>
          <a:lstStyle/>
          <a:p>
            <a:pPr algn="ctr"/>
            <a:r>
              <a:rPr sz="1125" b="1">
                <a:solidFill>
                  <a:srgbClr val="0F172A"/>
                </a:solidFill>
                <a:latin typeface="Plus Jakarta Sans"/>
              </a:rPr>
              <a:t>2. Agregar plato</a:t>
            </a:r>
          </a:p>
        </p:txBody>
      </p:sp>
      <p:sp>
        <p:nvSpPr>
          <p:cNvPr id="21" name="TextBox 20"/>
          <p:cNvSpPr txBox="1"/>
          <p:nvPr/>
        </p:nvSpPr>
        <p:spPr>
          <a:xfrm>
            <a:off x="2519960" y="2953940"/>
            <a:ext cx="2021528" cy="322204"/>
          </a:xfrm>
          <a:prstGeom prst="rect">
            <a:avLst/>
          </a:prstGeom>
          <a:noFill/>
        </p:spPr>
        <p:txBody>
          <a:bodyPr wrap="square" lIns="0" tIns="0" rIns="0" bIns="0" anchor="t">
            <a:spAutoFit/>
          </a:bodyPr>
          <a:lstStyle/>
          <a:p>
            <a:pPr algn="ctr">
              <a:lnSpc>
                <a:spcPts val="1259"/>
              </a:lnSpc>
            </a:pPr>
            <a:r>
              <a:rPr sz="900" dirty="0" err="1">
                <a:solidFill>
                  <a:srgbClr val="475569"/>
                </a:solidFill>
                <a:latin typeface="Plus Jakarta Sans"/>
              </a:rPr>
              <a:t>Selección</a:t>
            </a:r>
            <a:r>
              <a:rPr sz="900" dirty="0">
                <a:solidFill>
                  <a:srgbClr val="475569"/>
                </a:solidFill>
                <a:latin typeface="Plus Jakarta Sans"/>
              </a:rPr>
              <a:t> al </a:t>
            </a:r>
            <a:r>
              <a:rPr sz="900" dirty="0" err="1">
                <a:solidFill>
                  <a:srgbClr val="475569"/>
                </a:solidFill>
                <a:latin typeface="Plus Jakarta Sans"/>
              </a:rPr>
              <a:t>carrito</a:t>
            </a:r>
            <a:r>
              <a:rPr sz="900" dirty="0">
                <a:solidFill>
                  <a:srgbClr val="475569"/>
                </a:solidFill>
                <a:latin typeface="Plus Jakarta Sans"/>
              </a:rPr>
              <a:t>. Es la </a:t>
            </a:r>
            <a:r>
              <a:rPr sz="900" dirty="0" err="1">
                <a:solidFill>
                  <a:srgbClr val="475569"/>
                </a:solidFill>
                <a:latin typeface="Plus Jakarta Sans"/>
              </a:rPr>
              <a:t>acción</a:t>
            </a:r>
            <a:r>
              <a:rPr sz="900" dirty="0">
                <a:solidFill>
                  <a:srgbClr val="475569"/>
                </a:solidFill>
                <a:latin typeface="Plus Jakarta Sans"/>
              </a:rPr>
              <a:t> </a:t>
            </a:r>
            <a:r>
              <a:rPr sz="900" dirty="0" err="1">
                <a:solidFill>
                  <a:srgbClr val="475569"/>
                </a:solidFill>
                <a:latin typeface="Plus Jakarta Sans"/>
              </a:rPr>
              <a:t>que</a:t>
            </a:r>
            <a:r>
              <a:rPr sz="900" dirty="0">
                <a:solidFill>
                  <a:srgbClr val="475569"/>
                </a:solidFill>
                <a:latin typeface="Plus Jakarta Sans"/>
              </a:rPr>
              <a:t> </a:t>
            </a:r>
            <a:r>
              <a:rPr sz="900" dirty="0" err="1">
                <a:solidFill>
                  <a:srgbClr val="475569"/>
                </a:solidFill>
                <a:latin typeface="Plus Jakarta Sans"/>
              </a:rPr>
              <a:t>más</a:t>
            </a:r>
            <a:r>
              <a:rPr sz="900" dirty="0">
                <a:solidFill>
                  <a:srgbClr val="475569"/>
                </a:solidFill>
                <a:latin typeface="Plus Jakarta Sans"/>
              </a:rPr>
              <a:t> </a:t>
            </a:r>
            <a:r>
              <a:rPr sz="900" dirty="0" err="1">
                <a:solidFill>
                  <a:srgbClr val="475569"/>
                </a:solidFill>
                <a:latin typeface="Plus Jakarta Sans"/>
              </a:rPr>
              <a:t>veces</a:t>
            </a:r>
            <a:r>
              <a:rPr sz="900" dirty="0">
                <a:solidFill>
                  <a:srgbClr val="475569"/>
                </a:solidFill>
                <a:latin typeface="Plus Jakarta Sans"/>
              </a:rPr>
              <a:t> se </a:t>
            </a:r>
            <a:r>
              <a:rPr sz="900" dirty="0" err="1">
                <a:solidFill>
                  <a:srgbClr val="475569"/>
                </a:solidFill>
                <a:latin typeface="Plus Jakarta Sans"/>
              </a:rPr>
              <a:t>ejecuta</a:t>
            </a:r>
            <a:r>
              <a:rPr sz="900" dirty="0">
                <a:solidFill>
                  <a:srgbClr val="475569"/>
                </a:solidFill>
                <a:latin typeface="Plus Jakarta Sans"/>
              </a:rPr>
              <a:t> </a:t>
            </a:r>
            <a:r>
              <a:rPr sz="900" dirty="0" err="1">
                <a:solidFill>
                  <a:srgbClr val="475569"/>
                </a:solidFill>
                <a:latin typeface="Plus Jakarta Sans"/>
              </a:rPr>
              <a:t>por</a:t>
            </a:r>
            <a:r>
              <a:rPr sz="900" dirty="0">
                <a:solidFill>
                  <a:srgbClr val="475569"/>
                </a:solidFill>
                <a:latin typeface="Plus Jakarta Sans"/>
              </a:rPr>
              <a:t> </a:t>
            </a:r>
            <a:r>
              <a:rPr sz="900" dirty="0" err="1">
                <a:solidFill>
                  <a:srgbClr val="475569"/>
                </a:solidFill>
                <a:latin typeface="Plus Jakarta Sans"/>
              </a:rPr>
              <a:t>sesión</a:t>
            </a:r>
            <a:r>
              <a:rPr sz="900" dirty="0">
                <a:solidFill>
                  <a:srgbClr val="475569"/>
                </a:solidFill>
                <a:latin typeface="Plus Jakarta Sans"/>
              </a:rPr>
              <a:t>.</a:t>
            </a:r>
          </a:p>
        </p:txBody>
      </p:sp>
      <p:sp>
        <p:nvSpPr>
          <p:cNvPr id="22" name="TextBox 21"/>
          <p:cNvSpPr txBox="1"/>
          <p:nvPr/>
        </p:nvSpPr>
        <p:spPr>
          <a:xfrm>
            <a:off x="5025814" y="2718197"/>
            <a:ext cx="1192634" cy="173124"/>
          </a:xfrm>
          <a:prstGeom prst="rect">
            <a:avLst/>
          </a:prstGeom>
          <a:noFill/>
        </p:spPr>
        <p:txBody>
          <a:bodyPr wrap="none" lIns="0" tIns="0" rIns="0" bIns="0" anchor="t">
            <a:spAutoFit/>
          </a:bodyPr>
          <a:lstStyle/>
          <a:p>
            <a:pPr algn="ctr"/>
            <a:r>
              <a:rPr sz="1125" b="1">
                <a:solidFill>
                  <a:srgbClr val="0F172A"/>
                </a:solidFill>
                <a:latin typeface="Plus Jakarta Sans"/>
              </a:rPr>
              <a:t>3. Confirmar pedido</a:t>
            </a:r>
          </a:p>
        </p:txBody>
      </p:sp>
      <p:sp>
        <p:nvSpPr>
          <p:cNvPr id="23" name="TextBox 22"/>
          <p:cNvSpPr txBox="1"/>
          <p:nvPr/>
        </p:nvSpPr>
        <p:spPr>
          <a:xfrm>
            <a:off x="4698955" y="2953940"/>
            <a:ext cx="1871662" cy="488916"/>
          </a:xfrm>
          <a:prstGeom prst="rect">
            <a:avLst/>
          </a:prstGeom>
          <a:noFill/>
        </p:spPr>
        <p:txBody>
          <a:bodyPr wrap="square" lIns="0" tIns="0" rIns="0" bIns="0" anchor="t">
            <a:spAutoFit/>
          </a:bodyPr>
          <a:lstStyle/>
          <a:p>
            <a:pPr algn="ctr">
              <a:lnSpc>
                <a:spcPts val="1259"/>
              </a:lnSpc>
            </a:pPr>
            <a:r>
              <a:rPr sz="900" dirty="0" err="1">
                <a:solidFill>
                  <a:srgbClr val="475569"/>
                </a:solidFill>
                <a:latin typeface="Plus Jakarta Sans"/>
              </a:rPr>
              <a:t>Cobro</a:t>
            </a:r>
            <a:r>
              <a:rPr sz="900" dirty="0">
                <a:solidFill>
                  <a:srgbClr val="475569"/>
                </a:solidFill>
                <a:latin typeface="Plus Jakarta Sans"/>
              </a:rPr>
              <a:t> y checkout. El </a:t>
            </a:r>
            <a:r>
              <a:rPr sz="900" dirty="0" err="1">
                <a:solidFill>
                  <a:srgbClr val="475569"/>
                </a:solidFill>
                <a:latin typeface="Plus Jakarta Sans"/>
              </a:rPr>
              <a:t>flujo</a:t>
            </a:r>
            <a:r>
              <a:rPr sz="900" dirty="0">
                <a:solidFill>
                  <a:srgbClr val="475569"/>
                </a:solidFill>
                <a:latin typeface="Plus Jakarta Sans"/>
              </a:rPr>
              <a:t> </a:t>
            </a:r>
            <a:r>
              <a:rPr sz="900" dirty="0" err="1">
                <a:solidFill>
                  <a:srgbClr val="475569"/>
                </a:solidFill>
                <a:latin typeface="Plus Jakarta Sans"/>
              </a:rPr>
              <a:t>más</a:t>
            </a:r>
            <a:r>
              <a:rPr sz="900" dirty="0">
                <a:solidFill>
                  <a:srgbClr val="475569"/>
                </a:solidFill>
                <a:latin typeface="Plus Jakarta Sans"/>
              </a:rPr>
              <a:t> </a:t>
            </a:r>
            <a:r>
              <a:rPr sz="900" dirty="0" err="1">
                <a:solidFill>
                  <a:srgbClr val="475569"/>
                </a:solidFill>
                <a:latin typeface="Plus Jakarta Sans"/>
              </a:rPr>
              <a:t>crítico</a:t>
            </a:r>
            <a:r>
              <a:rPr sz="900" dirty="0">
                <a:solidFill>
                  <a:srgbClr val="475569"/>
                </a:solidFill>
                <a:latin typeface="Plus Jakarta Sans"/>
              </a:rPr>
              <a:t> del </a:t>
            </a:r>
            <a:r>
              <a:rPr sz="900" dirty="0" err="1">
                <a:solidFill>
                  <a:srgbClr val="475569"/>
                </a:solidFill>
                <a:latin typeface="Plus Jakarta Sans"/>
              </a:rPr>
              <a:t>negocio</a:t>
            </a:r>
            <a:r>
              <a:rPr sz="900" dirty="0">
                <a:solidFill>
                  <a:srgbClr val="475569"/>
                </a:solidFill>
                <a:latin typeface="Plus Jakarta Sans"/>
              </a:rPr>
              <a:t> </a:t>
            </a:r>
            <a:r>
              <a:rPr sz="900" dirty="0" err="1">
                <a:solidFill>
                  <a:srgbClr val="475569"/>
                </a:solidFill>
                <a:latin typeface="Plus Jakarta Sans"/>
              </a:rPr>
              <a:t>donde</a:t>
            </a:r>
            <a:r>
              <a:rPr sz="900" dirty="0">
                <a:solidFill>
                  <a:srgbClr val="475569"/>
                </a:solidFill>
                <a:latin typeface="Plus Jakarta Sans"/>
              </a:rPr>
              <a:t> </a:t>
            </a:r>
            <a:r>
              <a:rPr sz="900" dirty="0" err="1">
                <a:solidFill>
                  <a:srgbClr val="475569"/>
                </a:solidFill>
                <a:latin typeface="Plus Jakarta Sans"/>
              </a:rPr>
              <a:t>transacciona</a:t>
            </a:r>
            <a:r>
              <a:rPr sz="900" dirty="0">
                <a:solidFill>
                  <a:srgbClr val="475569"/>
                </a:solidFill>
                <a:latin typeface="Plus Jakarta Sans"/>
              </a:rPr>
              <a:t> el </a:t>
            </a:r>
            <a:r>
              <a:rPr sz="900" dirty="0" err="1">
                <a:solidFill>
                  <a:srgbClr val="475569"/>
                </a:solidFill>
                <a:latin typeface="Plus Jakarta Sans"/>
              </a:rPr>
              <a:t>usuario</a:t>
            </a:r>
            <a:r>
              <a:rPr sz="900" dirty="0">
                <a:solidFill>
                  <a:srgbClr val="475569"/>
                </a:solidFill>
                <a:latin typeface="Plus Jakarta Sans"/>
              </a:rPr>
              <a:t>.</a:t>
            </a:r>
          </a:p>
        </p:txBody>
      </p:sp>
      <p:sp>
        <p:nvSpPr>
          <p:cNvPr id="24" name="TextBox 23"/>
          <p:cNvSpPr txBox="1"/>
          <p:nvPr/>
        </p:nvSpPr>
        <p:spPr>
          <a:xfrm>
            <a:off x="7103635" y="2718197"/>
            <a:ext cx="1237518" cy="173124"/>
          </a:xfrm>
          <a:prstGeom prst="rect">
            <a:avLst/>
          </a:prstGeom>
          <a:noFill/>
        </p:spPr>
        <p:txBody>
          <a:bodyPr wrap="none" lIns="0" tIns="0" rIns="0" bIns="0" anchor="t">
            <a:spAutoFit/>
          </a:bodyPr>
          <a:lstStyle/>
          <a:p>
            <a:pPr algn="ctr"/>
            <a:r>
              <a:rPr sz="1125" b="1">
                <a:solidFill>
                  <a:srgbClr val="0F172A"/>
                </a:solidFill>
                <a:latin typeface="Plus Jakarta Sans"/>
              </a:rPr>
              <a:t>4. Asignar repartidor</a:t>
            </a:r>
          </a:p>
        </p:txBody>
      </p:sp>
      <p:sp>
        <p:nvSpPr>
          <p:cNvPr id="25" name="TextBox 24"/>
          <p:cNvSpPr txBox="1"/>
          <p:nvPr/>
        </p:nvSpPr>
        <p:spPr>
          <a:xfrm>
            <a:off x="6728084" y="2953940"/>
            <a:ext cx="1871663" cy="322204"/>
          </a:xfrm>
          <a:prstGeom prst="rect">
            <a:avLst/>
          </a:prstGeom>
          <a:noFill/>
        </p:spPr>
        <p:txBody>
          <a:bodyPr wrap="square" lIns="0" tIns="0" rIns="0" bIns="0" anchor="t">
            <a:spAutoFit/>
          </a:bodyPr>
          <a:lstStyle/>
          <a:p>
            <a:pPr algn="ctr">
              <a:lnSpc>
                <a:spcPts val="1259"/>
              </a:lnSpc>
            </a:pPr>
            <a:r>
              <a:rPr sz="900" dirty="0" err="1">
                <a:solidFill>
                  <a:srgbClr val="475569"/>
                </a:solidFill>
                <a:latin typeface="Plus Jakarta Sans"/>
              </a:rPr>
              <a:t>Notificación</a:t>
            </a:r>
            <a:r>
              <a:rPr sz="900" dirty="0">
                <a:solidFill>
                  <a:srgbClr val="475569"/>
                </a:solidFill>
                <a:latin typeface="Plus Jakarta Sans"/>
              </a:rPr>
              <a:t> y </a:t>
            </a:r>
            <a:r>
              <a:rPr sz="900" dirty="0" err="1">
                <a:solidFill>
                  <a:srgbClr val="475569"/>
                </a:solidFill>
                <a:latin typeface="Plus Jakarta Sans"/>
              </a:rPr>
              <a:t>entrega</a:t>
            </a:r>
            <a:r>
              <a:rPr sz="900" dirty="0">
                <a:solidFill>
                  <a:srgbClr val="475569"/>
                </a:solidFill>
                <a:latin typeface="Plus Jakarta Sans"/>
              </a:rPr>
              <a:t>. </a:t>
            </a:r>
            <a:r>
              <a:rPr sz="900" dirty="0" err="1">
                <a:solidFill>
                  <a:srgbClr val="475569"/>
                </a:solidFill>
                <a:latin typeface="Plus Jakarta Sans"/>
              </a:rPr>
              <a:t>Escenario</a:t>
            </a:r>
            <a:r>
              <a:rPr sz="900" dirty="0">
                <a:solidFill>
                  <a:srgbClr val="475569"/>
                </a:solidFill>
                <a:latin typeface="Plus Jakarta Sans"/>
              </a:rPr>
              <a:t> con mayor </a:t>
            </a:r>
            <a:r>
              <a:rPr sz="900" dirty="0" err="1">
                <a:solidFill>
                  <a:srgbClr val="475569"/>
                </a:solidFill>
                <a:latin typeface="Plus Jakarta Sans"/>
              </a:rPr>
              <a:t>número</a:t>
            </a:r>
            <a:r>
              <a:rPr sz="900" dirty="0">
                <a:solidFill>
                  <a:srgbClr val="475569"/>
                </a:solidFill>
                <a:latin typeface="Plus Jakarta Sans"/>
              </a:rPr>
              <a:t> de </a:t>
            </a:r>
            <a:r>
              <a:rPr sz="900" dirty="0" err="1">
                <a:solidFill>
                  <a:srgbClr val="475569"/>
                </a:solidFill>
                <a:latin typeface="Plus Jakarta Sans"/>
              </a:rPr>
              <a:t>elementos</a:t>
            </a:r>
            <a:r>
              <a:rPr sz="900" dirty="0">
                <a:solidFill>
                  <a:srgbClr val="475569"/>
                </a:solidFill>
                <a:latin typeface="Plus Jakarta Sans"/>
              </a:rPr>
              <a:t> </a:t>
            </a:r>
            <a:r>
              <a:rPr sz="900" dirty="0" err="1">
                <a:solidFill>
                  <a:srgbClr val="475569"/>
                </a:solidFill>
                <a:latin typeface="Plus Jakarta Sans"/>
              </a:rPr>
              <a:t>externos</a:t>
            </a:r>
            <a:r>
              <a:rPr sz="900" dirty="0">
                <a:solidFill>
                  <a:srgbClr val="475569"/>
                </a:solidFill>
                <a:latin typeface="Plus Jakarta Sans"/>
              </a:rPr>
              <a:t>.</a:t>
            </a:r>
          </a:p>
        </p:txBody>
      </p:sp>
      <p:sp>
        <p:nvSpPr>
          <p:cNvPr id="26" name="CuadroTexto 25">
            <a:extLst>
              <a:ext uri="{FF2B5EF4-FFF2-40B4-BE49-F238E27FC236}">
                <a16:creationId xmlns:a16="http://schemas.microsoft.com/office/drawing/2014/main" id="{D5EDCDCA-9FDD-37B7-A312-72692C313C59}"/>
              </a:ext>
            </a:extLst>
          </p:cNvPr>
          <p:cNvSpPr txBox="1"/>
          <p:nvPr/>
        </p:nvSpPr>
        <p:spPr>
          <a:xfrm>
            <a:off x="505420" y="3925078"/>
            <a:ext cx="8031157" cy="877163"/>
          </a:xfrm>
          <a:prstGeom prst="rect">
            <a:avLst/>
          </a:prstGeom>
          <a:noFill/>
        </p:spPr>
        <p:txBody>
          <a:bodyPr wrap="square" rtlCol="0">
            <a:spAutoFit/>
          </a:bodyPr>
          <a:lstStyle/>
          <a:p>
            <a:pPr algn="ctr"/>
            <a:endParaRPr lang="es-CO" sz="900" dirty="0">
              <a:solidFill>
                <a:srgbClr val="334155"/>
              </a:solidFill>
              <a:latin typeface="Plus Jakarta Sans"/>
            </a:endParaRPr>
          </a:p>
          <a:p>
            <a:pPr algn="ctr"/>
            <a:r>
              <a:rPr lang="en-US" sz="1200" dirty="0" err="1">
                <a:solidFill>
                  <a:srgbClr val="334155"/>
                </a:solidFill>
                <a:latin typeface="Plus Jakarta Sans"/>
              </a:rPr>
              <a:t>Escogimos</a:t>
            </a:r>
            <a:r>
              <a:rPr lang="en-US" sz="1200" dirty="0">
                <a:solidFill>
                  <a:srgbClr val="334155"/>
                </a:solidFill>
                <a:latin typeface="Plus Jakarta Sans"/>
              </a:rPr>
              <a:t> </a:t>
            </a:r>
            <a:r>
              <a:rPr lang="en-US" sz="1200" dirty="0" err="1">
                <a:solidFill>
                  <a:srgbClr val="334155"/>
                </a:solidFill>
                <a:latin typeface="Plus Jakarta Sans"/>
              </a:rPr>
              <a:t>estos</a:t>
            </a:r>
            <a:r>
              <a:rPr lang="en-US" sz="1200" dirty="0">
                <a:solidFill>
                  <a:srgbClr val="334155"/>
                </a:solidFill>
                <a:latin typeface="Plus Jakarta Sans"/>
              </a:rPr>
              <a:t> cuatro </a:t>
            </a:r>
            <a:r>
              <a:rPr lang="en-US" sz="1200" dirty="0" err="1">
                <a:solidFill>
                  <a:srgbClr val="334155"/>
                </a:solidFill>
                <a:latin typeface="Plus Jakarta Sans"/>
              </a:rPr>
              <a:t>porque</a:t>
            </a:r>
            <a:r>
              <a:rPr lang="en-US" sz="1200" dirty="0">
                <a:solidFill>
                  <a:srgbClr val="334155"/>
                </a:solidFill>
                <a:latin typeface="Plus Jakarta Sans"/>
              </a:rPr>
              <a:t> el primero es el </a:t>
            </a:r>
            <a:r>
              <a:rPr lang="en-US" sz="1200" dirty="0" err="1">
                <a:solidFill>
                  <a:srgbClr val="334155"/>
                </a:solidFill>
                <a:latin typeface="Plus Jakarta Sans"/>
              </a:rPr>
              <a:t>más</a:t>
            </a:r>
            <a:r>
              <a:rPr lang="en-US" sz="1200" dirty="0">
                <a:solidFill>
                  <a:srgbClr val="334155"/>
                </a:solidFill>
                <a:latin typeface="Plus Jakarta Sans"/>
              </a:rPr>
              <a:t> </a:t>
            </a:r>
            <a:r>
              <a:rPr lang="en-US" sz="1200" dirty="0" err="1">
                <a:solidFill>
                  <a:srgbClr val="334155"/>
                </a:solidFill>
                <a:latin typeface="Plus Jakarta Sans"/>
              </a:rPr>
              <a:t>frecuente</a:t>
            </a:r>
            <a:r>
              <a:rPr lang="en-US" sz="1200" dirty="0">
                <a:solidFill>
                  <a:srgbClr val="334155"/>
                </a:solidFill>
                <a:latin typeface="Plus Jakarta Sans"/>
              </a:rPr>
              <a:t>, el </a:t>
            </a:r>
            <a:r>
              <a:rPr lang="en-US" sz="1200" dirty="0" err="1">
                <a:solidFill>
                  <a:srgbClr val="334155"/>
                </a:solidFill>
                <a:latin typeface="Plus Jakarta Sans"/>
              </a:rPr>
              <a:t>segundo</a:t>
            </a:r>
            <a:r>
              <a:rPr lang="en-US" sz="1200" dirty="0">
                <a:solidFill>
                  <a:srgbClr val="334155"/>
                </a:solidFill>
                <a:latin typeface="Plus Jakarta Sans"/>
              </a:rPr>
              <a:t> es el </a:t>
            </a:r>
            <a:r>
              <a:rPr lang="en-US" sz="1200" dirty="0" err="1">
                <a:solidFill>
                  <a:srgbClr val="334155"/>
                </a:solidFill>
                <a:latin typeface="Plus Jakarta Sans"/>
              </a:rPr>
              <a:t>que</a:t>
            </a:r>
            <a:r>
              <a:rPr lang="en-US" sz="1200" dirty="0">
                <a:solidFill>
                  <a:srgbClr val="334155"/>
                </a:solidFill>
                <a:latin typeface="Plus Jakarta Sans"/>
              </a:rPr>
              <a:t> </a:t>
            </a:r>
            <a:r>
              <a:rPr lang="en-US" sz="1200" dirty="0" err="1">
                <a:solidFill>
                  <a:srgbClr val="334155"/>
                </a:solidFill>
                <a:latin typeface="Plus Jakarta Sans"/>
              </a:rPr>
              <a:t>más</a:t>
            </a:r>
            <a:r>
              <a:rPr lang="en-US" sz="1200" dirty="0">
                <a:solidFill>
                  <a:srgbClr val="334155"/>
                </a:solidFill>
                <a:latin typeface="Plus Jakarta Sans"/>
              </a:rPr>
              <a:t> </a:t>
            </a:r>
            <a:r>
              <a:rPr lang="en-US" sz="1200" dirty="0" err="1">
                <a:solidFill>
                  <a:srgbClr val="334155"/>
                </a:solidFill>
                <a:latin typeface="Plus Jakarta Sans"/>
              </a:rPr>
              <a:t>veces</a:t>
            </a:r>
            <a:r>
              <a:rPr lang="en-US" sz="1200" dirty="0">
                <a:solidFill>
                  <a:srgbClr val="334155"/>
                </a:solidFill>
                <a:latin typeface="Plus Jakarta Sans"/>
              </a:rPr>
              <a:t> </a:t>
            </a:r>
            <a:r>
              <a:rPr lang="en-US" sz="1200" dirty="0" err="1">
                <a:solidFill>
                  <a:srgbClr val="334155"/>
                </a:solidFill>
                <a:latin typeface="Plus Jakarta Sans"/>
              </a:rPr>
              <a:t>por</a:t>
            </a:r>
            <a:r>
              <a:rPr lang="en-US" sz="1200" dirty="0">
                <a:solidFill>
                  <a:srgbClr val="334155"/>
                </a:solidFill>
                <a:latin typeface="Plus Jakarta Sans"/>
              </a:rPr>
              <a:t> </a:t>
            </a:r>
            <a:r>
              <a:rPr lang="en-US" sz="1200" dirty="0" err="1">
                <a:solidFill>
                  <a:srgbClr val="334155"/>
                </a:solidFill>
                <a:latin typeface="Plus Jakarta Sans"/>
              </a:rPr>
              <a:t>sesión</a:t>
            </a:r>
            <a:r>
              <a:rPr lang="en-US" sz="1200" dirty="0">
                <a:solidFill>
                  <a:srgbClr val="334155"/>
                </a:solidFill>
                <a:latin typeface="Plus Jakarta Sans"/>
              </a:rPr>
              <a:t> se </a:t>
            </a:r>
            <a:r>
              <a:rPr lang="en-US" sz="1200" dirty="0" err="1">
                <a:solidFill>
                  <a:srgbClr val="334155"/>
                </a:solidFill>
                <a:latin typeface="Plus Jakarta Sans"/>
              </a:rPr>
              <a:t>ejecuta</a:t>
            </a:r>
            <a:r>
              <a:rPr lang="en-US" sz="1200" dirty="0">
                <a:solidFill>
                  <a:srgbClr val="334155"/>
                </a:solidFill>
                <a:latin typeface="Plus Jakarta Sans"/>
              </a:rPr>
              <a:t>, el </a:t>
            </a:r>
            <a:r>
              <a:rPr lang="en-US" sz="1200" dirty="0" err="1">
                <a:solidFill>
                  <a:srgbClr val="334155"/>
                </a:solidFill>
                <a:latin typeface="Plus Jakarta Sans"/>
              </a:rPr>
              <a:t>tercero</a:t>
            </a:r>
            <a:r>
              <a:rPr lang="en-US" sz="1200" dirty="0">
                <a:solidFill>
                  <a:srgbClr val="334155"/>
                </a:solidFill>
                <a:latin typeface="Plus Jakarta Sans"/>
              </a:rPr>
              <a:t> es el </a:t>
            </a:r>
            <a:r>
              <a:rPr lang="en-US" sz="1200" dirty="0" err="1">
                <a:solidFill>
                  <a:srgbClr val="334155"/>
                </a:solidFill>
                <a:latin typeface="Plus Jakarta Sans"/>
              </a:rPr>
              <a:t>más</a:t>
            </a:r>
            <a:r>
              <a:rPr lang="en-US" sz="1200" dirty="0">
                <a:solidFill>
                  <a:srgbClr val="334155"/>
                </a:solidFill>
                <a:latin typeface="Plus Jakarta Sans"/>
              </a:rPr>
              <a:t> </a:t>
            </a:r>
            <a:r>
              <a:rPr lang="en-US" sz="1200" dirty="0" err="1">
                <a:solidFill>
                  <a:srgbClr val="334155"/>
                </a:solidFill>
                <a:latin typeface="Plus Jakarta Sans"/>
              </a:rPr>
              <a:t>crítico</a:t>
            </a:r>
            <a:r>
              <a:rPr lang="en-US" sz="1200" dirty="0">
                <a:solidFill>
                  <a:srgbClr val="334155"/>
                </a:solidFill>
                <a:latin typeface="Plus Jakarta Sans"/>
              </a:rPr>
              <a:t> (ahí se </a:t>
            </a:r>
            <a:r>
              <a:rPr lang="en-US" sz="1200" dirty="0" err="1">
                <a:solidFill>
                  <a:srgbClr val="334155"/>
                </a:solidFill>
                <a:latin typeface="Plus Jakarta Sans"/>
              </a:rPr>
              <a:t>mueve</a:t>
            </a:r>
            <a:r>
              <a:rPr lang="en-US" sz="1200" dirty="0">
                <a:solidFill>
                  <a:srgbClr val="334155"/>
                </a:solidFill>
                <a:latin typeface="Plus Jakarta Sans"/>
              </a:rPr>
              <a:t> la </a:t>
            </a:r>
            <a:r>
              <a:rPr lang="en-US" sz="1200" dirty="0" err="1">
                <a:solidFill>
                  <a:srgbClr val="334155"/>
                </a:solidFill>
                <a:latin typeface="Plus Jakarta Sans"/>
              </a:rPr>
              <a:t>plata</a:t>
            </a:r>
            <a:r>
              <a:rPr lang="en-US" sz="1200" dirty="0">
                <a:solidFill>
                  <a:srgbClr val="334155"/>
                </a:solidFill>
                <a:latin typeface="Plus Jakarta Sans"/>
              </a:rPr>
              <a:t>) y el </a:t>
            </a:r>
            <a:r>
              <a:rPr lang="en-US" sz="1200" dirty="0" err="1">
                <a:solidFill>
                  <a:srgbClr val="334155"/>
                </a:solidFill>
                <a:latin typeface="Plus Jakarta Sans"/>
              </a:rPr>
              <a:t>cuarto</a:t>
            </a:r>
            <a:r>
              <a:rPr lang="en-US" sz="1200" dirty="0">
                <a:solidFill>
                  <a:srgbClr val="334155"/>
                </a:solidFill>
                <a:latin typeface="Plus Jakarta Sans"/>
              </a:rPr>
              <a:t> es el </a:t>
            </a:r>
            <a:r>
              <a:rPr lang="en-US" sz="1200" dirty="0" err="1">
                <a:solidFill>
                  <a:srgbClr val="334155"/>
                </a:solidFill>
                <a:latin typeface="Plus Jakarta Sans"/>
              </a:rPr>
              <a:t>que</a:t>
            </a:r>
            <a:r>
              <a:rPr lang="en-US" sz="1200" dirty="0">
                <a:solidFill>
                  <a:srgbClr val="334155"/>
                </a:solidFill>
                <a:latin typeface="Plus Jakarta Sans"/>
              </a:rPr>
              <a:t> </a:t>
            </a:r>
            <a:r>
              <a:rPr lang="en-US" sz="1200" dirty="0" err="1">
                <a:solidFill>
                  <a:srgbClr val="334155"/>
                </a:solidFill>
                <a:latin typeface="Plus Jakarta Sans"/>
              </a:rPr>
              <a:t>tiene</a:t>
            </a:r>
            <a:r>
              <a:rPr lang="en-US" sz="1200" dirty="0">
                <a:solidFill>
                  <a:srgbClr val="334155"/>
                </a:solidFill>
                <a:latin typeface="Plus Jakarta Sans"/>
              </a:rPr>
              <a:t> </a:t>
            </a:r>
            <a:r>
              <a:rPr lang="en-US" sz="1200" dirty="0" err="1">
                <a:solidFill>
                  <a:srgbClr val="334155"/>
                </a:solidFill>
                <a:latin typeface="Plus Jakarta Sans"/>
              </a:rPr>
              <a:t>más</a:t>
            </a:r>
            <a:r>
              <a:rPr lang="en-US" sz="1200" dirty="0">
                <a:solidFill>
                  <a:srgbClr val="334155"/>
                </a:solidFill>
                <a:latin typeface="Plus Jakarta Sans"/>
              </a:rPr>
              <a:t> </a:t>
            </a:r>
            <a:r>
              <a:rPr lang="en-US" sz="1200" dirty="0" err="1">
                <a:solidFill>
                  <a:srgbClr val="334155"/>
                </a:solidFill>
                <a:latin typeface="Plus Jakarta Sans"/>
              </a:rPr>
              <a:t>elementos</a:t>
            </a:r>
            <a:r>
              <a:rPr lang="en-US" sz="1200" dirty="0">
                <a:solidFill>
                  <a:srgbClr val="334155"/>
                </a:solidFill>
                <a:latin typeface="Plus Jakarta Sans"/>
              </a:rPr>
              <a:t> </a:t>
            </a:r>
            <a:r>
              <a:rPr lang="en-US" sz="1200" dirty="0" err="1">
                <a:solidFill>
                  <a:srgbClr val="334155"/>
                </a:solidFill>
                <a:latin typeface="Plus Jakarta Sans"/>
              </a:rPr>
              <a:t>externos</a:t>
            </a:r>
            <a:r>
              <a:rPr lang="en-US" sz="1200" dirty="0">
                <a:solidFill>
                  <a:srgbClr val="334155"/>
                </a:solidFill>
                <a:latin typeface="Plus Jakarta Sans"/>
              </a:rPr>
              <a:t> </a:t>
            </a:r>
            <a:r>
              <a:rPr lang="en-US" sz="1200" dirty="0" err="1">
                <a:solidFill>
                  <a:srgbClr val="334155"/>
                </a:solidFill>
                <a:latin typeface="Plus Jakarta Sans"/>
              </a:rPr>
              <a:t>involucrados</a:t>
            </a:r>
            <a:r>
              <a:rPr lang="en-US" sz="1200" dirty="0">
                <a:solidFill>
                  <a:srgbClr val="334155"/>
                </a:solidFill>
                <a:latin typeface="Plus Jakarta Sans"/>
              </a:rPr>
              <a:t>.</a:t>
            </a:r>
          </a:p>
          <a:p>
            <a:endParaRPr lang="es-ES" dirty="0"/>
          </a:p>
        </p:txBody>
      </p:sp>
      <p:pic>
        <p:nvPicPr>
          <p:cNvPr id="27" name="Imagen 26" descr="Menú - Iconos gratis de comida">
            <a:extLst>
              <a:ext uri="{FF2B5EF4-FFF2-40B4-BE49-F238E27FC236}">
                <a16:creationId xmlns:a16="http://schemas.microsoft.com/office/drawing/2014/main" id="{4BCA415E-A3B8-EFF5-7E32-AE94467CB8EF}"/>
              </a:ext>
            </a:extLst>
          </p:cNvPr>
          <p:cNvPicPr>
            <a:picLocks noChangeAspect="1"/>
          </p:cNvPicPr>
          <p:nvPr/>
        </p:nvPicPr>
        <p:blipFill>
          <a:blip r:embed="rId7"/>
          <a:stretch>
            <a:fillRect/>
          </a:stretch>
        </p:blipFill>
        <p:spPr>
          <a:xfrm>
            <a:off x="1176633" y="1982831"/>
            <a:ext cx="489946" cy="489946"/>
          </a:xfrm>
          <a:prstGeom prst="rect">
            <a:avLst/>
          </a:prstGeom>
        </p:spPr>
      </p:pic>
      <p:pic>
        <p:nvPicPr>
          <p:cNvPr id="28" name="Imagen 27" descr="Carrito de compras - Iconos gratis de comercio y compras">
            <a:extLst>
              <a:ext uri="{FF2B5EF4-FFF2-40B4-BE49-F238E27FC236}">
                <a16:creationId xmlns:a16="http://schemas.microsoft.com/office/drawing/2014/main" id="{63324A14-FE00-FE52-6072-422B04ECE963}"/>
              </a:ext>
            </a:extLst>
          </p:cNvPr>
          <p:cNvPicPr>
            <a:picLocks noChangeAspect="1"/>
          </p:cNvPicPr>
          <p:nvPr/>
        </p:nvPicPr>
        <p:blipFill>
          <a:blip r:embed="rId8"/>
          <a:stretch>
            <a:fillRect/>
          </a:stretch>
        </p:blipFill>
        <p:spPr>
          <a:xfrm>
            <a:off x="3243282" y="1958469"/>
            <a:ext cx="557171" cy="557171"/>
          </a:xfrm>
          <a:prstGeom prst="rect">
            <a:avLst/>
          </a:prstGeom>
        </p:spPr>
      </p:pic>
      <p:pic>
        <p:nvPicPr>
          <p:cNvPr id="29" name="Imagen 28" descr="Pedido en línea - Iconos gratis de comercio y compras">
            <a:extLst>
              <a:ext uri="{FF2B5EF4-FFF2-40B4-BE49-F238E27FC236}">
                <a16:creationId xmlns:a16="http://schemas.microsoft.com/office/drawing/2014/main" id="{5FB72976-31F4-6268-3ACC-5BEEBB92A43C}"/>
              </a:ext>
            </a:extLst>
          </p:cNvPr>
          <p:cNvPicPr>
            <a:picLocks noChangeAspect="1"/>
          </p:cNvPicPr>
          <p:nvPr/>
        </p:nvPicPr>
        <p:blipFill>
          <a:blip r:embed="rId9"/>
          <a:stretch>
            <a:fillRect/>
          </a:stretch>
        </p:blipFill>
        <p:spPr>
          <a:xfrm>
            <a:off x="5377567" y="1974828"/>
            <a:ext cx="489128" cy="489128"/>
          </a:xfrm>
          <a:prstGeom prst="rect">
            <a:avLst/>
          </a:prstGeom>
        </p:spPr>
      </p:pic>
      <p:pic>
        <p:nvPicPr>
          <p:cNvPr id="30" name="Imagen 29" descr="Repartidor - Iconos gratis de personas">
            <a:extLst>
              <a:ext uri="{FF2B5EF4-FFF2-40B4-BE49-F238E27FC236}">
                <a16:creationId xmlns:a16="http://schemas.microsoft.com/office/drawing/2014/main" id="{FE918F8B-79B4-22AA-9EC8-60B752C61AB2}"/>
              </a:ext>
            </a:extLst>
          </p:cNvPr>
          <p:cNvPicPr>
            <a:picLocks noChangeAspect="1"/>
          </p:cNvPicPr>
          <p:nvPr/>
        </p:nvPicPr>
        <p:blipFill>
          <a:blip r:embed="rId10"/>
          <a:stretch>
            <a:fillRect/>
          </a:stretch>
        </p:blipFill>
        <p:spPr>
          <a:xfrm>
            <a:off x="7421349" y="1889034"/>
            <a:ext cx="602088" cy="60208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04800"/>
            <a:ext cx="8394192" cy="312837"/>
          </a:xfrm>
          <a:prstGeom prst="rect">
            <a:avLst/>
          </a:prstGeom>
          <a:noFill/>
          <a:ln/>
        </p:spPr>
        <p:txBody>
          <a:bodyPr wrap="square" lIns="0" tIns="0" rIns="0" bIns="0" rtlCol="0" anchor="t"/>
          <a:lstStyle/>
          <a:p>
            <a:pPr marL="0" indent="0" algn="l">
              <a:lnSpc>
                <a:spcPts val="2464"/>
              </a:lnSpc>
              <a:spcBef>
                <a:spcPts val="2400"/>
              </a:spcBef>
              <a:buNone/>
            </a:pPr>
            <a:r>
              <a:rPr lang="en-US" sz="2200" b="1" dirty="0">
                <a:solidFill>
                  <a:srgbClr val="111111"/>
                </a:solidFill>
                <a:latin typeface="Helvetica" pitchFamily="34" charset="0"/>
                <a:ea typeface="Helvetica" pitchFamily="34" charset="-122"/>
                <a:cs typeface="Helvetica" pitchFamily="34" charset="-120"/>
              </a:rPr>
              <a:t>Colaboración 1: consultar el menú de un restaurante</a:t>
            </a:r>
            <a:endParaRPr lang="en-US" sz="2200" dirty="0"/>
          </a:p>
        </p:txBody>
      </p:sp>
      <p:sp>
        <p:nvSpPr>
          <p:cNvPr id="3" name="Text 1"/>
          <p:cNvSpPr/>
          <p:nvPr/>
        </p:nvSpPr>
        <p:spPr>
          <a:xfrm>
            <a:off x="431750" y="693837"/>
            <a:ext cx="8445957" cy="313730"/>
          </a:xfrm>
          <a:prstGeom prst="rect">
            <a:avLst/>
          </a:prstGeom>
          <a:noFill/>
          <a:ln/>
        </p:spPr>
        <p:txBody>
          <a:bodyPr wrap="square" lIns="0" tIns="0" rIns="0" bIns="0" rtlCol="0" anchor="t"/>
          <a:lstStyle/>
          <a:p>
            <a:pPr marL="0" indent="0" algn="l">
              <a:lnSpc>
                <a:spcPts val="1235"/>
              </a:lnSpc>
              <a:spcAft>
                <a:spcPts val="500"/>
              </a:spcAft>
              <a:buNone/>
            </a:pPr>
            <a:r>
              <a:rPr lang="en-US" sz="950" dirty="0">
                <a:solidFill>
                  <a:srgbClr val="5E5E5E"/>
                </a:solidFill>
                <a:latin typeface="Helvetica" pitchFamily="34" charset="0"/>
                <a:ea typeface="Helvetica" pitchFamily="34" charset="-122"/>
                <a:cs typeface="Helvetica" pitchFamily="34" charset="-120"/>
              </a:rPr>
              <a:t>El Núcleo no busca los platos: le pide el menú al Restaurante, que es el que sabe cómo conseguirlo. Nótese que el Restaurante pide una conexión al Conector DB en lugar de crearla.</a:t>
            </a:r>
            <a:endParaRPr lang="en-US" sz="950" dirty="0"/>
          </a:p>
        </p:txBody>
      </p:sp>
      <p:pic>
        <p:nvPicPr>
          <p:cNvPr id="4" name="Image 0" descr="/home/claude/work/build/img/col1.png"/>
          <p:cNvPicPr>
            <a:picLocks noChangeAspect="1"/>
          </p:cNvPicPr>
          <p:nvPr/>
        </p:nvPicPr>
        <p:blipFill>
          <a:blip r:embed="rId3"/>
          <a:stretch>
            <a:fillRect/>
          </a:stretch>
        </p:blipFill>
        <p:spPr>
          <a:xfrm>
            <a:off x="634901" y="1070967"/>
            <a:ext cx="7873901" cy="3670250"/>
          </a:xfrm>
          <a:prstGeom prst="rect">
            <a:avLst/>
          </a:prstGeom>
        </p:spPr>
      </p:pic>
      <p:sp>
        <p:nvSpPr>
          <p:cNvPr id="5" name="Text 2"/>
          <p:cNvSpPr/>
          <p:nvPr/>
        </p:nvSpPr>
        <p:spPr>
          <a:xfrm>
            <a:off x="8737402" y="4842570"/>
            <a:ext cx="129793" cy="148530"/>
          </a:xfrm>
          <a:prstGeom prst="rect">
            <a:avLst/>
          </a:prstGeom>
          <a:noFill/>
          <a:ln/>
        </p:spPr>
        <p:txBody>
          <a:bodyPr wrap="square" lIns="0" tIns="0" rIns="0" bIns="0" rtlCol="0" anchor="t"/>
          <a:lstStyle/>
          <a:p>
            <a:pPr marL="0" indent="0" algn="l">
              <a:lnSpc>
                <a:spcPts val="1170"/>
              </a:lnSpc>
              <a:buNone/>
            </a:pPr>
            <a:r>
              <a:rPr lang="en-US" sz="900" dirty="0">
                <a:solidFill>
                  <a:srgbClr val="9A9A9A"/>
                </a:solidFill>
                <a:latin typeface="Helvetica" pitchFamily="34" charset="0"/>
                <a:ea typeface="Helvetica" pitchFamily="34" charset="-122"/>
                <a:cs typeface="Helvetica" pitchFamily="34" charset="-120"/>
              </a:rPr>
              <a:t>20</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04800"/>
            <a:ext cx="8394192" cy="312837"/>
          </a:xfrm>
          <a:prstGeom prst="rect">
            <a:avLst/>
          </a:prstGeom>
          <a:noFill/>
          <a:ln/>
        </p:spPr>
        <p:txBody>
          <a:bodyPr wrap="square" lIns="0" tIns="0" rIns="0" bIns="0" rtlCol="0" anchor="t"/>
          <a:lstStyle/>
          <a:p>
            <a:pPr marL="0" indent="0" algn="l">
              <a:lnSpc>
                <a:spcPts val="2464"/>
              </a:lnSpc>
              <a:spcBef>
                <a:spcPts val="2400"/>
              </a:spcBef>
              <a:buNone/>
            </a:pPr>
            <a:r>
              <a:rPr lang="en-US" sz="2200" b="1" dirty="0">
                <a:solidFill>
                  <a:srgbClr val="111111"/>
                </a:solidFill>
                <a:latin typeface="Helvetica" pitchFamily="34" charset="0"/>
                <a:ea typeface="Helvetica" pitchFamily="34" charset="-122"/>
                <a:cs typeface="Helvetica" pitchFamily="34" charset="-120"/>
              </a:rPr>
              <a:t>Colaboración 2: agregar un plato al carrito</a:t>
            </a:r>
            <a:endParaRPr lang="en-US" sz="2200" dirty="0"/>
          </a:p>
        </p:txBody>
      </p:sp>
      <p:sp>
        <p:nvSpPr>
          <p:cNvPr id="3" name="Text 1"/>
          <p:cNvSpPr/>
          <p:nvPr/>
        </p:nvSpPr>
        <p:spPr>
          <a:xfrm>
            <a:off x="431750" y="693837"/>
            <a:ext cx="8445957" cy="156865"/>
          </a:xfrm>
          <a:prstGeom prst="rect">
            <a:avLst/>
          </a:prstGeom>
          <a:noFill/>
          <a:ln/>
        </p:spPr>
        <p:txBody>
          <a:bodyPr wrap="square" lIns="0" tIns="0" rIns="0" bIns="0" rtlCol="0" anchor="t"/>
          <a:lstStyle/>
          <a:p>
            <a:pPr marL="0" indent="0" algn="l">
              <a:lnSpc>
                <a:spcPts val="1235"/>
              </a:lnSpc>
              <a:spcAft>
                <a:spcPts val="400"/>
              </a:spcAft>
              <a:buNone/>
            </a:pPr>
            <a:r>
              <a:rPr lang="en-US" sz="950" dirty="0">
                <a:solidFill>
                  <a:srgbClr val="5E5E5E"/>
                </a:solidFill>
                <a:latin typeface="Helvetica" pitchFamily="34" charset="0"/>
                <a:ea typeface="Helvetica" pitchFamily="34" charset="-122"/>
                <a:cs typeface="Helvetica" pitchFamily="34" charset="-120"/>
              </a:rPr>
              <a:t>El Núcleo consigue el carrito y el plato, pero es el Carrito el que decide cómo se guarda y recalcula su propio total.</a:t>
            </a:r>
            <a:endParaRPr lang="en-US" sz="950" dirty="0"/>
          </a:p>
        </p:txBody>
      </p:sp>
      <p:pic>
        <p:nvPicPr>
          <p:cNvPr id="4" name="Image 0" descr="/home/claude/work/build/img/col2.png"/>
          <p:cNvPicPr>
            <a:picLocks noChangeAspect="1"/>
          </p:cNvPicPr>
          <p:nvPr/>
        </p:nvPicPr>
        <p:blipFill>
          <a:blip r:embed="rId3"/>
          <a:stretch>
            <a:fillRect/>
          </a:stretch>
        </p:blipFill>
        <p:spPr>
          <a:xfrm>
            <a:off x="888950" y="901452"/>
            <a:ext cx="7365950" cy="3708350"/>
          </a:xfrm>
          <a:prstGeom prst="rect">
            <a:avLst/>
          </a:prstGeom>
        </p:spPr>
      </p:pic>
      <p:sp>
        <p:nvSpPr>
          <p:cNvPr id="5" name="Text 2"/>
          <p:cNvSpPr/>
          <p:nvPr/>
        </p:nvSpPr>
        <p:spPr>
          <a:xfrm>
            <a:off x="8737402" y="4842570"/>
            <a:ext cx="129793" cy="148530"/>
          </a:xfrm>
          <a:prstGeom prst="rect">
            <a:avLst/>
          </a:prstGeom>
          <a:noFill/>
          <a:ln/>
        </p:spPr>
        <p:txBody>
          <a:bodyPr wrap="square" lIns="0" tIns="0" rIns="0" bIns="0" rtlCol="0" anchor="t"/>
          <a:lstStyle/>
          <a:p>
            <a:pPr marL="0" indent="0" algn="l">
              <a:lnSpc>
                <a:spcPts val="1170"/>
              </a:lnSpc>
              <a:buNone/>
            </a:pPr>
            <a:r>
              <a:rPr lang="en-US" sz="900" dirty="0">
                <a:solidFill>
                  <a:srgbClr val="9A9A9A"/>
                </a:solidFill>
                <a:latin typeface="Helvetica" pitchFamily="34" charset="0"/>
                <a:ea typeface="Helvetica" pitchFamily="34" charset="-122"/>
                <a:cs typeface="Helvetica" pitchFamily="34" charset="-120"/>
              </a:rPr>
              <a:t>21</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04800"/>
            <a:ext cx="8394192" cy="312837"/>
          </a:xfrm>
          <a:prstGeom prst="rect">
            <a:avLst/>
          </a:prstGeom>
          <a:noFill/>
          <a:ln/>
        </p:spPr>
        <p:txBody>
          <a:bodyPr wrap="square" lIns="0" tIns="0" rIns="0" bIns="0" rtlCol="0" anchor="t"/>
          <a:lstStyle/>
          <a:p>
            <a:pPr marL="0" indent="0" algn="l">
              <a:lnSpc>
                <a:spcPts val="2464"/>
              </a:lnSpc>
              <a:spcBef>
                <a:spcPts val="2400"/>
              </a:spcBef>
              <a:buNone/>
            </a:pPr>
            <a:r>
              <a:rPr lang="en-US" sz="2200" b="1" dirty="0">
                <a:solidFill>
                  <a:srgbClr val="111111"/>
                </a:solidFill>
                <a:latin typeface="Helvetica" pitchFamily="34" charset="0"/>
                <a:ea typeface="Helvetica" pitchFamily="34" charset="-122"/>
                <a:cs typeface="Helvetica" pitchFamily="34" charset="-120"/>
              </a:rPr>
              <a:t>Colaboración 3: confirmar el pedido</a:t>
            </a:r>
            <a:endParaRPr lang="en-US" sz="2200" dirty="0"/>
          </a:p>
        </p:txBody>
      </p:sp>
      <p:sp>
        <p:nvSpPr>
          <p:cNvPr id="3" name="Text 1"/>
          <p:cNvSpPr/>
          <p:nvPr/>
        </p:nvSpPr>
        <p:spPr>
          <a:xfrm>
            <a:off x="431750" y="693837"/>
            <a:ext cx="8445957" cy="156865"/>
          </a:xfrm>
          <a:prstGeom prst="rect">
            <a:avLst/>
          </a:prstGeom>
          <a:noFill/>
          <a:ln/>
        </p:spPr>
        <p:txBody>
          <a:bodyPr wrap="square" lIns="0" tIns="0" rIns="0" bIns="0" rtlCol="0" anchor="t"/>
          <a:lstStyle/>
          <a:p>
            <a:pPr marL="0" indent="0" algn="l">
              <a:lnSpc>
                <a:spcPts val="1235"/>
              </a:lnSpc>
              <a:spcAft>
                <a:spcPts val="400"/>
              </a:spcAft>
              <a:buNone/>
            </a:pPr>
            <a:r>
              <a:rPr lang="en-US" sz="950" dirty="0">
                <a:solidFill>
                  <a:srgbClr val="5E5E5E"/>
                </a:solidFill>
                <a:latin typeface="Helvetica" pitchFamily="34" charset="0"/>
                <a:ea typeface="Helvetica" pitchFamily="34" charset="-122"/>
                <a:cs typeface="Helvetica" pitchFamily="34" charset="-120"/>
              </a:rPr>
              <a:t>El escenario crítico: el Pedido toma el control y coordina la validación, el cobro y la asignación.</a:t>
            </a:r>
            <a:endParaRPr lang="en-US" sz="950" dirty="0"/>
          </a:p>
        </p:txBody>
      </p:sp>
      <p:pic>
        <p:nvPicPr>
          <p:cNvPr id="4" name="Image 0" descr="/home/claude/work/build/img/col3.png"/>
          <p:cNvPicPr>
            <a:picLocks noChangeAspect="1"/>
          </p:cNvPicPr>
          <p:nvPr/>
        </p:nvPicPr>
        <p:blipFill>
          <a:blip r:embed="rId3"/>
          <a:stretch>
            <a:fillRect/>
          </a:stretch>
        </p:blipFill>
        <p:spPr>
          <a:xfrm>
            <a:off x="1015901" y="901452"/>
            <a:ext cx="7111901" cy="3835301"/>
          </a:xfrm>
          <a:prstGeom prst="rect">
            <a:avLst/>
          </a:prstGeom>
        </p:spPr>
      </p:pic>
      <p:sp>
        <p:nvSpPr>
          <p:cNvPr id="5" name="Text 2"/>
          <p:cNvSpPr/>
          <p:nvPr/>
        </p:nvSpPr>
        <p:spPr>
          <a:xfrm>
            <a:off x="8737402" y="4842570"/>
            <a:ext cx="129793" cy="148530"/>
          </a:xfrm>
          <a:prstGeom prst="rect">
            <a:avLst/>
          </a:prstGeom>
          <a:noFill/>
          <a:ln/>
        </p:spPr>
        <p:txBody>
          <a:bodyPr wrap="square" lIns="0" tIns="0" rIns="0" bIns="0" rtlCol="0" anchor="t"/>
          <a:lstStyle/>
          <a:p>
            <a:pPr marL="0" indent="0" algn="l">
              <a:lnSpc>
                <a:spcPts val="1170"/>
              </a:lnSpc>
              <a:buNone/>
            </a:pPr>
            <a:r>
              <a:rPr lang="en-US" sz="900" dirty="0">
                <a:solidFill>
                  <a:srgbClr val="9A9A9A"/>
                </a:solidFill>
                <a:latin typeface="Helvetica" pitchFamily="34" charset="0"/>
                <a:ea typeface="Helvetica" pitchFamily="34" charset="-122"/>
                <a:cs typeface="Helvetica" pitchFamily="34" charset="-120"/>
              </a:rPr>
              <a:t>22</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04800"/>
            <a:ext cx="8394192" cy="312837"/>
          </a:xfrm>
          <a:prstGeom prst="rect">
            <a:avLst/>
          </a:prstGeom>
          <a:noFill/>
          <a:ln/>
        </p:spPr>
        <p:txBody>
          <a:bodyPr wrap="square" lIns="0" tIns="0" rIns="0" bIns="0" rtlCol="0" anchor="t"/>
          <a:lstStyle/>
          <a:p>
            <a:pPr marL="0" indent="0" algn="l">
              <a:lnSpc>
                <a:spcPts val="2464"/>
              </a:lnSpc>
              <a:spcBef>
                <a:spcPts val="2400"/>
              </a:spcBef>
              <a:buNone/>
            </a:pPr>
            <a:r>
              <a:rPr lang="en-US" sz="2200" b="1" dirty="0">
                <a:solidFill>
                  <a:srgbClr val="111111"/>
                </a:solidFill>
                <a:latin typeface="Helvetica" pitchFamily="34" charset="0"/>
                <a:ea typeface="Helvetica" pitchFamily="34" charset="-122"/>
                <a:cs typeface="Helvetica" pitchFamily="34" charset="-120"/>
              </a:rPr>
              <a:t>Colaboración 4: asignar el repartidor y avisarle al usuario</a:t>
            </a:r>
            <a:endParaRPr lang="en-US" sz="2200" dirty="0"/>
          </a:p>
        </p:txBody>
      </p:sp>
      <p:sp>
        <p:nvSpPr>
          <p:cNvPr id="3" name="Text 1"/>
          <p:cNvSpPr/>
          <p:nvPr/>
        </p:nvSpPr>
        <p:spPr>
          <a:xfrm>
            <a:off x="431750" y="693837"/>
            <a:ext cx="8445957" cy="313730"/>
          </a:xfrm>
          <a:prstGeom prst="rect">
            <a:avLst/>
          </a:prstGeom>
          <a:noFill/>
          <a:ln/>
        </p:spPr>
        <p:txBody>
          <a:bodyPr wrap="square" lIns="0" tIns="0" rIns="0" bIns="0" rtlCol="0" anchor="t"/>
          <a:lstStyle/>
          <a:p>
            <a:pPr marL="0" indent="0" algn="l">
              <a:lnSpc>
                <a:spcPts val="1235"/>
              </a:lnSpc>
              <a:spcAft>
                <a:spcPts val="500"/>
              </a:spcAft>
              <a:buNone/>
            </a:pPr>
            <a:r>
              <a:rPr lang="en-US" sz="950" dirty="0">
                <a:solidFill>
                  <a:srgbClr val="5E5E5E"/>
                </a:solidFill>
                <a:latin typeface="Helvetica" pitchFamily="34" charset="0"/>
                <a:ea typeface="Helvetica" pitchFamily="34" charset="-122"/>
                <a:cs typeface="Helvetica" pitchFamily="34" charset="-120"/>
              </a:rPr>
              <a:t>El Despachador consulta el servicio de mapas </a:t>
            </a:r>
            <a:r>
              <a:rPr lang="en-US" sz="950" b="1" dirty="0">
                <a:solidFill>
                  <a:srgbClr val="5E5E5E"/>
                </a:solidFill>
                <a:latin typeface="Helvetica" pitchFamily="34" charset="0"/>
                <a:ea typeface="Helvetica" pitchFamily="34" charset="-122"/>
                <a:cs typeface="Helvetica" pitchFamily="34" charset="-120"/>
              </a:rPr>
              <a:t>una sola vez</a:t>
            </a:r>
            <a:r>
              <a:rPr lang="en-US" sz="950" dirty="0">
                <a:solidFill>
                  <a:srgbClr val="5E5E5E"/>
                </a:solidFill>
                <a:latin typeface="Helvetica" pitchFamily="34" charset="0"/>
                <a:ea typeface="Helvetica" pitchFamily="34" charset="-122"/>
                <a:cs typeface="Helvetica" pitchFamily="34" charset="-120"/>
              </a:rPr>
              <a:t> con todos los candidatos, en lugar de preguntar uno por uno: la restricción de costo del análisis se convirtió en una decisión de diseño.</a:t>
            </a:r>
            <a:endParaRPr lang="en-US" sz="950" dirty="0"/>
          </a:p>
        </p:txBody>
      </p:sp>
      <p:pic>
        <p:nvPicPr>
          <p:cNvPr id="4" name="Image 0" descr="/home/claude/work/build/img/col4.png"/>
          <p:cNvPicPr>
            <a:picLocks noChangeAspect="1"/>
          </p:cNvPicPr>
          <p:nvPr/>
        </p:nvPicPr>
        <p:blipFill>
          <a:blip r:embed="rId3"/>
          <a:stretch>
            <a:fillRect/>
          </a:stretch>
        </p:blipFill>
        <p:spPr>
          <a:xfrm>
            <a:off x="761851" y="1070967"/>
            <a:ext cx="7620000" cy="3467100"/>
          </a:xfrm>
          <a:prstGeom prst="rect">
            <a:avLst/>
          </a:prstGeom>
        </p:spPr>
      </p:pic>
      <p:sp>
        <p:nvSpPr>
          <p:cNvPr id="5" name="Text 2"/>
          <p:cNvSpPr/>
          <p:nvPr/>
        </p:nvSpPr>
        <p:spPr>
          <a:xfrm>
            <a:off x="8737402" y="4842570"/>
            <a:ext cx="129793" cy="148530"/>
          </a:xfrm>
          <a:prstGeom prst="rect">
            <a:avLst/>
          </a:prstGeom>
          <a:noFill/>
          <a:ln/>
        </p:spPr>
        <p:txBody>
          <a:bodyPr wrap="square" lIns="0" tIns="0" rIns="0" bIns="0" rtlCol="0" anchor="t"/>
          <a:lstStyle/>
          <a:p>
            <a:pPr marL="0" indent="0" algn="l">
              <a:lnSpc>
                <a:spcPts val="1170"/>
              </a:lnSpc>
              <a:buNone/>
            </a:pPr>
            <a:r>
              <a:rPr lang="en-US" sz="900" dirty="0">
                <a:solidFill>
                  <a:srgbClr val="9A9A9A"/>
                </a:solidFill>
                <a:latin typeface="Helvetica" pitchFamily="34" charset="0"/>
                <a:ea typeface="Helvetica" pitchFamily="34" charset="-122"/>
                <a:cs typeface="Helvetica" pitchFamily="34" charset="-120"/>
              </a:rPr>
              <a:t>23</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04800"/>
            <a:ext cx="8394192" cy="312837"/>
          </a:xfrm>
          <a:prstGeom prst="rect">
            <a:avLst/>
          </a:prstGeom>
          <a:noFill/>
          <a:ln/>
        </p:spPr>
        <p:txBody>
          <a:bodyPr wrap="square" lIns="0" tIns="0" rIns="0" bIns="0" rtlCol="0" anchor="t"/>
          <a:lstStyle/>
          <a:p>
            <a:pPr marL="0" indent="0" algn="l">
              <a:lnSpc>
                <a:spcPts val="2464"/>
              </a:lnSpc>
              <a:spcBef>
                <a:spcPts val="2400"/>
              </a:spcBef>
              <a:buNone/>
            </a:pPr>
            <a:r>
              <a:rPr lang="en-US" sz="2200" b="1" dirty="0">
                <a:solidFill>
                  <a:srgbClr val="111111"/>
                </a:solidFill>
                <a:latin typeface="Helvetica" pitchFamily="34" charset="0"/>
                <a:ea typeface="Helvetica" pitchFamily="34" charset="-122"/>
                <a:cs typeface="Helvetica" pitchFamily="34" charset="-120"/>
              </a:rPr>
              <a:t>Una validación sencilla</a:t>
            </a:r>
            <a:endParaRPr lang="en-US" sz="2200" dirty="0"/>
          </a:p>
        </p:txBody>
      </p:sp>
      <p:sp>
        <p:nvSpPr>
          <p:cNvPr id="3" name="Text 1"/>
          <p:cNvSpPr/>
          <p:nvPr/>
        </p:nvSpPr>
        <p:spPr>
          <a:xfrm>
            <a:off x="431750" y="693837"/>
            <a:ext cx="8445957" cy="164902"/>
          </a:xfrm>
          <a:prstGeom prst="rect">
            <a:avLst/>
          </a:prstGeom>
          <a:noFill/>
          <a:ln/>
        </p:spPr>
        <p:txBody>
          <a:bodyPr wrap="square" lIns="0" tIns="0" rIns="0" bIns="0" rtlCol="0" anchor="t"/>
          <a:lstStyle/>
          <a:p>
            <a:pPr marL="0" indent="0" algn="l">
              <a:lnSpc>
                <a:spcPts val="1300"/>
              </a:lnSpc>
              <a:spcAft>
                <a:spcPts val="700"/>
              </a:spcAft>
              <a:buNone/>
            </a:pPr>
            <a:r>
              <a:rPr lang="en-US" sz="1000" dirty="0">
                <a:solidFill>
                  <a:srgbClr val="4A4A4A"/>
                </a:solidFill>
                <a:latin typeface="Helvetica" pitchFamily="34" charset="0"/>
                <a:ea typeface="Helvetica" pitchFamily="34" charset="-122"/>
                <a:cs typeface="Helvetica" pitchFamily="34" charset="-120"/>
              </a:rPr>
              <a:t>Como validación adicional revisamos si los tres problemas típicos aparecen en nuestras colaboraciones:</a:t>
            </a:r>
            <a:endParaRPr lang="en-US" sz="1000" dirty="0"/>
          </a:p>
        </p:txBody>
      </p:sp>
      <p:sp>
        <p:nvSpPr>
          <p:cNvPr id="4" name="Text 2"/>
          <p:cNvSpPr/>
          <p:nvPr/>
        </p:nvSpPr>
        <p:spPr>
          <a:xfrm>
            <a:off x="431750" y="947589"/>
            <a:ext cx="8280350" cy="821978"/>
          </a:xfrm>
          <a:prstGeom prst="roundRect">
            <a:avLst>
              <a:gd name="adj" fmla="val 7725"/>
            </a:avLst>
          </a:prstGeom>
          <a:solidFill>
            <a:srgbClr val="F4F8FB"/>
          </a:solidFill>
          <a:ln w="9525">
            <a:solidFill>
              <a:srgbClr val="CFE0EC"/>
            </a:solidFill>
          </a:ln>
        </p:spPr>
        <p:txBody>
          <a:bodyPr wrap="square" rtlCol="0" anchor="ctr"/>
          <a:lstStyle/>
          <a:p>
            <a:pPr marL="0" indent="0">
              <a:buNone/>
            </a:pPr>
            <a:endParaRPr lang="en-US" dirty="0"/>
          </a:p>
        </p:txBody>
      </p:sp>
      <p:sp>
        <p:nvSpPr>
          <p:cNvPr id="5" name="Text 3"/>
          <p:cNvSpPr/>
          <p:nvPr/>
        </p:nvSpPr>
        <p:spPr>
          <a:xfrm>
            <a:off x="555575" y="1071414"/>
            <a:ext cx="8193354" cy="161776"/>
          </a:xfrm>
          <a:prstGeom prst="rect">
            <a:avLst/>
          </a:prstGeom>
          <a:noFill/>
          <a:ln/>
        </p:spPr>
        <p:txBody>
          <a:bodyPr wrap="square" lIns="0" tIns="0" rIns="0" bIns="0" rtlCol="0" anchor="t"/>
          <a:lstStyle/>
          <a:p>
            <a:pPr marL="0" indent="0" algn="l">
              <a:lnSpc>
                <a:spcPts val="1275"/>
              </a:lnSpc>
              <a:spcAft>
                <a:spcPts val="500"/>
              </a:spcAft>
              <a:buNone/>
            </a:pPr>
            <a:r>
              <a:rPr lang="en-US" sz="1020" b="1" dirty="0">
                <a:solidFill>
                  <a:srgbClr val="0B84D9"/>
                </a:solidFill>
                <a:latin typeface="Helvetica" pitchFamily="34" charset="0"/>
                <a:ea typeface="Helvetica" pitchFamily="34" charset="-122"/>
                <a:cs typeface="Helvetica" pitchFamily="34" charset="-120"/>
              </a:rPr>
              <a:t>Muchas conexiones desde fuera del vecindario</a:t>
            </a:r>
            <a:endParaRPr lang="en-US" sz="1020" dirty="0"/>
          </a:p>
        </p:txBody>
      </p:sp>
      <p:sp>
        <p:nvSpPr>
          <p:cNvPr id="6" name="Text 4"/>
          <p:cNvSpPr/>
          <p:nvPr/>
        </p:nvSpPr>
        <p:spPr>
          <a:xfrm>
            <a:off x="555575" y="1296591"/>
            <a:ext cx="8193354" cy="311051"/>
          </a:xfrm>
          <a:prstGeom prst="rect">
            <a:avLst/>
          </a:prstGeom>
          <a:noFill/>
          <a:ln/>
        </p:spPr>
        <p:txBody>
          <a:bodyPr wrap="square" lIns="0" tIns="0" rIns="0" bIns="0" rtlCol="0" anchor="t"/>
          <a:lstStyle/>
          <a:p>
            <a:pPr marL="0" indent="0" algn="l">
              <a:lnSpc>
                <a:spcPts val="1225"/>
              </a:lnSpc>
              <a:spcAft>
                <a:spcPts val="300"/>
              </a:spcAft>
              <a:buNone/>
            </a:pPr>
            <a:r>
              <a:rPr lang="en-US" sz="980" dirty="0">
                <a:solidFill>
                  <a:srgbClr val="111111"/>
                </a:solidFill>
                <a:latin typeface="Helvetica" pitchFamily="34" charset="0"/>
                <a:ea typeface="Helvetica" pitchFamily="34" charset="-122"/>
                <a:cs typeface="Helvetica" pitchFamily="34" charset="-120"/>
              </a:rPr>
              <a:t>No ocurre. En cada escenario participan pocos elementos y siempre hay uno solo con el control: el Núcleo en los dos primeros, el Pedido en el tercero y el Despachador en el cuarto.</a:t>
            </a:r>
            <a:endParaRPr lang="en-US" sz="980" dirty="0"/>
          </a:p>
        </p:txBody>
      </p:sp>
      <p:sp>
        <p:nvSpPr>
          <p:cNvPr id="7" name="Text 5"/>
          <p:cNvSpPr/>
          <p:nvPr/>
        </p:nvSpPr>
        <p:spPr>
          <a:xfrm>
            <a:off x="431750" y="1858417"/>
            <a:ext cx="8280350" cy="977503"/>
          </a:xfrm>
          <a:prstGeom prst="roundRect">
            <a:avLst>
              <a:gd name="adj" fmla="val 6496"/>
            </a:avLst>
          </a:prstGeom>
          <a:solidFill>
            <a:srgbClr val="F4F8FB"/>
          </a:solidFill>
          <a:ln w="9525">
            <a:solidFill>
              <a:srgbClr val="CFE0EC"/>
            </a:solidFill>
          </a:ln>
        </p:spPr>
        <p:txBody>
          <a:bodyPr wrap="square" rtlCol="0" anchor="ctr"/>
          <a:lstStyle/>
          <a:p>
            <a:pPr marL="0" indent="0">
              <a:buNone/>
            </a:pPr>
            <a:endParaRPr lang="en-US" dirty="0"/>
          </a:p>
        </p:txBody>
      </p:sp>
      <p:sp>
        <p:nvSpPr>
          <p:cNvPr id="8" name="Text 6"/>
          <p:cNvSpPr/>
          <p:nvPr/>
        </p:nvSpPr>
        <p:spPr>
          <a:xfrm>
            <a:off x="555575" y="1982242"/>
            <a:ext cx="8193354" cy="161776"/>
          </a:xfrm>
          <a:prstGeom prst="rect">
            <a:avLst/>
          </a:prstGeom>
          <a:noFill/>
          <a:ln/>
        </p:spPr>
        <p:txBody>
          <a:bodyPr wrap="square" lIns="0" tIns="0" rIns="0" bIns="0" rtlCol="0" anchor="t"/>
          <a:lstStyle/>
          <a:p>
            <a:pPr marL="0" indent="0" algn="l">
              <a:lnSpc>
                <a:spcPts val="1275"/>
              </a:lnSpc>
              <a:spcAft>
                <a:spcPts val="500"/>
              </a:spcAft>
              <a:buNone/>
            </a:pPr>
            <a:r>
              <a:rPr lang="en-US" sz="1020" b="1" dirty="0">
                <a:solidFill>
                  <a:srgbClr val="0B84D9"/>
                </a:solidFill>
                <a:latin typeface="Helvetica" pitchFamily="34" charset="0"/>
                <a:ea typeface="Helvetica" pitchFamily="34" charset="-122"/>
                <a:cs typeface="Helvetica" pitchFamily="34" charset="-120"/>
              </a:rPr>
              <a:t>Muchos mensajes de bajo nivel</a:t>
            </a:r>
            <a:endParaRPr lang="en-US" sz="1020" dirty="0"/>
          </a:p>
        </p:txBody>
      </p:sp>
      <p:sp>
        <p:nvSpPr>
          <p:cNvPr id="9" name="Text 7"/>
          <p:cNvSpPr/>
          <p:nvPr/>
        </p:nvSpPr>
        <p:spPr>
          <a:xfrm>
            <a:off x="555575" y="2207419"/>
            <a:ext cx="8193354" cy="466576"/>
          </a:xfrm>
          <a:prstGeom prst="rect">
            <a:avLst/>
          </a:prstGeom>
          <a:noFill/>
          <a:ln/>
        </p:spPr>
        <p:txBody>
          <a:bodyPr wrap="square" lIns="0" tIns="0" rIns="0" bIns="0" rtlCol="0" anchor="t"/>
          <a:lstStyle/>
          <a:p>
            <a:pPr marL="0" indent="0" algn="l">
              <a:lnSpc>
                <a:spcPts val="1225"/>
              </a:lnSpc>
              <a:spcAft>
                <a:spcPts val="300"/>
              </a:spcAft>
              <a:buNone/>
            </a:pPr>
            <a:r>
              <a:rPr lang="en-US" sz="980" dirty="0">
                <a:solidFill>
                  <a:srgbClr val="111111"/>
                </a:solidFill>
                <a:latin typeface="Helvetica" pitchFamily="34" charset="0"/>
                <a:ea typeface="Helvetica" pitchFamily="34" charset="-122"/>
                <a:cs typeface="Helvetica" pitchFamily="34" charset="-120"/>
              </a:rPr>
              <a:t>Tampoco. El caso que estuvo cerca de convertirse en problema fue la consulta de tiempos al servicio de mapas: si le preguntáramos por cada repartidor tendríamos diez mensajes pequeños entre la misma pareja de elementos. Se resolvió con un solo mensaje grueso que pide todos los tiempos de una vez.</a:t>
            </a:r>
            <a:endParaRPr lang="en-US" sz="980" dirty="0"/>
          </a:p>
        </p:txBody>
      </p:sp>
      <p:sp>
        <p:nvSpPr>
          <p:cNvPr id="10" name="Text 8"/>
          <p:cNvSpPr/>
          <p:nvPr/>
        </p:nvSpPr>
        <p:spPr>
          <a:xfrm>
            <a:off x="431750" y="2924770"/>
            <a:ext cx="8280350" cy="977503"/>
          </a:xfrm>
          <a:prstGeom prst="roundRect">
            <a:avLst>
              <a:gd name="adj" fmla="val 6496"/>
            </a:avLst>
          </a:prstGeom>
          <a:solidFill>
            <a:srgbClr val="F4F8FB"/>
          </a:solidFill>
          <a:ln w="9525">
            <a:solidFill>
              <a:srgbClr val="CFE0EC"/>
            </a:solidFill>
          </a:ln>
        </p:spPr>
        <p:txBody>
          <a:bodyPr wrap="square" rtlCol="0" anchor="ctr"/>
          <a:lstStyle/>
          <a:p>
            <a:pPr marL="0" indent="0">
              <a:buNone/>
            </a:pPr>
            <a:endParaRPr lang="en-US" dirty="0"/>
          </a:p>
        </p:txBody>
      </p:sp>
      <p:sp>
        <p:nvSpPr>
          <p:cNvPr id="11" name="Text 9"/>
          <p:cNvSpPr/>
          <p:nvPr/>
        </p:nvSpPr>
        <p:spPr>
          <a:xfrm>
            <a:off x="555575" y="3048595"/>
            <a:ext cx="8193354" cy="161776"/>
          </a:xfrm>
          <a:prstGeom prst="rect">
            <a:avLst/>
          </a:prstGeom>
          <a:noFill/>
          <a:ln/>
        </p:spPr>
        <p:txBody>
          <a:bodyPr wrap="square" lIns="0" tIns="0" rIns="0" bIns="0" rtlCol="0" anchor="t"/>
          <a:lstStyle/>
          <a:p>
            <a:pPr marL="0" indent="0" algn="l">
              <a:lnSpc>
                <a:spcPts val="1275"/>
              </a:lnSpc>
              <a:spcAft>
                <a:spcPts val="500"/>
              </a:spcAft>
              <a:buNone/>
            </a:pPr>
            <a:r>
              <a:rPr lang="en-US" sz="1020" b="1" dirty="0">
                <a:solidFill>
                  <a:srgbClr val="0B84D9"/>
                </a:solidFill>
                <a:latin typeface="Helvetica" pitchFamily="34" charset="0"/>
                <a:ea typeface="Helvetica" pitchFamily="34" charset="-122"/>
                <a:cs typeface="Helvetica" pitchFamily="34" charset="-120"/>
              </a:rPr>
              <a:t>Muchas alternativas y caminos condicionales</a:t>
            </a:r>
            <a:endParaRPr lang="en-US" sz="1020" dirty="0"/>
          </a:p>
        </p:txBody>
      </p:sp>
      <p:sp>
        <p:nvSpPr>
          <p:cNvPr id="12" name="Text 10"/>
          <p:cNvSpPr/>
          <p:nvPr/>
        </p:nvSpPr>
        <p:spPr>
          <a:xfrm>
            <a:off x="555575" y="3273772"/>
            <a:ext cx="8193354" cy="466576"/>
          </a:xfrm>
          <a:prstGeom prst="rect">
            <a:avLst/>
          </a:prstGeom>
          <a:noFill/>
          <a:ln/>
        </p:spPr>
        <p:txBody>
          <a:bodyPr wrap="square" lIns="0" tIns="0" rIns="0" bIns="0" rtlCol="0" anchor="t"/>
          <a:lstStyle/>
          <a:p>
            <a:pPr marL="0" indent="0" algn="l">
              <a:lnSpc>
                <a:spcPts val="1225"/>
              </a:lnSpc>
              <a:spcAft>
                <a:spcPts val="300"/>
              </a:spcAft>
              <a:buNone/>
            </a:pPr>
            <a:r>
              <a:rPr lang="en-US" sz="980" dirty="0">
                <a:solidFill>
                  <a:srgbClr val="111111"/>
                </a:solidFill>
                <a:latin typeface="Helvetica" pitchFamily="34" charset="0"/>
                <a:ea typeface="Helvetica" pitchFamily="34" charset="-122"/>
                <a:cs typeface="Helvetica" pitchFamily="34" charset="-120"/>
              </a:rPr>
              <a:t>Aquí sí hay algo para mirar. La confirmación del pedido tiene al menos tres caminos alternativos (pago rechazado, restaurante que no responde, ningún repartidor disponible) que no dibujamos en el diagrama. Es una señal de que el Pedido va a ser el elemento más complejo del diseño y de que vale la pena volver sobre él.</a:t>
            </a:r>
            <a:endParaRPr lang="en-US" sz="980" dirty="0"/>
          </a:p>
        </p:txBody>
      </p:sp>
      <p:sp>
        <p:nvSpPr>
          <p:cNvPr id="13" name="Text 11"/>
          <p:cNvSpPr/>
          <p:nvPr/>
        </p:nvSpPr>
        <p:spPr>
          <a:xfrm>
            <a:off x="8737402" y="4842570"/>
            <a:ext cx="129793" cy="148530"/>
          </a:xfrm>
          <a:prstGeom prst="rect">
            <a:avLst/>
          </a:prstGeom>
          <a:noFill/>
          <a:ln/>
        </p:spPr>
        <p:txBody>
          <a:bodyPr wrap="square" lIns="0" tIns="0" rIns="0" bIns="0" rtlCol="0" anchor="t"/>
          <a:lstStyle/>
          <a:p>
            <a:pPr marL="0" indent="0" algn="l">
              <a:lnSpc>
                <a:spcPts val="1170"/>
              </a:lnSpc>
              <a:buNone/>
            </a:pPr>
            <a:r>
              <a:rPr lang="en-US" sz="900" dirty="0">
                <a:solidFill>
                  <a:srgbClr val="9A9A9A"/>
                </a:solidFill>
                <a:latin typeface="Helvetica" pitchFamily="34" charset="0"/>
                <a:ea typeface="Helvetica" pitchFamily="34" charset="-122"/>
                <a:cs typeface="Helvetica" pitchFamily="34" charset="-120"/>
              </a:rPr>
              <a:t>24</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04800"/>
            <a:ext cx="8394192" cy="312837"/>
          </a:xfrm>
          <a:prstGeom prst="rect">
            <a:avLst/>
          </a:prstGeom>
          <a:noFill/>
          <a:ln/>
        </p:spPr>
        <p:txBody>
          <a:bodyPr wrap="square" lIns="0" tIns="0" rIns="0" bIns="0" rtlCol="0" anchor="t"/>
          <a:lstStyle/>
          <a:p>
            <a:pPr marL="0" indent="0" algn="l">
              <a:lnSpc>
                <a:spcPts val="2464"/>
              </a:lnSpc>
              <a:spcBef>
                <a:spcPts val="2400"/>
              </a:spcBef>
              <a:buNone/>
            </a:pPr>
            <a:r>
              <a:rPr lang="en-US" sz="2200" b="1" dirty="0">
                <a:solidFill>
                  <a:srgbClr val="111111"/>
                </a:solidFill>
                <a:latin typeface="Helvetica" pitchFamily="34" charset="0"/>
                <a:ea typeface="Helvetica" pitchFamily="34" charset="-122"/>
                <a:cs typeface="Helvetica" pitchFamily="34" charset="-120"/>
              </a:rPr>
              <a:t>El estilo de control de nuestra solución</a:t>
            </a:r>
            <a:endParaRPr lang="en-US" sz="2200" dirty="0"/>
          </a:p>
        </p:txBody>
      </p:sp>
      <p:sp>
        <p:nvSpPr>
          <p:cNvPr id="3" name="Text 1"/>
          <p:cNvSpPr/>
          <p:nvPr/>
        </p:nvSpPr>
        <p:spPr>
          <a:xfrm>
            <a:off x="431750" y="693837"/>
            <a:ext cx="8445957" cy="186482"/>
          </a:xfrm>
          <a:prstGeom prst="rect">
            <a:avLst/>
          </a:prstGeom>
          <a:noFill/>
          <a:ln/>
        </p:spPr>
        <p:txBody>
          <a:bodyPr wrap="square" lIns="0" tIns="0" rIns="0" bIns="0" rtlCol="0" anchor="t"/>
          <a:lstStyle/>
          <a:p>
            <a:pPr marL="0" indent="0" algn="l">
              <a:lnSpc>
                <a:spcPts val="1469"/>
              </a:lnSpc>
              <a:spcAft>
                <a:spcPts val="700"/>
              </a:spcAft>
              <a:buNone/>
            </a:pPr>
            <a:r>
              <a:rPr lang="en-US" sz="1130" dirty="0">
                <a:solidFill>
                  <a:srgbClr val="111111"/>
                </a:solidFill>
                <a:latin typeface="Helvetica" pitchFamily="34" charset="0"/>
                <a:ea typeface="Helvetica" pitchFamily="34" charset="-122"/>
                <a:cs typeface="Helvetica" pitchFamily="34" charset="-120"/>
              </a:rPr>
              <a:t>Con las colaboraciones diseñadas ya podemos responder la pregunta clave: </a:t>
            </a:r>
            <a:r>
              <a:rPr lang="en-US" sz="1130" b="1" dirty="0">
                <a:solidFill>
                  <a:srgbClr val="111111"/>
                </a:solidFill>
                <a:latin typeface="Helvetica" pitchFamily="34" charset="0"/>
                <a:ea typeface="Helvetica" pitchFamily="34" charset="-122"/>
                <a:cs typeface="Helvetica" pitchFamily="34" charset="-120"/>
              </a:rPr>
              <a:t>¿quién tiene el control?</a:t>
            </a:r>
            <a:endParaRPr lang="en-US" sz="1130" dirty="0"/>
          </a:p>
        </p:txBody>
      </p:sp>
      <p:sp>
        <p:nvSpPr>
          <p:cNvPr id="4" name="Text 2"/>
          <p:cNvSpPr/>
          <p:nvPr/>
        </p:nvSpPr>
        <p:spPr>
          <a:xfrm>
            <a:off x="622250" y="969169"/>
            <a:ext cx="8089850" cy="1086148"/>
          </a:xfrm>
          <a:prstGeom prst="rect">
            <a:avLst/>
          </a:prstGeom>
          <a:noFill/>
          <a:ln/>
        </p:spPr>
        <p:txBody>
          <a:bodyPr wrap="square" lIns="0" tIns="0" rIns="0" bIns="0" rtlCol="0" anchor="t"/>
          <a:lstStyle/>
          <a:p>
            <a:pPr marL="342900" indent="-342900" algn="l">
              <a:lnSpc>
                <a:spcPts val="1326"/>
              </a:lnSpc>
              <a:spcAft>
                <a:spcPts val="300"/>
              </a:spcAft>
              <a:buSzPct val="100000"/>
              <a:buChar char="•"/>
            </a:pPr>
            <a:r>
              <a:rPr lang="en-US" sz="1020" dirty="0">
                <a:solidFill>
                  <a:srgbClr val="111111"/>
                </a:solidFill>
                <a:latin typeface="Helvetica" pitchFamily="34" charset="0"/>
                <a:ea typeface="Helvetica" pitchFamily="34" charset="-122"/>
                <a:cs typeface="Helvetica" pitchFamily="34" charset="-120"/>
              </a:rPr>
              <a:t>Hay </a:t>
            </a:r>
            <a:r>
              <a:rPr lang="en-US" sz="1020" b="1" dirty="0">
                <a:solidFill>
                  <a:srgbClr val="111111"/>
                </a:solidFill>
                <a:latin typeface="Helvetica" pitchFamily="34" charset="0"/>
                <a:ea typeface="Helvetica" pitchFamily="34" charset="-122"/>
                <a:cs typeface="Helvetica" pitchFamily="34" charset="-120"/>
              </a:rPr>
              <a:t>dos centros de control</a:t>
            </a:r>
            <a:r>
              <a:rPr lang="en-US" sz="1020" dirty="0">
                <a:solidFill>
                  <a:srgbClr val="111111"/>
                </a:solidFill>
                <a:latin typeface="Helvetica" pitchFamily="34" charset="0"/>
                <a:ea typeface="Helvetica" pitchFamily="34" charset="-122"/>
                <a:cs typeface="Helvetica" pitchFamily="34" charset="-120"/>
              </a:rPr>
              <a:t> claros: el </a:t>
            </a:r>
            <a:r>
              <a:rPr lang="en-US" sz="1020" b="1" dirty="0">
                <a:solidFill>
                  <a:srgbClr val="111111"/>
                </a:solidFill>
                <a:latin typeface="Helvetica" pitchFamily="34" charset="0"/>
                <a:ea typeface="Helvetica" pitchFamily="34" charset="-122"/>
                <a:cs typeface="Helvetica" pitchFamily="34" charset="-120"/>
              </a:rPr>
              <a:t>Pedido</a:t>
            </a:r>
            <a:r>
              <a:rPr lang="en-US" sz="1020" dirty="0">
                <a:solidFill>
                  <a:srgbClr val="111111"/>
                </a:solidFill>
                <a:latin typeface="Helvetica" pitchFamily="34" charset="0"/>
                <a:ea typeface="Helvetica" pitchFamily="34" charset="-122"/>
                <a:cs typeface="Helvetica" pitchFamily="34" charset="-120"/>
              </a:rPr>
              <a:t>, que concentra las decisiones sobre un pedido en particular, y el </a:t>
            </a:r>
            <a:r>
              <a:rPr lang="en-US" sz="1020" b="1" dirty="0">
                <a:solidFill>
                  <a:srgbClr val="111111"/>
                </a:solidFill>
                <a:latin typeface="Helvetica" pitchFamily="34" charset="0"/>
                <a:ea typeface="Helvetica" pitchFamily="34" charset="-122"/>
                <a:cs typeface="Helvetica" pitchFamily="34" charset="-120"/>
              </a:rPr>
              <a:t>Despachador</a:t>
            </a:r>
            <a:r>
              <a:rPr lang="en-US" sz="1020" dirty="0">
                <a:solidFill>
                  <a:srgbClr val="111111"/>
                </a:solidFill>
                <a:latin typeface="Helvetica" pitchFamily="34" charset="0"/>
                <a:ea typeface="Helvetica" pitchFamily="34" charset="-122"/>
                <a:cs typeface="Helvetica" pitchFamily="34" charset="-120"/>
              </a:rPr>
              <a:t>, que concentra las decisiones sobre repartidores.</a:t>
            </a:r>
            <a:endParaRPr lang="en-US" sz="1020" dirty="0"/>
          </a:p>
          <a:p>
            <a:pPr marL="342900" indent="-342900" algn="l">
              <a:lnSpc>
                <a:spcPts val="1326"/>
              </a:lnSpc>
              <a:spcAft>
                <a:spcPts val="300"/>
              </a:spcAft>
              <a:buSzPct val="100000"/>
              <a:buChar char="•"/>
            </a:pPr>
            <a:r>
              <a:rPr lang="en-US" sz="1020" dirty="0">
                <a:solidFill>
                  <a:srgbClr val="111111"/>
                </a:solidFill>
                <a:latin typeface="Helvetica" pitchFamily="34" charset="0"/>
                <a:ea typeface="Helvetica" pitchFamily="34" charset="-122"/>
                <a:cs typeface="Helvetica" pitchFamily="34" charset="-120"/>
              </a:rPr>
              <a:t>El estilo es </a:t>
            </a:r>
            <a:r>
              <a:rPr lang="en-US" sz="1020" b="1" dirty="0">
                <a:solidFill>
                  <a:srgbClr val="111111"/>
                </a:solidFill>
                <a:latin typeface="Helvetica" pitchFamily="34" charset="0"/>
                <a:ea typeface="Helvetica" pitchFamily="34" charset="-122"/>
                <a:cs typeface="Helvetica" pitchFamily="34" charset="-120"/>
              </a:rPr>
              <a:t>delegado</a:t>
            </a:r>
            <a:r>
              <a:rPr lang="en-US" sz="1020" dirty="0">
                <a:solidFill>
                  <a:srgbClr val="111111"/>
                </a:solidFill>
                <a:latin typeface="Helvetica" pitchFamily="34" charset="0"/>
                <a:ea typeface="Helvetica" pitchFamily="34" charset="-122"/>
                <a:cs typeface="Helvetica" pitchFamily="34" charset="-120"/>
              </a:rPr>
              <a:t>: el Núcleo de Pedidos y el Despachador coordinan, mientras el Carrito, el Restaurante y la Conexión DB resuelven cada uno lo suyo con total autonomía sobre </a:t>
            </a:r>
            <a:r>
              <a:rPr lang="en-US" sz="1020" i="1" dirty="0">
                <a:solidFill>
                  <a:srgbClr val="111111"/>
                </a:solidFill>
                <a:latin typeface="Helvetica" pitchFamily="34" charset="0"/>
                <a:ea typeface="Helvetica" pitchFamily="34" charset="-122"/>
                <a:cs typeface="Helvetica" pitchFamily="34" charset="-120"/>
              </a:rPr>
              <a:t>cómo</a:t>
            </a:r>
            <a:r>
              <a:rPr lang="en-US" sz="1020" dirty="0">
                <a:solidFill>
                  <a:srgbClr val="111111"/>
                </a:solidFill>
                <a:latin typeface="Helvetica" pitchFamily="34" charset="0"/>
                <a:ea typeface="Helvetica" pitchFamily="34" charset="-122"/>
                <a:cs typeface="Helvetica" pitchFamily="34" charset="-120"/>
              </a:rPr>
              <a:t> lo hacen.</a:t>
            </a:r>
            <a:endParaRPr lang="en-US" sz="1020" dirty="0"/>
          </a:p>
          <a:p>
            <a:pPr marL="342900" indent="-342900" algn="l">
              <a:lnSpc>
                <a:spcPts val="1326"/>
              </a:lnSpc>
              <a:spcAft>
                <a:spcPts val="300"/>
              </a:spcAft>
              <a:buSzPct val="100000"/>
              <a:buChar char="•"/>
            </a:pPr>
            <a:r>
              <a:rPr lang="en-US" sz="1020" dirty="0">
                <a:solidFill>
                  <a:srgbClr val="111111"/>
                </a:solidFill>
                <a:latin typeface="Helvetica" pitchFamily="34" charset="0"/>
                <a:ea typeface="Helvetica" pitchFamily="34" charset="-122"/>
                <a:cs typeface="Helvetica" pitchFamily="34" charset="-120"/>
              </a:rPr>
              <a:t>El Pedido se acerca peligrosamente a ser un control </a:t>
            </a:r>
            <a:r>
              <a:rPr lang="en-US" sz="1020" b="1" dirty="0">
                <a:solidFill>
                  <a:srgbClr val="111111"/>
                </a:solidFill>
                <a:latin typeface="Helvetica" pitchFamily="34" charset="0"/>
                <a:ea typeface="Helvetica" pitchFamily="34" charset="-122"/>
                <a:cs typeface="Helvetica" pitchFamily="34" charset="-120"/>
              </a:rPr>
              <a:t>centralizado</a:t>
            </a:r>
            <a:r>
              <a:rPr lang="en-US" sz="1020" dirty="0">
                <a:solidFill>
                  <a:srgbClr val="111111"/>
                </a:solidFill>
                <a:latin typeface="Helvetica" pitchFamily="34" charset="0"/>
                <a:ea typeface="Helvetica" pitchFamily="34" charset="-122"/>
                <a:cs typeface="Helvetica" pitchFamily="34" charset="-120"/>
              </a:rPr>
              <a:t>. Es una decisión consciente: preferimos que la lógica de un pedido esté en un solo lugar donde se pueda leer completa, a costa de tener una clase grande. Si crece más, habrá que descomponerla.</a:t>
            </a:r>
            <a:endParaRPr lang="en-US" sz="1020" dirty="0"/>
          </a:p>
        </p:txBody>
      </p:sp>
      <p:sp>
        <p:nvSpPr>
          <p:cNvPr id="5" name="Text 3"/>
          <p:cNvSpPr/>
          <p:nvPr/>
        </p:nvSpPr>
        <p:spPr>
          <a:xfrm>
            <a:off x="431750" y="2156817"/>
            <a:ext cx="8445957" cy="329803"/>
          </a:xfrm>
          <a:prstGeom prst="rect">
            <a:avLst/>
          </a:prstGeom>
          <a:noFill/>
          <a:ln/>
        </p:spPr>
        <p:txBody>
          <a:bodyPr wrap="square" lIns="0" tIns="0" rIns="0" bIns="0" rtlCol="0" anchor="t"/>
          <a:lstStyle/>
          <a:p>
            <a:pPr marL="0" indent="0" algn="l">
              <a:lnSpc>
                <a:spcPts val="1300"/>
              </a:lnSpc>
              <a:spcAft>
                <a:spcPts val="700"/>
              </a:spcAft>
              <a:buNone/>
            </a:pPr>
            <a:r>
              <a:rPr lang="en-US" sz="1000" dirty="0">
                <a:solidFill>
                  <a:srgbClr val="0B84D9"/>
                </a:solidFill>
                <a:latin typeface="Helvetica" pitchFamily="34" charset="0"/>
                <a:ea typeface="Helvetica" pitchFamily="34" charset="-122"/>
                <a:cs typeface="Helvetica" pitchFamily="34" charset="-120"/>
              </a:rPr>
              <a:t>Lo importante no es tener el estilo “correcto”, sino que sea </a:t>
            </a:r>
            <a:r>
              <a:rPr lang="en-US" sz="1000" b="1" dirty="0">
                <a:solidFill>
                  <a:srgbClr val="0B84D9"/>
                </a:solidFill>
                <a:latin typeface="Helvetica" pitchFamily="34" charset="0"/>
                <a:ea typeface="Helvetica" pitchFamily="34" charset="-122"/>
                <a:cs typeface="Helvetica" pitchFamily="34" charset="-120"/>
              </a:rPr>
              <a:t>consistente</a:t>
            </a:r>
            <a:r>
              <a:rPr lang="en-US" sz="1000" dirty="0">
                <a:solidFill>
                  <a:srgbClr val="0B84D9"/>
                </a:solidFill>
                <a:latin typeface="Helvetica" pitchFamily="34" charset="0"/>
                <a:ea typeface="Helvetica" pitchFamily="34" charset="-122"/>
                <a:cs typeface="Helvetica" pitchFamily="34" charset="-120"/>
              </a:rPr>
              <a:t>: si el Pedido controla y el Despachador coordina, ningún otro elemento del mismo nivel debería empezar a tomar decisiones por su cuenta.</a:t>
            </a:r>
            <a:endParaRPr lang="en-US" sz="1000" dirty="0"/>
          </a:p>
        </p:txBody>
      </p:sp>
      <p:sp>
        <p:nvSpPr>
          <p:cNvPr id="6" name="Text 4"/>
          <p:cNvSpPr/>
          <p:nvPr/>
        </p:nvSpPr>
        <p:spPr>
          <a:xfrm>
            <a:off x="431750" y="2575471"/>
            <a:ext cx="8445957" cy="164902"/>
          </a:xfrm>
          <a:prstGeom prst="rect">
            <a:avLst/>
          </a:prstGeom>
          <a:noFill/>
          <a:ln/>
        </p:spPr>
        <p:txBody>
          <a:bodyPr wrap="square" lIns="0" tIns="0" rIns="0" bIns="0" rtlCol="0" anchor="t"/>
          <a:lstStyle/>
          <a:p>
            <a:pPr marL="0" indent="0" algn="l">
              <a:lnSpc>
                <a:spcPts val="1300"/>
              </a:lnSpc>
              <a:spcAft>
                <a:spcPts val="700"/>
              </a:spcAft>
              <a:buNone/>
            </a:pPr>
            <a:r>
              <a:rPr lang="en-US" sz="1000" dirty="0">
                <a:solidFill>
                  <a:srgbClr val="4A4A4A"/>
                </a:solidFill>
                <a:latin typeface="Helvetica" pitchFamily="34" charset="0"/>
                <a:ea typeface="Helvetica" pitchFamily="34" charset="-122"/>
                <a:cs typeface="Helvetica" pitchFamily="34" charset="-120"/>
              </a:rPr>
              <a:t>En las dos diapositivas siguientes, dos ejemplos de los extremos.</a:t>
            </a:r>
            <a:endParaRPr lang="en-US" sz="1000" dirty="0"/>
          </a:p>
        </p:txBody>
      </p:sp>
      <p:sp>
        <p:nvSpPr>
          <p:cNvPr id="7" name="Text 5"/>
          <p:cNvSpPr/>
          <p:nvPr/>
        </p:nvSpPr>
        <p:spPr>
          <a:xfrm>
            <a:off x="8737402" y="4842570"/>
            <a:ext cx="129793" cy="148530"/>
          </a:xfrm>
          <a:prstGeom prst="rect">
            <a:avLst/>
          </a:prstGeom>
          <a:noFill/>
          <a:ln/>
        </p:spPr>
        <p:txBody>
          <a:bodyPr wrap="square" lIns="0" tIns="0" rIns="0" bIns="0" rtlCol="0" anchor="t"/>
          <a:lstStyle/>
          <a:p>
            <a:pPr marL="0" indent="0" algn="l">
              <a:lnSpc>
                <a:spcPts val="1170"/>
              </a:lnSpc>
              <a:buNone/>
            </a:pPr>
            <a:r>
              <a:rPr lang="en-US" sz="900" dirty="0">
                <a:solidFill>
                  <a:srgbClr val="9A9A9A"/>
                </a:solidFill>
                <a:latin typeface="Helvetica" pitchFamily="34" charset="0"/>
                <a:ea typeface="Helvetica" pitchFamily="34" charset="-122"/>
                <a:cs typeface="Helvetica" pitchFamily="34" charset="-120"/>
              </a:rPr>
              <a:t>25</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ounded Rectangle 2"/>
          <p:cNvSpPr/>
          <p:nvPr/>
        </p:nvSpPr>
        <p:spPr>
          <a:xfrm>
            <a:off x="457200" y="4164807"/>
            <a:ext cx="8229600" cy="635794"/>
          </a:xfrm>
          <a:prstGeom prst="roundRect">
            <a:avLst>
              <a:gd name="adj" fmla="val 13483"/>
            </a:avLst>
          </a:prstGeom>
          <a:solidFill>
            <a:srgbClr val="E9F1FA"/>
          </a:solidFill>
          <a:ln w="9525">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ounded Rectangle 4"/>
          <p:cNvSpPr/>
          <p:nvPr/>
        </p:nvSpPr>
        <p:spPr>
          <a:xfrm>
            <a:off x="457200" y="1715281"/>
            <a:ext cx="2628900" cy="1925687"/>
          </a:xfrm>
          <a:prstGeom prst="roundRect">
            <a:avLst>
              <a:gd name="adj" fmla="val 5935"/>
            </a:avLst>
          </a:prstGeom>
          <a:solidFill>
            <a:srgbClr val="FEFDFD"/>
          </a:solidFill>
          <a:ln w="9525">
            <a:solidFill>
              <a:srgbClr val="E6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 name="Rounded Rectangle 5"/>
          <p:cNvSpPr/>
          <p:nvPr/>
        </p:nvSpPr>
        <p:spPr>
          <a:xfrm>
            <a:off x="3257550" y="1715281"/>
            <a:ext cx="2628900" cy="1925687"/>
          </a:xfrm>
          <a:prstGeom prst="roundRect">
            <a:avLst>
              <a:gd name="adj" fmla="val 5935"/>
            </a:avLst>
          </a:prstGeom>
          <a:solidFill>
            <a:srgbClr val="FEFDFD"/>
          </a:solidFill>
          <a:ln w="9525">
            <a:solidFill>
              <a:srgbClr val="E6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 name="Rounded Rectangle 6"/>
          <p:cNvSpPr/>
          <p:nvPr/>
        </p:nvSpPr>
        <p:spPr>
          <a:xfrm>
            <a:off x="6057900" y="1715281"/>
            <a:ext cx="2628900" cy="1925687"/>
          </a:xfrm>
          <a:prstGeom prst="roundRect">
            <a:avLst>
              <a:gd name="adj" fmla="val 5935"/>
            </a:avLst>
          </a:prstGeom>
          <a:solidFill>
            <a:srgbClr val="FEFDFD"/>
          </a:solidFill>
          <a:ln w="9525">
            <a:solidFill>
              <a:srgbClr val="E6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pic>
        <p:nvPicPr>
          <p:cNvPr id="8" name="Picture 7" descr="image.png"/>
          <p:cNvPicPr>
            <a:picLocks noChangeAspect="1"/>
          </p:cNvPicPr>
          <p:nvPr/>
        </p:nvPicPr>
        <p:blipFill>
          <a:blip r:embed="rId3"/>
          <a:stretch>
            <a:fillRect/>
          </a:stretch>
        </p:blipFill>
        <p:spPr>
          <a:xfrm>
            <a:off x="1222155" y="1410642"/>
            <a:ext cx="1077680" cy="1077680"/>
          </a:xfrm>
          <a:prstGeom prst="rect">
            <a:avLst/>
          </a:prstGeom>
        </p:spPr>
      </p:pic>
      <p:pic>
        <p:nvPicPr>
          <p:cNvPr id="9" name="Picture 8" descr="image.png"/>
          <p:cNvPicPr>
            <a:picLocks noChangeAspect="1"/>
          </p:cNvPicPr>
          <p:nvPr/>
        </p:nvPicPr>
        <p:blipFill>
          <a:blip r:embed="rId4"/>
          <a:stretch>
            <a:fillRect/>
          </a:stretch>
        </p:blipFill>
        <p:spPr>
          <a:xfrm>
            <a:off x="4017878" y="1393671"/>
            <a:ext cx="1095892" cy="1095892"/>
          </a:xfrm>
          <a:prstGeom prst="rect">
            <a:avLst/>
          </a:prstGeom>
        </p:spPr>
      </p:pic>
      <p:pic>
        <p:nvPicPr>
          <p:cNvPr id="10" name="Picture 9" descr="image.png"/>
          <p:cNvPicPr>
            <a:picLocks noChangeAspect="1"/>
          </p:cNvPicPr>
          <p:nvPr/>
        </p:nvPicPr>
        <p:blipFill>
          <a:blip r:embed="rId5"/>
          <a:stretch>
            <a:fillRect/>
          </a:stretch>
        </p:blipFill>
        <p:spPr>
          <a:xfrm>
            <a:off x="6818228" y="1493168"/>
            <a:ext cx="996395" cy="996395"/>
          </a:xfrm>
          <a:prstGeom prst="rect">
            <a:avLst/>
          </a:prstGeom>
        </p:spPr>
      </p:pic>
      <p:sp>
        <p:nvSpPr>
          <p:cNvPr id="14" name="TextBox 13"/>
          <p:cNvSpPr txBox="1"/>
          <p:nvPr/>
        </p:nvSpPr>
        <p:spPr>
          <a:xfrm>
            <a:off x="522514" y="4293394"/>
            <a:ext cx="8164286" cy="346249"/>
          </a:xfrm>
          <a:prstGeom prst="rect">
            <a:avLst/>
          </a:prstGeom>
          <a:noFill/>
        </p:spPr>
        <p:txBody>
          <a:bodyPr wrap="square" lIns="0" tIns="0" rIns="0" bIns="0" anchor="t">
            <a:spAutoFit/>
          </a:bodyPr>
          <a:lstStyle/>
          <a:p>
            <a:pPr algn="ctr"/>
            <a:r>
              <a:rPr sz="1125" b="1" dirty="0">
                <a:solidFill>
                  <a:srgbClr val="0F172A"/>
                </a:solidFill>
                <a:latin typeface="Plus Jakarta Sans"/>
              </a:rPr>
              <a:t>La </a:t>
            </a:r>
            <a:r>
              <a:rPr sz="1125" b="1" dirty="0" err="1">
                <a:solidFill>
                  <a:srgbClr val="0F172A"/>
                </a:solidFill>
                <a:latin typeface="Plus Jakarta Sans"/>
              </a:rPr>
              <a:t>consistencia</a:t>
            </a:r>
            <a:r>
              <a:rPr sz="1125" b="1" dirty="0">
                <a:solidFill>
                  <a:srgbClr val="0F172A"/>
                </a:solidFill>
                <a:latin typeface="Plus Jakarta Sans"/>
              </a:rPr>
              <a:t> es clave:</a:t>
            </a:r>
            <a:r>
              <a:rPr sz="1125" dirty="0">
                <a:solidFill>
                  <a:srgbClr val="334155"/>
                </a:solidFill>
                <a:latin typeface="Plus Jakarta Sans"/>
              </a:rPr>
              <a:t> Si el </a:t>
            </a:r>
            <a:r>
              <a:rPr sz="1125" dirty="0" err="1">
                <a:solidFill>
                  <a:srgbClr val="334155"/>
                </a:solidFill>
                <a:latin typeface="Plus Jakarta Sans"/>
              </a:rPr>
              <a:t>Pedido</a:t>
            </a:r>
            <a:r>
              <a:rPr sz="1125" dirty="0">
                <a:solidFill>
                  <a:srgbClr val="334155"/>
                </a:solidFill>
                <a:latin typeface="Plus Jakarta Sans"/>
              </a:rPr>
              <a:t> </a:t>
            </a:r>
            <a:r>
              <a:rPr sz="1125" dirty="0" err="1">
                <a:solidFill>
                  <a:srgbClr val="334155"/>
                </a:solidFill>
                <a:latin typeface="Plus Jakarta Sans"/>
              </a:rPr>
              <a:t>controla</a:t>
            </a:r>
            <a:r>
              <a:rPr sz="1125" dirty="0">
                <a:solidFill>
                  <a:srgbClr val="334155"/>
                </a:solidFill>
                <a:latin typeface="Plus Jakarta Sans"/>
              </a:rPr>
              <a:t> y el </a:t>
            </a:r>
            <a:r>
              <a:rPr sz="1125" dirty="0" err="1">
                <a:solidFill>
                  <a:srgbClr val="334155"/>
                </a:solidFill>
                <a:latin typeface="Plus Jakarta Sans"/>
              </a:rPr>
              <a:t>Despachador</a:t>
            </a:r>
            <a:r>
              <a:rPr sz="1125" dirty="0">
                <a:solidFill>
                  <a:srgbClr val="334155"/>
                </a:solidFill>
                <a:latin typeface="Plus Jakarta Sans"/>
              </a:rPr>
              <a:t> </a:t>
            </a:r>
            <a:r>
              <a:rPr sz="1125" dirty="0" err="1">
                <a:solidFill>
                  <a:srgbClr val="334155"/>
                </a:solidFill>
                <a:latin typeface="Plus Jakarta Sans"/>
              </a:rPr>
              <a:t>coordina</a:t>
            </a:r>
            <a:r>
              <a:rPr sz="1125" dirty="0">
                <a:solidFill>
                  <a:srgbClr val="334155"/>
                </a:solidFill>
                <a:latin typeface="Plus Jakarta Sans"/>
              </a:rPr>
              <a:t>, </a:t>
            </a:r>
            <a:r>
              <a:rPr sz="1125" dirty="0" err="1">
                <a:solidFill>
                  <a:srgbClr val="334155"/>
                </a:solidFill>
                <a:latin typeface="Plus Jakarta Sans"/>
              </a:rPr>
              <a:t>ningún</a:t>
            </a:r>
            <a:r>
              <a:rPr sz="1125" dirty="0">
                <a:solidFill>
                  <a:srgbClr val="334155"/>
                </a:solidFill>
                <a:latin typeface="Plus Jakarta Sans"/>
              </a:rPr>
              <a:t> </a:t>
            </a:r>
            <a:r>
              <a:rPr sz="1125" dirty="0" err="1">
                <a:solidFill>
                  <a:srgbClr val="334155"/>
                </a:solidFill>
                <a:latin typeface="Plus Jakarta Sans"/>
              </a:rPr>
              <a:t>otro</a:t>
            </a:r>
            <a:r>
              <a:rPr sz="1125" dirty="0">
                <a:solidFill>
                  <a:srgbClr val="334155"/>
                </a:solidFill>
                <a:latin typeface="Plus Jakarta Sans"/>
              </a:rPr>
              <a:t> </a:t>
            </a:r>
            <a:r>
              <a:rPr sz="1125" dirty="0" err="1">
                <a:solidFill>
                  <a:srgbClr val="334155"/>
                </a:solidFill>
                <a:latin typeface="Plus Jakarta Sans"/>
              </a:rPr>
              <a:t>elemento</a:t>
            </a:r>
            <a:r>
              <a:rPr sz="1125" dirty="0">
                <a:solidFill>
                  <a:srgbClr val="334155"/>
                </a:solidFill>
                <a:latin typeface="Plus Jakarta Sans"/>
              </a:rPr>
              <a:t> del </a:t>
            </a:r>
            <a:r>
              <a:rPr sz="1125" dirty="0" err="1">
                <a:solidFill>
                  <a:srgbClr val="334155"/>
                </a:solidFill>
                <a:latin typeface="Plus Jakarta Sans"/>
              </a:rPr>
              <a:t>mismo</a:t>
            </a:r>
            <a:r>
              <a:rPr sz="1125" dirty="0">
                <a:solidFill>
                  <a:srgbClr val="334155"/>
                </a:solidFill>
                <a:latin typeface="Plus Jakarta Sans"/>
              </a:rPr>
              <a:t> </a:t>
            </a:r>
            <a:r>
              <a:rPr sz="1125" dirty="0" err="1">
                <a:solidFill>
                  <a:srgbClr val="334155"/>
                </a:solidFill>
                <a:latin typeface="Plus Jakarta Sans"/>
              </a:rPr>
              <a:t>nivel</a:t>
            </a:r>
            <a:r>
              <a:rPr sz="1125" dirty="0">
                <a:solidFill>
                  <a:srgbClr val="334155"/>
                </a:solidFill>
                <a:latin typeface="Plus Jakarta Sans"/>
              </a:rPr>
              <a:t> </a:t>
            </a:r>
            <a:r>
              <a:rPr sz="1125" dirty="0" err="1">
                <a:solidFill>
                  <a:srgbClr val="334155"/>
                </a:solidFill>
                <a:latin typeface="Plus Jakarta Sans"/>
              </a:rPr>
              <a:t>debe</a:t>
            </a:r>
            <a:r>
              <a:rPr sz="1125" dirty="0">
                <a:solidFill>
                  <a:srgbClr val="334155"/>
                </a:solidFill>
                <a:latin typeface="Plus Jakarta Sans"/>
              </a:rPr>
              <a:t> </a:t>
            </a:r>
            <a:r>
              <a:rPr sz="1125" dirty="0" err="1">
                <a:solidFill>
                  <a:srgbClr val="334155"/>
                </a:solidFill>
                <a:latin typeface="Plus Jakarta Sans"/>
              </a:rPr>
              <a:t>tomar</a:t>
            </a:r>
            <a:r>
              <a:rPr sz="1125" dirty="0">
                <a:solidFill>
                  <a:srgbClr val="334155"/>
                </a:solidFill>
                <a:latin typeface="Plus Jakarta Sans"/>
              </a:rPr>
              <a:t> </a:t>
            </a:r>
            <a:r>
              <a:rPr sz="1125" dirty="0" err="1">
                <a:solidFill>
                  <a:srgbClr val="334155"/>
                </a:solidFill>
                <a:latin typeface="Plus Jakarta Sans"/>
              </a:rPr>
              <a:t>decisiones</a:t>
            </a:r>
            <a:r>
              <a:rPr sz="1125" dirty="0">
                <a:solidFill>
                  <a:srgbClr val="334155"/>
                </a:solidFill>
                <a:latin typeface="Plus Jakarta Sans"/>
              </a:rPr>
              <a:t> </a:t>
            </a:r>
            <a:r>
              <a:rPr sz="1125" dirty="0" err="1">
                <a:solidFill>
                  <a:srgbClr val="334155"/>
                </a:solidFill>
                <a:latin typeface="Plus Jakarta Sans"/>
              </a:rPr>
              <a:t>por</a:t>
            </a:r>
            <a:r>
              <a:rPr sz="1125" dirty="0">
                <a:solidFill>
                  <a:srgbClr val="334155"/>
                </a:solidFill>
                <a:latin typeface="Plus Jakarta Sans"/>
              </a:rPr>
              <a:t> </a:t>
            </a:r>
            <a:r>
              <a:rPr sz="1125" dirty="0" err="1">
                <a:solidFill>
                  <a:srgbClr val="334155"/>
                </a:solidFill>
                <a:latin typeface="Plus Jakarta Sans"/>
              </a:rPr>
              <a:t>su</a:t>
            </a:r>
            <a:r>
              <a:rPr sz="1125" dirty="0">
                <a:solidFill>
                  <a:srgbClr val="334155"/>
                </a:solidFill>
                <a:latin typeface="Plus Jakarta Sans"/>
              </a:rPr>
              <a:t> </a:t>
            </a:r>
            <a:r>
              <a:rPr sz="1125" dirty="0" err="1">
                <a:solidFill>
                  <a:srgbClr val="334155"/>
                </a:solidFill>
                <a:latin typeface="Plus Jakarta Sans"/>
              </a:rPr>
              <a:t>cuenta</a:t>
            </a:r>
            <a:r>
              <a:rPr sz="1125" dirty="0">
                <a:solidFill>
                  <a:srgbClr val="334155"/>
                </a:solidFill>
                <a:latin typeface="Plus Jakarta Sans"/>
              </a:rPr>
              <a:t>.</a:t>
            </a:r>
          </a:p>
        </p:txBody>
      </p:sp>
      <p:sp>
        <p:nvSpPr>
          <p:cNvPr id="16" name="TextBox 15"/>
          <p:cNvSpPr txBox="1"/>
          <p:nvPr/>
        </p:nvSpPr>
        <p:spPr>
          <a:xfrm>
            <a:off x="457200" y="266415"/>
            <a:ext cx="3460178" cy="322461"/>
          </a:xfrm>
          <a:prstGeom prst="rect">
            <a:avLst/>
          </a:prstGeom>
          <a:noFill/>
        </p:spPr>
        <p:txBody>
          <a:bodyPr wrap="none" lIns="0" tIns="0" rIns="0" bIns="0" anchor="t">
            <a:spAutoFit/>
          </a:bodyPr>
          <a:lstStyle/>
          <a:p>
            <a:pPr>
              <a:lnSpc>
                <a:spcPts val="2565"/>
              </a:lnSpc>
            </a:pPr>
            <a:r>
              <a:rPr sz="2138" b="1" dirty="0">
                <a:solidFill>
                  <a:srgbClr val="0F172A"/>
                </a:solidFill>
                <a:latin typeface="Plus Jakarta Sans"/>
              </a:rPr>
              <a:t>Estilo de control de la </a:t>
            </a:r>
            <a:r>
              <a:rPr sz="2138" b="1" dirty="0" err="1">
                <a:solidFill>
                  <a:srgbClr val="0F172A"/>
                </a:solidFill>
                <a:latin typeface="Plus Jakarta Sans"/>
              </a:rPr>
              <a:t>solución</a:t>
            </a:r>
            <a:endParaRPr sz="2138" b="1" dirty="0">
              <a:solidFill>
                <a:srgbClr val="0F172A"/>
              </a:solidFill>
              <a:latin typeface="Plus Jakarta Sans"/>
            </a:endParaRPr>
          </a:p>
        </p:txBody>
      </p:sp>
      <p:sp>
        <p:nvSpPr>
          <p:cNvPr id="17" name="TextBox 16"/>
          <p:cNvSpPr txBox="1"/>
          <p:nvPr/>
        </p:nvSpPr>
        <p:spPr>
          <a:xfrm>
            <a:off x="457200" y="704618"/>
            <a:ext cx="6496907" cy="195566"/>
          </a:xfrm>
          <a:prstGeom prst="rect">
            <a:avLst/>
          </a:prstGeom>
          <a:noFill/>
        </p:spPr>
        <p:txBody>
          <a:bodyPr wrap="none" lIns="0" tIns="0" rIns="0" bIns="0" anchor="t">
            <a:spAutoFit/>
          </a:bodyPr>
          <a:lstStyle/>
          <a:p>
            <a:pPr>
              <a:lnSpc>
                <a:spcPts val="1417"/>
              </a:lnSpc>
            </a:pPr>
            <a:r>
              <a:rPr dirty="0">
                <a:solidFill>
                  <a:srgbClr val="64748B"/>
                </a:solidFill>
                <a:latin typeface="Plus Jakarta Sans"/>
              </a:rPr>
              <a:t>Con las </a:t>
            </a:r>
            <a:r>
              <a:rPr dirty="0" err="1">
                <a:solidFill>
                  <a:srgbClr val="64748B"/>
                </a:solidFill>
                <a:latin typeface="Plus Jakarta Sans"/>
              </a:rPr>
              <a:t>colaboraciones</a:t>
            </a:r>
            <a:r>
              <a:rPr dirty="0">
                <a:solidFill>
                  <a:srgbClr val="64748B"/>
                </a:solidFill>
                <a:latin typeface="Plus Jakarta Sans"/>
              </a:rPr>
              <a:t> </a:t>
            </a:r>
            <a:r>
              <a:rPr dirty="0" err="1">
                <a:solidFill>
                  <a:srgbClr val="64748B"/>
                </a:solidFill>
                <a:latin typeface="Plus Jakarta Sans"/>
              </a:rPr>
              <a:t>diseñadas</a:t>
            </a:r>
            <a:r>
              <a:rPr dirty="0">
                <a:solidFill>
                  <a:srgbClr val="64748B"/>
                </a:solidFill>
                <a:latin typeface="Plus Jakarta Sans"/>
              </a:rPr>
              <a:t>, </a:t>
            </a:r>
            <a:r>
              <a:rPr dirty="0" err="1">
                <a:solidFill>
                  <a:srgbClr val="64748B"/>
                </a:solidFill>
                <a:latin typeface="Plus Jakarta Sans"/>
              </a:rPr>
              <a:t>definimos</a:t>
            </a:r>
            <a:r>
              <a:rPr dirty="0">
                <a:solidFill>
                  <a:srgbClr val="64748B"/>
                </a:solidFill>
                <a:latin typeface="Plus Jakarta Sans"/>
              </a:rPr>
              <a:t>: </a:t>
            </a:r>
            <a:r>
              <a:rPr i="1" dirty="0">
                <a:solidFill>
                  <a:srgbClr val="64748B"/>
                </a:solidFill>
                <a:latin typeface="Plus Jakarta Sans"/>
              </a:rPr>
              <a:t>¿</a:t>
            </a:r>
            <a:r>
              <a:rPr i="1" dirty="0" err="1">
                <a:solidFill>
                  <a:srgbClr val="64748B"/>
                </a:solidFill>
                <a:latin typeface="Plus Jakarta Sans"/>
              </a:rPr>
              <a:t>Quién</a:t>
            </a:r>
            <a:r>
              <a:rPr i="1" dirty="0">
                <a:solidFill>
                  <a:srgbClr val="64748B"/>
                </a:solidFill>
                <a:latin typeface="Plus Jakarta Sans"/>
              </a:rPr>
              <a:t> </a:t>
            </a:r>
            <a:r>
              <a:rPr i="1" dirty="0" err="1">
                <a:solidFill>
                  <a:srgbClr val="64748B"/>
                </a:solidFill>
                <a:latin typeface="Plus Jakarta Sans"/>
              </a:rPr>
              <a:t>tiene</a:t>
            </a:r>
            <a:r>
              <a:rPr i="1" dirty="0">
                <a:solidFill>
                  <a:srgbClr val="64748B"/>
                </a:solidFill>
                <a:latin typeface="Plus Jakarta Sans"/>
              </a:rPr>
              <a:t> el control?</a:t>
            </a:r>
          </a:p>
        </p:txBody>
      </p:sp>
      <p:sp>
        <p:nvSpPr>
          <p:cNvPr id="18" name="TextBox 17"/>
          <p:cNvSpPr txBox="1"/>
          <p:nvPr/>
        </p:nvSpPr>
        <p:spPr>
          <a:xfrm>
            <a:off x="351830" y="2865425"/>
            <a:ext cx="2839640" cy="348493"/>
          </a:xfrm>
          <a:prstGeom prst="rect">
            <a:avLst/>
          </a:prstGeom>
          <a:noFill/>
        </p:spPr>
        <p:txBody>
          <a:bodyPr wrap="square" lIns="0" tIns="0" rIns="0" bIns="0" anchor="t">
            <a:spAutoFit/>
          </a:bodyPr>
          <a:lstStyle/>
          <a:p>
            <a:pPr algn="ctr">
              <a:lnSpc>
                <a:spcPts val="1417"/>
              </a:lnSpc>
            </a:pPr>
            <a:r>
              <a:rPr sz="1013" b="1">
                <a:solidFill>
                  <a:srgbClr val="334155"/>
                </a:solidFill>
                <a:latin typeface="Plus Jakarta Sans"/>
              </a:rPr>
              <a:t>Pedido</a:t>
            </a:r>
            <a:r>
              <a:rPr sz="1013">
                <a:solidFill>
                  <a:srgbClr val="334155"/>
                </a:solidFill>
                <a:latin typeface="Plus Jakarta Sans"/>
              </a:rPr>
              <a:t> concentra decisiones del pedido. </a:t>
            </a:r>
            <a:r>
              <a:rPr sz="1013" b="1">
                <a:solidFill>
                  <a:srgbClr val="334155"/>
                </a:solidFill>
                <a:latin typeface="Plus Jakarta Sans"/>
              </a:rPr>
              <a:t>Despachador</a:t>
            </a:r>
            <a:r>
              <a:rPr sz="1013">
                <a:solidFill>
                  <a:srgbClr val="334155"/>
                </a:solidFill>
                <a:latin typeface="Plus Jakarta Sans"/>
              </a:rPr>
              <a:t> decide sobre los repartidores.</a:t>
            </a:r>
          </a:p>
        </p:txBody>
      </p:sp>
      <p:sp>
        <p:nvSpPr>
          <p:cNvPr id="19" name="TextBox 18"/>
          <p:cNvSpPr txBox="1"/>
          <p:nvPr/>
        </p:nvSpPr>
        <p:spPr>
          <a:xfrm>
            <a:off x="3152180" y="2865425"/>
            <a:ext cx="2839640" cy="707566"/>
          </a:xfrm>
          <a:prstGeom prst="rect">
            <a:avLst/>
          </a:prstGeom>
          <a:noFill/>
        </p:spPr>
        <p:txBody>
          <a:bodyPr wrap="square" lIns="0" tIns="0" rIns="0" bIns="0" anchor="t">
            <a:spAutoFit/>
          </a:bodyPr>
          <a:lstStyle/>
          <a:p>
            <a:pPr algn="ctr">
              <a:lnSpc>
                <a:spcPts val="1417"/>
              </a:lnSpc>
            </a:pPr>
            <a:r>
              <a:rPr sz="1013" dirty="0">
                <a:solidFill>
                  <a:srgbClr val="334155"/>
                </a:solidFill>
                <a:latin typeface="Plus Jakarta Sans"/>
              </a:rPr>
              <a:t>El </a:t>
            </a:r>
            <a:r>
              <a:rPr sz="1013" dirty="0" err="1">
                <a:solidFill>
                  <a:srgbClr val="334155"/>
                </a:solidFill>
                <a:latin typeface="Plus Jakarta Sans"/>
              </a:rPr>
              <a:t>Núcleo</a:t>
            </a:r>
            <a:r>
              <a:rPr sz="1013" dirty="0">
                <a:solidFill>
                  <a:srgbClr val="334155"/>
                </a:solidFill>
                <a:latin typeface="Plus Jakarta Sans"/>
              </a:rPr>
              <a:t> </a:t>
            </a:r>
            <a:r>
              <a:rPr sz="1013" dirty="0" err="1">
                <a:solidFill>
                  <a:srgbClr val="334155"/>
                </a:solidFill>
                <a:latin typeface="Plus Jakarta Sans"/>
              </a:rPr>
              <a:t>coordina</a:t>
            </a:r>
            <a:r>
              <a:rPr sz="1013" dirty="0">
                <a:solidFill>
                  <a:srgbClr val="334155"/>
                </a:solidFill>
                <a:latin typeface="Plus Jakarta Sans"/>
              </a:rPr>
              <a:t>. </a:t>
            </a:r>
            <a:endParaRPr lang="es-CO" sz="1013" dirty="0">
              <a:solidFill>
                <a:srgbClr val="334155"/>
              </a:solidFill>
              <a:latin typeface="Plus Jakarta Sans"/>
            </a:endParaRPr>
          </a:p>
          <a:p>
            <a:pPr algn="ctr">
              <a:lnSpc>
                <a:spcPts val="1417"/>
              </a:lnSpc>
            </a:pPr>
            <a:endParaRPr lang="es-CO" sz="1013" dirty="0">
              <a:solidFill>
                <a:srgbClr val="334155"/>
              </a:solidFill>
              <a:latin typeface="Plus Jakarta Sans"/>
            </a:endParaRPr>
          </a:p>
          <a:p>
            <a:pPr algn="ctr">
              <a:lnSpc>
                <a:spcPts val="1417"/>
              </a:lnSpc>
            </a:pPr>
            <a:r>
              <a:rPr sz="1013" dirty="0" err="1">
                <a:solidFill>
                  <a:srgbClr val="334155"/>
                </a:solidFill>
                <a:latin typeface="Plus Jakarta Sans"/>
              </a:rPr>
              <a:t>Carrito</a:t>
            </a:r>
            <a:r>
              <a:rPr sz="1013" dirty="0">
                <a:solidFill>
                  <a:srgbClr val="334155"/>
                </a:solidFill>
                <a:latin typeface="Plus Jakarta Sans"/>
              </a:rPr>
              <a:t>, Restaurante y DB </a:t>
            </a:r>
            <a:r>
              <a:rPr sz="1013" dirty="0" err="1">
                <a:solidFill>
                  <a:srgbClr val="334155"/>
                </a:solidFill>
                <a:latin typeface="Plus Jakarta Sans"/>
              </a:rPr>
              <a:t>resuelven</a:t>
            </a:r>
            <a:r>
              <a:rPr sz="1013" dirty="0">
                <a:solidFill>
                  <a:srgbClr val="334155"/>
                </a:solidFill>
                <a:latin typeface="Plus Jakarta Sans"/>
              </a:rPr>
              <a:t> con total </a:t>
            </a:r>
            <a:r>
              <a:rPr sz="1013" dirty="0" err="1">
                <a:solidFill>
                  <a:srgbClr val="334155"/>
                </a:solidFill>
                <a:latin typeface="Plus Jakarta Sans"/>
              </a:rPr>
              <a:t>autonomía</a:t>
            </a:r>
            <a:r>
              <a:rPr sz="1013" dirty="0">
                <a:solidFill>
                  <a:srgbClr val="334155"/>
                </a:solidFill>
                <a:latin typeface="Plus Jakarta Sans"/>
              </a:rPr>
              <a:t>.</a:t>
            </a:r>
          </a:p>
        </p:txBody>
      </p:sp>
      <p:sp>
        <p:nvSpPr>
          <p:cNvPr id="20" name="TextBox 19"/>
          <p:cNvSpPr txBox="1"/>
          <p:nvPr/>
        </p:nvSpPr>
        <p:spPr>
          <a:xfrm>
            <a:off x="5952530" y="2865425"/>
            <a:ext cx="2839640" cy="348493"/>
          </a:xfrm>
          <a:prstGeom prst="rect">
            <a:avLst/>
          </a:prstGeom>
          <a:noFill/>
        </p:spPr>
        <p:txBody>
          <a:bodyPr wrap="square" lIns="0" tIns="0" rIns="0" bIns="0" anchor="t">
            <a:spAutoFit/>
          </a:bodyPr>
          <a:lstStyle/>
          <a:p>
            <a:pPr algn="ctr">
              <a:lnSpc>
                <a:spcPts val="1417"/>
              </a:lnSpc>
            </a:pPr>
            <a:r>
              <a:rPr sz="1013" dirty="0">
                <a:solidFill>
                  <a:srgbClr val="334155"/>
                </a:solidFill>
                <a:latin typeface="Plus Jakarta Sans"/>
              </a:rPr>
              <a:t>El </a:t>
            </a:r>
            <a:r>
              <a:rPr sz="1013" dirty="0" err="1">
                <a:solidFill>
                  <a:srgbClr val="334155"/>
                </a:solidFill>
                <a:latin typeface="Plus Jakarta Sans"/>
              </a:rPr>
              <a:t>Pedido</a:t>
            </a:r>
            <a:r>
              <a:rPr sz="1013" dirty="0">
                <a:solidFill>
                  <a:srgbClr val="334155"/>
                </a:solidFill>
                <a:latin typeface="Plus Jakarta Sans"/>
              </a:rPr>
              <a:t> </a:t>
            </a:r>
            <a:r>
              <a:rPr sz="1013" dirty="0" err="1">
                <a:solidFill>
                  <a:srgbClr val="334155"/>
                </a:solidFill>
                <a:latin typeface="Plus Jakarta Sans"/>
              </a:rPr>
              <a:t>centraliza</a:t>
            </a:r>
            <a:r>
              <a:rPr sz="1013" dirty="0">
                <a:solidFill>
                  <a:srgbClr val="334155"/>
                </a:solidFill>
                <a:latin typeface="Plus Jakarta Sans"/>
              </a:rPr>
              <a:t> </a:t>
            </a:r>
            <a:r>
              <a:rPr sz="1013" dirty="0" err="1">
                <a:solidFill>
                  <a:srgbClr val="334155"/>
                </a:solidFill>
                <a:latin typeface="Plus Jakarta Sans"/>
              </a:rPr>
              <a:t>lógica</a:t>
            </a:r>
            <a:r>
              <a:rPr sz="1013" dirty="0">
                <a:solidFill>
                  <a:srgbClr val="334155"/>
                </a:solidFill>
                <a:latin typeface="Plus Jakarta Sans"/>
              </a:rPr>
              <a:t> para </a:t>
            </a:r>
            <a:r>
              <a:rPr sz="1013" dirty="0" err="1">
                <a:solidFill>
                  <a:srgbClr val="334155"/>
                </a:solidFill>
                <a:latin typeface="Plus Jakarta Sans"/>
              </a:rPr>
              <a:t>leerse</a:t>
            </a:r>
            <a:r>
              <a:rPr sz="1013" dirty="0">
                <a:solidFill>
                  <a:srgbClr val="334155"/>
                </a:solidFill>
                <a:latin typeface="Plus Jakarta Sans"/>
              </a:rPr>
              <a:t> </a:t>
            </a:r>
            <a:r>
              <a:rPr sz="1013" dirty="0" err="1">
                <a:solidFill>
                  <a:srgbClr val="334155"/>
                </a:solidFill>
                <a:latin typeface="Plus Jakarta Sans"/>
              </a:rPr>
              <a:t>en</a:t>
            </a:r>
            <a:r>
              <a:rPr sz="1013" dirty="0">
                <a:solidFill>
                  <a:srgbClr val="334155"/>
                </a:solidFill>
                <a:latin typeface="Plus Jakarta Sans"/>
              </a:rPr>
              <a:t> un solo </a:t>
            </a:r>
            <a:r>
              <a:rPr sz="1013" dirty="0" err="1">
                <a:solidFill>
                  <a:srgbClr val="334155"/>
                </a:solidFill>
                <a:latin typeface="Plus Jakarta Sans"/>
              </a:rPr>
              <a:t>lugar</a:t>
            </a:r>
            <a:r>
              <a:rPr sz="1013" dirty="0">
                <a:solidFill>
                  <a:srgbClr val="334155"/>
                </a:solidFill>
                <a:latin typeface="Plus Jakarta Sans"/>
              </a:rPr>
              <a:t>. Si </a:t>
            </a:r>
            <a:r>
              <a:rPr sz="1013" dirty="0" err="1">
                <a:solidFill>
                  <a:srgbClr val="334155"/>
                </a:solidFill>
                <a:latin typeface="Plus Jakarta Sans"/>
              </a:rPr>
              <a:t>crece</a:t>
            </a:r>
            <a:r>
              <a:rPr sz="1013" dirty="0">
                <a:solidFill>
                  <a:srgbClr val="334155"/>
                </a:solidFill>
                <a:latin typeface="Plus Jakarta Sans"/>
              </a:rPr>
              <a:t>, se </a:t>
            </a:r>
            <a:r>
              <a:rPr sz="1013" dirty="0" err="1">
                <a:solidFill>
                  <a:srgbClr val="334155"/>
                </a:solidFill>
                <a:latin typeface="Plus Jakarta Sans"/>
              </a:rPr>
              <a:t>descompondrá</a:t>
            </a:r>
            <a:r>
              <a:rPr sz="1013" dirty="0">
                <a:solidFill>
                  <a:srgbClr val="334155"/>
                </a:solidFill>
                <a:latin typeface="Plus Jakarta Sans"/>
              </a:rPr>
              <a:t>.</a:t>
            </a:r>
          </a:p>
        </p:txBody>
      </p:sp>
      <p:sp>
        <p:nvSpPr>
          <p:cNvPr id="21" name="TextBox 20"/>
          <p:cNvSpPr txBox="1"/>
          <p:nvPr/>
        </p:nvSpPr>
        <p:spPr>
          <a:xfrm>
            <a:off x="1159495" y="2551100"/>
            <a:ext cx="1224310" cy="190501"/>
          </a:xfrm>
          <a:prstGeom prst="rect">
            <a:avLst/>
          </a:prstGeom>
          <a:noFill/>
        </p:spPr>
        <p:txBody>
          <a:bodyPr wrap="none" lIns="0" tIns="0" rIns="0" bIns="0" anchor="t">
            <a:spAutoFit/>
          </a:bodyPr>
          <a:lstStyle/>
          <a:p>
            <a:pPr algn="ctr"/>
            <a:r>
              <a:rPr sz="1238" b="1">
                <a:solidFill>
                  <a:srgbClr val="0284C7"/>
                </a:solidFill>
                <a:latin typeface="Plus Jakarta Sans"/>
              </a:rPr>
              <a:t>Centros de Control</a:t>
            </a:r>
          </a:p>
        </p:txBody>
      </p:sp>
      <p:sp>
        <p:nvSpPr>
          <p:cNvPr id="22" name="TextBox 21"/>
          <p:cNvSpPr txBox="1"/>
          <p:nvPr/>
        </p:nvSpPr>
        <p:spPr>
          <a:xfrm>
            <a:off x="4064649" y="2551100"/>
            <a:ext cx="1014701" cy="190501"/>
          </a:xfrm>
          <a:prstGeom prst="rect">
            <a:avLst/>
          </a:prstGeom>
          <a:noFill/>
        </p:spPr>
        <p:txBody>
          <a:bodyPr wrap="none" lIns="0" tIns="0" rIns="0" bIns="0" anchor="t">
            <a:spAutoFit/>
          </a:bodyPr>
          <a:lstStyle/>
          <a:p>
            <a:pPr algn="ctr"/>
            <a:r>
              <a:rPr sz="1238" b="1">
                <a:solidFill>
                  <a:srgbClr val="16A34A"/>
                </a:solidFill>
                <a:latin typeface="Plus Jakarta Sans"/>
              </a:rPr>
              <a:t>Estilo Delegado</a:t>
            </a:r>
          </a:p>
        </p:txBody>
      </p:sp>
      <p:sp>
        <p:nvSpPr>
          <p:cNvPr id="23" name="TextBox 22"/>
          <p:cNvSpPr txBox="1"/>
          <p:nvPr/>
        </p:nvSpPr>
        <p:spPr>
          <a:xfrm>
            <a:off x="6529170" y="2551100"/>
            <a:ext cx="1686359" cy="190501"/>
          </a:xfrm>
          <a:prstGeom prst="rect">
            <a:avLst/>
          </a:prstGeom>
          <a:noFill/>
        </p:spPr>
        <p:txBody>
          <a:bodyPr wrap="none" lIns="0" tIns="0" rIns="0" bIns="0" anchor="t">
            <a:spAutoFit/>
          </a:bodyPr>
          <a:lstStyle/>
          <a:p>
            <a:pPr algn="ctr"/>
            <a:r>
              <a:rPr sz="1238" b="1">
                <a:solidFill>
                  <a:srgbClr val="DB2777"/>
                </a:solidFill>
                <a:latin typeface="Plus Jakarta Sans"/>
              </a:rPr>
              <a:t>Centralización Consciente</a:t>
            </a:r>
          </a:p>
        </p:txBody>
      </p:sp>
      <p:pic>
        <p:nvPicPr>
          <p:cNvPr id="24" name="Imagen 23" descr="Centro de control - Iconos gratis de computadora">
            <a:extLst>
              <a:ext uri="{FF2B5EF4-FFF2-40B4-BE49-F238E27FC236}">
                <a16:creationId xmlns:a16="http://schemas.microsoft.com/office/drawing/2014/main" id="{140211BF-7DA4-8276-B7C6-B5B6DED01812}"/>
              </a:ext>
            </a:extLst>
          </p:cNvPr>
          <p:cNvPicPr>
            <a:picLocks noChangeAspect="1"/>
          </p:cNvPicPr>
          <p:nvPr/>
        </p:nvPicPr>
        <p:blipFill>
          <a:blip r:embed="rId6"/>
          <a:stretch>
            <a:fillRect/>
          </a:stretch>
        </p:blipFill>
        <p:spPr>
          <a:xfrm>
            <a:off x="1222155" y="1426465"/>
            <a:ext cx="1030666" cy="1030666"/>
          </a:xfrm>
          <a:prstGeom prst="rect">
            <a:avLst/>
          </a:prstGeom>
        </p:spPr>
      </p:pic>
      <p:pic>
        <p:nvPicPr>
          <p:cNvPr id="25" name="Imagen 24" descr="Diplomacia - Iconos gratis de negocios y finanzas">
            <a:extLst>
              <a:ext uri="{FF2B5EF4-FFF2-40B4-BE49-F238E27FC236}">
                <a16:creationId xmlns:a16="http://schemas.microsoft.com/office/drawing/2014/main" id="{D12D095D-9727-9F94-8C8D-F40ABB7F0F73}"/>
              </a:ext>
            </a:extLst>
          </p:cNvPr>
          <p:cNvPicPr>
            <a:picLocks noChangeAspect="1"/>
          </p:cNvPicPr>
          <p:nvPr/>
        </p:nvPicPr>
        <p:blipFill>
          <a:blip r:embed="rId7"/>
          <a:stretch>
            <a:fillRect/>
          </a:stretch>
        </p:blipFill>
        <p:spPr>
          <a:xfrm>
            <a:off x="4114799" y="1453206"/>
            <a:ext cx="964551" cy="964551"/>
          </a:xfrm>
          <a:prstGeom prst="rect">
            <a:avLst/>
          </a:prstGeom>
        </p:spPr>
      </p:pic>
      <p:pic>
        <p:nvPicPr>
          <p:cNvPr id="26" name="Imagen 25" descr="Diana Íconos 3D – Descarga Gratis en PNG, glTF">
            <a:extLst>
              <a:ext uri="{FF2B5EF4-FFF2-40B4-BE49-F238E27FC236}">
                <a16:creationId xmlns:a16="http://schemas.microsoft.com/office/drawing/2014/main" id="{6FC3C709-1776-8A08-0323-5760DF44C5EE}"/>
              </a:ext>
            </a:extLst>
          </p:cNvPr>
          <p:cNvPicPr>
            <a:picLocks noChangeAspect="1"/>
          </p:cNvPicPr>
          <p:nvPr/>
        </p:nvPicPr>
        <p:blipFill>
          <a:blip r:embed="rId8"/>
          <a:stretch>
            <a:fillRect/>
          </a:stretch>
        </p:blipFill>
        <p:spPr>
          <a:xfrm>
            <a:off x="6831813" y="1424023"/>
            <a:ext cx="1095892" cy="1095892"/>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04800"/>
            <a:ext cx="8394192" cy="312837"/>
          </a:xfrm>
          <a:prstGeom prst="rect">
            <a:avLst/>
          </a:prstGeom>
          <a:noFill/>
          <a:ln/>
        </p:spPr>
        <p:txBody>
          <a:bodyPr wrap="square" lIns="0" tIns="0" rIns="0" bIns="0" rtlCol="0" anchor="t"/>
          <a:lstStyle/>
          <a:p>
            <a:pPr marL="0" indent="0" algn="l">
              <a:lnSpc>
                <a:spcPts val="2464"/>
              </a:lnSpc>
              <a:spcBef>
                <a:spcPts val="2400"/>
              </a:spcBef>
              <a:buNone/>
            </a:pPr>
            <a:r>
              <a:rPr lang="en-US" sz="2200" b="1" dirty="0">
                <a:solidFill>
                  <a:srgbClr val="111111"/>
                </a:solidFill>
                <a:latin typeface="Helvetica" pitchFamily="34" charset="0"/>
                <a:ea typeface="Helvetica" pitchFamily="34" charset="-122"/>
                <a:cs typeface="Helvetica" pitchFamily="34" charset="-120"/>
              </a:rPr>
              <a:t>Ejemplo de control centralizado</a:t>
            </a:r>
            <a:endParaRPr lang="en-US" sz="2200" dirty="0"/>
          </a:p>
        </p:txBody>
      </p:sp>
      <p:sp>
        <p:nvSpPr>
          <p:cNvPr id="3" name="Text 1"/>
          <p:cNvSpPr/>
          <p:nvPr/>
        </p:nvSpPr>
        <p:spPr>
          <a:xfrm>
            <a:off x="431750" y="693837"/>
            <a:ext cx="8445957" cy="313730"/>
          </a:xfrm>
          <a:prstGeom prst="rect">
            <a:avLst/>
          </a:prstGeom>
          <a:noFill/>
          <a:ln/>
        </p:spPr>
        <p:txBody>
          <a:bodyPr wrap="square" lIns="0" tIns="0" rIns="0" bIns="0" rtlCol="0" anchor="t"/>
          <a:lstStyle/>
          <a:p>
            <a:pPr marL="0" indent="0" algn="l">
              <a:lnSpc>
                <a:spcPts val="1235"/>
              </a:lnSpc>
              <a:spcAft>
                <a:spcPts val="500"/>
              </a:spcAft>
              <a:buNone/>
            </a:pPr>
            <a:r>
              <a:rPr lang="en-US" sz="950" dirty="0">
                <a:solidFill>
                  <a:srgbClr val="5E5E5E"/>
                </a:solidFill>
                <a:latin typeface="Helvetica" pitchFamily="34" charset="0"/>
                <a:ea typeface="Helvetica" pitchFamily="34" charset="-122"/>
                <a:cs typeface="Helvetica" pitchFamily="34" charset="-120"/>
              </a:rPr>
              <a:t>Este es el resultado más común cuando no se diseña: una sola clase con nombre de servicio que valida, cobra, asigna, notifica y guarda; y alrededor, un montón de clases que sólo tienen </a:t>
            </a:r>
            <a:r>
              <a:rPr lang="en-US" sz="950" i="1" dirty="0">
                <a:solidFill>
                  <a:srgbClr val="5E5E5E"/>
                </a:solidFill>
                <a:latin typeface="Helvetica" pitchFamily="34" charset="0"/>
                <a:ea typeface="Helvetica" pitchFamily="34" charset="-122"/>
                <a:cs typeface="Helvetica" pitchFamily="34" charset="-120"/>
              </a:rPr>
              <a:t>get</a:t>
            </a:r>
            <a:r>
              <a:rPr lang="en-US" sz="950" dirty="0">
                <a:solidFill>
                  <a:srgbClr val="5E5E5E"/>
                </a:solidFill>
                <a:latin typeface="Helvetica" pitchFamily="34" charset="0"/>
                <a:ea typeface="Helvetica" pitchFamily="34" charset="-122"/>
                <a:cs typeface="Helvetica" pitchFamily="34" charset="-120"/>
              </a:rPr>
              <a:t> y </a:t>
            </a:r>
            <a:r>
              <a:rPr lang="en-US" sz="950" i="1" dirty="0">
                <a:solidFill>
                  <a:srgbClr val="5E5E5E"/>
                </a:solidFill>
                <a:latin typeface="Helvetica" pitchFamily="34" charset="0"/>
                <a:ea typeface="Helvetica" pitchFamily="34" charset="-122"/>
                <a:cs typeface="Helvetica" pitchFamily="34" charset="-120"/>
              </a:rPr>
              <a:t>set</a:t>
            </a:r>
            <a:r>
              <a:rPr lang="en-US" sz="950" dirty="0">
                <a:solidFill>
                  <a:srgbClr val="5E5E5E"/>
                </a:solidFill>
                <a:latin typeface="Helvetica" pitchFamily="34" charset="0"/>
                <a:ea typeface="Helvetica" pitchFamily="34" charset="-122"/>
                <a:cs typeface="Helvetica" pitchFamily="34" charset="-120"/>
              </a:rPr>
              <a:t>.</a:t>
            </a:r>
            <a:endParaRPr lang="en-US" sz="950" dirty="0"/>
          </a:p>
        </p:txBody>
      </p:sp>
      <p:pic>
        <p:nvPicPr>
          <p:cNvPr id="4" name="Image 0" descr="/home/claude/work/build/img/ctrl_centralizado.png"/>
          <p:cNvPicPr>
            <a:picLocks noChangeAspect="1"/>
          </p:cNvPicPr>
          <p:nvPr/>
        </p:nvPicPr>
        <p:blipFill>
          <a:blip r:embed="rId3"/>
          <a:stretch>
            <a:fillRect/>
          </a:stretch>
        </p:blipFill>
        <p:spPr>
          <a:xfrm>
            <a:off x="1015901" y="1070967"/>
            <a:ext cx="7111901" cy="2692301"/>
          </a:xfrm>
          <a:prstGeom prst="rect">
            <a:avLst/>
          </a:prstGeom>
        </p:spPr>
      </p:pic>
      <p:sp>
        <p:nvSpPr>
          <p:cNvPr id="5" name="Text 2"/>
          <p:cNvSpPr/>
          <p:nvPr/>
        </p:nvSpPr>
        <p:spPr>
          <a:xfrm>
            <a:off x="431750" y="3839468"/>
            <a:ext cx="8445957" cy="494705"/>
          </a:xfrm>
          <a:prstGeom prst="rect">
            <a:avLst/>
          </a:prstGeom>
          <a:noFill/>
          <a:ln/>
        </p:spPr>
        <p:txBody>
          <a:bodyPr wrap="square" lIns="0" tIns="0" rIns="0" bIns="0" rtlCol="0" anchor="t"/>
          <a:lstStyle/>
          <a:p>
            <a:pPr marL="0" indent="0" algn="l">
              <a:lnSpc>
                <a:spcPts val="1300"/>
              </a:lnSpc>
              <a:spcBef>
                <a:spcPts val="600"/>
              </a:spcBef>
              <a:spcAft>
                <a:spcPts val="700"/>
              </a:spcAft>
              <a:buNone/>
            </a:pPr>
            <a:r>
              <a:rPr lang="en-US" sz="1000" dirty="0">
                <a:solidFill>
                  <a:srgbClr val="4A4A4A"/>
                </a:solidFill>
                <a:latin typeface="Helvetica" pitchFamily="34" charset="0"/>
                <a:ea typeface="Helvetica" pitchFamily="34" charset="-122"/>
                <a:cs typeface="Helvetica" pitchFamily="34" charset="-120"/>
              </a:rPr>
              <a:t>Funciona, y por eso es tan común. El problema aparece después: cualquier cambio toca el mismo archivo, dos personas del equipo no pueden trabajar al mismo tiempo, y para entender qué es un pedido hay que leer 1.800 líneas. Si su clase se llama </a:t>
            </a:r>
            <a:r>
              <a:rPr lang="en-US" sz="1000" i="1" dirty="0">
                <a:solidFill>
                  <a:srgbClr val="4A4A4A"/>
                </a:solidFill>
                <a:latin typeface="Helvetica" pitchFamily="34" charset="0"/>
                <a:ea typeface="Helvetica" pitchFamily="34" charset="-122"/>
                <a:cs typeface="Helvetica" pitchFamily="34" charset="-120"/>
              </a:rPr>
              <a:t>algoService</a:t>
            </a:r>
            <a:r>
              <a:rPr lang="en-US" sz="1000" dirty="0">
                <a:solidFill>
                  <a:srgbClr val="4A4A4A"/>
                </a:solidFill>
                <a:latin typeface="Helvetica" pitchFamily="34" charset="0"/>
                <a:ea typeface="Helvetica" pitchFamily="34" charset="-122"/>
                <a:cs typeface="Helvetica" pitchFamily="34" charset="-120"/>
              </a:rPr>
              <a:t> o </a:t>
            </a:r>
            <a:r>
              <a:rPr lang="en-US" sz="1000" i="1" dirty="0">
                <a:solidFill>
                  <a:srgbClr val="4A4A4A"/>
                </a:solidFill>
                <a:latin typeface="Helvetica" pitchFamily="34" charset="0"/>
                <a:ea typeface="Helvetica" pitchFamily="34" charset="-122"/>
                <a:cs typeface="Helvetica" pitchFamily="34" charset="-120"/>
              </a:rPr>
              <a:t>algoManager</a:t>
            </a:r>
            <a:r>
              <a:rPr lang="en-US" sz="1000" dirty="0">
                <a:solidFill>
                  <a:srgbClr val="4A4A4A"/>
                </a:solidFill>
                <a:latin typeface="Helvetica" pitchFamily="34" charset="0"/>
                <a:ea typeface="Helvetica" pitchFamily="34" charset="-122"/>
                <a:cs typeface="Helvetica" pitchFamily="34" charset="-120"/>
              </a:rPr>
              <a:t> y tiene más de 400 líneas, probablemente esté aquí.</a:t>
            </a:r>
            <a:endParaRPr lang="en-US" sz="1000" dirty="0"/>
          </a:p>
        </p:txBody>
      </p:sp>
      <p:sp>
        <p:nvSpPr>
          <p:cNvPr id="6" name="Text 3"/>
          <p:cNvSpPr/>
          <p:nvPr/>
        </p:nvSpPr>
        <p:spPr>
          <a:xfrm>
            <a:off x="8737402" y="4842570"/>
            <a:ext cx="129793" cy="148530"/>
          </a:xfrm>
          <a:prstGeom prst="rect">
            <a:avLst/>
          </a:prstGeom>
          <a:noFill/>
          <a:ln/>
        </p:spPr>
        <p:txBody>
          <a:bodyPr wrap="square" lIns="0" tIns="0" rIns="0" bIns="0" rtlCol="0" anchor="t"/>
          <a:lstStyle/>
          <a:p>
            <a:pPr marL="0" indent="0" algn="l">
              <a:lnSpc>
                <a:spcPts val="1170"/>
              </a:lnSpc>
              <a:buNone/>
            </a:pPr>
            <a:r>
              <a:rPr lang="en-US" sz="900" dirty="0">
                <a:solidFill>
                  <a:srgbClr val="9A9A9A"/>
                </a:solidFill>
                <a:latin typeface="Helvetica" pitchFamily="34" charset="0"/>
                <a:ea typeface="Helvetica" pitchFamily="34" charset="-122"/>
                <a:cs typeface="Helvetica" pitchFamily="34" charset="-120"/>
              </a:rPr>
              <a:t>26</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04800"/>
            <a:ext cx="8394192" cy="312837"/>
          </a:xfrm>
          <a:prstGeom prst="rect">
            <a:avLst/>
          </a:prstGeom>
          <a:noFill/>
          <a:ln/>
        </p:spPr>
        <p:txBody>
          <a:bodyPr wrap="square" lIns="0" tIns="0" rIns="0" bIns="0" rtlCol="0" anchor="t"/>
          <a:lstStyle/>
          <a:p>
            <a:pPr marL="0" indent="0" algn="l">
              <a:lnSpc>
                <a:spcPts val="2464"/>
              </a:lnSpc>
              <a:spcBef>
                <a:spcPts val="2400"/>
              </a:spcBef>
              <a:buNone/>
            </a:pPr>
            <a:r>
              <a:rPr lang="en-US" sz="2200" b="1" dirty="0">
                <a:solidFill>
                  <a:srgbClr val="111111"/>
                </a:solidFill>
                <a:latin typeface="Helvetica" pitchFamily="34" charset="0"/>
                <a:ea typeface="Helvetica" pitchFamily="34" charset="-122"/>
                <a:cs typeface="Helvetica" pitchFamily="34" charset="-120"/>
              </a:rPr>
              <a:t>Ejemplo de control delegado</a:t>
            </a:r>
            <a:endParaRPr lang="en-US" sz="2200" dirty="0"/>
          </a:p>
        </p:txBody>
      </p:sp>
      <p:sp>
        <p:nvSpPr>
          <p:cNvPr id="3" name="Text 1"/>
          <p:cNvSpPr/>
          <p:nvPr/>
        </p:nvSpPr>
        <p:spPr>
          <a:xfrm>
            <a:off x="431750" y="693837"/>
            <a:ext cx="8445957" cy="156865"/>
          </a:xfrm>
          <a:prstGeom prst="rect">
            <a:avLst/>
          </a:prstGeom>
          <a:noFill/>
          <a:ln/>
        </p:spPr>
        <p:txBody>
          <a:bodyPr wrap="square" lIns="0" tIns="0" rIns="0" bIns="0" rtlCol="0" anchor="t"/>
          <a:lstStyle/>
          <a:p>
            <a:pPr marL="0" indent="0" algn="l">
              <a:lnSpc>
                <a:spcPts val="1235"/>
              </a:lnSpc>
              <a:spcAft>
                <a:spcPts val="500"/>
              </a:spcAft>
              <a:buNone/>
            </a:pPr>
            <a:r>
              <a:rPr lang="en-US" sz="950" dirty="0">
                <a:solidFill>
                  <a:srgbClr val="5E5E5E"/>
                </a:solidFill>
                <a:latin typeface="Helvetica" pitchFamily="34" charset="0"/>
                <a:ea typeface="Helvetica" pitchFamily="34" charset="-122"/>
                <a:cs typeface="Helvetica" pitchFamily="34" charset="-120"/>
              </a:rPr>
              <a:t>La cocina de un restaurante en hora pico es un buen ejemplo de control delegado, y es exactamente el modelo que queremos en el Núcleo de Pedidos.</a:t>
            </a:r>
            <a:endParaRPr lang="en-US" sz="950" dirty="0"/>
          </a:p>
        </p:txBody>
      </p:sp>
      <p:pic>
        <p:nvPicPr>
          <p:cNvPr id="4" name="Image 0" descr="/home/claude/work/build/img/ctrl_delegado.png"/>
          <p:cNvPicPr>
            <a:picLocks noChangeAspect="1"/>
          </p:cNvPicPr>
          <p:nvPr/>
        </p:nvPicPr>
        <p:blipFill>
          <a:blip r:embed="rId3"/>
          <a:stretch>
            <a:fillRect/>
          </a:stretch>
        </p:blipFill>
        <p:spPr>
          <a:xfrm>
            <a:off x="761851" y="914102"/>
            <a:ext cx="7620000" cy="2806601"/>
          </a:xfrm>
          <a:prstGeom prst="rect">
            <a:avLst/>
          </a:prstGeom>
        </p:spPr>
      </p:pic>
      <p:sp>
        <p:nvSpPr>
          <p:cNvPr id="5" name="Text 2"/>
          <p:cNvSpPr/>
          <p:nvPr/>
        </p:nvSpPr>
        <p:spPr>
          <a:xfrm>
            <a:off x="431750" y="3796903"/>
            <a:ext cx="8445957" cy="494705"/>
          </a:xfrm>
          <a:prstGeom prst="rect">
            <a:avLst/>
          </a:prstGeom>
          <a:noFill/>
          <a:ln/>
        </p:spPr>
        <p:txBody>
          <a:bodyPr wrap="square" lIns="0" tIns="0" rIns="0" bIns="0" rtlCol="0" anchor="t"/>
          <a:lstStyle/>
          <a:p>
            <a:pPr marL="0" indent="0" algn="l">
              <a:lnSpc>
                <a:spcPts val="1300"/>
              </a:lnSpc>
              <a:spcBef>
                <a:spcPts val="600"/>
              </a:spcBef>
              <a:spcAft>
                <a:spcPts val="700"/>
              </a:spcAft>
              <a:buNone/>
            </a:pPr>
            <a:r>
              <a:rPr lang="en-US" sz="1000" dirty="0">
                <a:solidFill>
                  <a:srgbClr val="4A4A4A"/>
                </a:solidFill>
                <a:latin typeface="Helvetica" pitchFamily="34" charset="0"/>
                <a:ea typeface="Helvetica" pitchFamily="34" charset="-122"/>
                <a:cs typeface="Helvetica" pitchFamily="34" charset="-120"/>
              </a:rPr>
              <a:t>El </a:t>
            </a:r>
            <a:r>
              <a:rPr lang="en-US" sz="1000" b="1" dirty="0">
                <a:solidFill>
                  <a:srgbClr val="4A4A4A"/>
                </a:solidFill>
                <a:latin typeface="Helvetica" pitchFamily="34" charset="0"/>
                <a:ea typeface="Helvetica" pitchFamily="34" charset="-122"/>
                <a:cs typeface="Helvetica" pitchFamily="34" charset="-120"/>
              </a:rPr>
              <a:t>expedidor</a:t>
            </a:r>
            <a:r>
              <a:rPr lang="en-US" sz="1000" dirty="0">
                <a:solidFill>
                  <a:srgbClr val="4A4A4A"/>
                </a:solidFill>
                <a:latin typeface="Helvetica" pitchFamily="34" charset="0"/>
                <a:ea typeface="Helvetica" pitchFamily="34" charset="-122"/>
                <a:cs typeface="Helvetica" pitchFamily="34" charset="-120"/>
              </a:rPr>
              <a:t> hace control de alto nivel: reparte los platos de cada orden y se asegura de que salgan juntos y a tiempo. Pero no le dice a la parrilla cuántos grados ni en qué orden: cada estación tiene control total sobre </a:t>
            </a:r>
            <a:r>
              <a:rPr lang="en-US" sz="1000" b="1" dirty="0">
                <a:solidFill>
                  <a:srgbClr val="4A4A4A"/>
                </a:solidFill>
                <a:latin typeface="Helvetica" pitchFamily="34" charset="0"/>
                <a:ea typeface="Helvetica" pitchFamily="34" charset="-122"/>
                <a:cs typeface="Helvetica" pitchFamily="34" charset="-120"/>
              </a:rPr>
              <a:t>cómo</a:t>
            </a:r>
            <a:r>
              <a:rPr lang="en-US" sz="1000" dirty="0">
                <a:solidFill>
                  <a:srgbClr val="4A4A4A"/>
                </a:solidFill>
                <a:latin typeface="Helvetica" pitchFamily="34" charset="0"/>
                <a:ea typeface="Helvetica" pitchFamily="34" charset="-122"/>
                <a:cs typeface="Helvetica" pitchFamily="34" charset="-120"/>
              </a:rPr>
              <a:t> hace su parte. El expedidor es, en realidad, un </a:t>
            </a:r>
            <a:r>
              <a:rPr lang="en-US" sz="1000" b="1" dirty="0">
                <a:solidFill>
                  <a:srgbClr val="4A4A4A"/>
                </a:solidFill>
                <a:latin typeface="Helvetica" pitchFamily="34" charset="0"/>
                <a:ea typeface="Helvetica" pitchFamily="34" charset="-122"/>
                <a:cs typeface="Helvetica" pitchFamily="34" charset="-120"/>
              </a:rPr>
              <a:t>coordinador</a:t>
            </a:r>
            <a:r>
              <a:rPr lang="en-US" sz="1000" dirty="0">
                <a:solidFill>
                  <a:srgbClr val="4A4A4A"/>
                </a:solidFill>
                <a:latin typeface="Helvetica" pitchFamily="34" charset="0"/>
                <a:ea typeface="Helvetica" pitchFamily="34" charset="-122"/>
                <a:cs typeface="Helvetica" pitchFamily="34" charset="-120"/>
              </a:rPr>
              <a:t>, y sólo conoce de cada estación lo que necesita: qué le puede pedir y cuánto se demora.</a:t>
            </a:r>
            <a:endParaRPr lang="en-US" sz="1000" dirty="0"/>
          </a:p>
        </p:txBody>
      </p:sp>
      <p:sp>
        <p:nvSpPr>
          <p:cNvPr id="6" name="Text 3"/>
          <p:cNvSpPr/>
          <p:nvPr/>
        </p:nvSpPr>
        <p:spPr>
          <a:xfrm>
            <a:off x="8737402" y="4842570"/>
            <a:ext cx="129793" cy="148530"/>
          </a:xfrm>
          <a:prstGeom prst="rect">
            <a:avLst/>
          </a:prstGeom>
          <a:noFill/>
          <a:ln/>
        </p:spPr>
        <p:txBody>
          <a:bodyPr wrap="square" lIns="0" tIns="0" rIns="0" bIns="0" rtlCol="0" anchor="t"/>
          <a:lstStyle/>
          <a:p>
            <a:pPr marL="0" indent="0" algn="l">
              <a:lnSpc>
                <a:spcPts val="1170"/>
              </a:lnSpc>
              <a:buNone/>
            </a:pPr>
            <a:r>
              <a:rPr lang="en-US" sz="900" dirty="0">
                <a:solidFill>
                  <a:srgbClr val="9A9A9A"/>
                </a:solidFill>
                <a:latin typeface="Helvetica" pitchFamily="34" charset="0"/>
                <a:ea typeface="Helvetica" pitchFamily="34" charset="-122"/>
                <a:cs typeface="Helvetica" pitchFamily="34" charset="-120"/>
              </a:rPr>
              <a:t>27</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457200" y="951457"/>
            <a:ext cx="8229600" cy="414338"/>
          </a:xfrm>
          <a:prstGeom prst="rect">
            <a:avLst/>
          </a:prstGeom>
          <a:solidFill>
            <a:srgbClr val="FBF9FA"/>
          </a:solidFill>
          <a:ln w="952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ounded Rectangle 3"/>
          <p:cNvSpPr/>
          <p:nvPr/>
        </p:nvSpPr>
        <p:spPr>
          <a:xfrm>
            <a:off x="4063343" y="1925911"/>
            <a:ext cx="4480582" cy="2158976"/>
          </a:xfrm>
          <a:prstGeom prst="roundRect">
            <a:avLst>
              <a:gd name="adj" fmla="val 2395"/>
            </a:avLst>
          </a:prstGeom>
          <a:solidFill>
            <a:srgbClr val="F7D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 name="TextBox 6"/>
          <p:cNvSpPr txBox="1"/>
          <p:nvPr/>
        </p:nvSpPr>
        <p:spPr>
          <a:xfrm>
            <a:off x="3185756" y="342900"/>
            <a:ext cx="2772490" cy="397545"/>
          </a:xfrm>
          <a:prstGeom prst="rect">
            <a:avLst/>
          </a:prstGeom>
          <a:noFill/>
        </p:spPr>
        <p:txBody>
          <a:bodyPr wrap="none" lIns="0" tIns="0" rIns="0" bIns="0" anchor="t">
            <a:spAutoFit/>
          </a:bodyPr>
          <a:lstStyle/>
          <a:p>
            <a:pPr algn="ctr">
              <a:lnSpc>
                <a:spcPts val="3105"/>
              </a:lnSpc>
            </a:pPr>
            <a:r>
              <a:rPr sz="2588" b="1">
                <a:solidFill>
                  <a:srgbClr val="0F172A"/>
                </a:solidFill>
                <a:latin typeface="Plus Jakarta Sans"/>
              </a:rPr>
              <a:t>Los siguientes pasos</a:t>
            </a:r>
          </a:p>
        </p:txBody>
      </p:sp>
      <p:sp>
        <p:nvSpPr>
          <p:cNvPr id="8" name="TextBox 7"/>
          <p:cNvSpPr txBox="1"/>
          <p:nvPr/>
        </p:nvSpPr>
        <p:spPr>
          <a:xfrm>
            <a:off x="2691550" y="1058614"/>
            <a:ext cx="3760902" cy="190501"/>
          </a:xfrm>
          <a:prstGeom prst="rect">
            <a:avLst/>
          </a:prstGeom>
          <a:noFill/>
        </p:spPr>
        <p:txBody>
          <a:bodyPr wrap="none" lIns="0" tIns="0" rIns="0" bIns="0" anchor="t">
            <a:spAutoFit/>
          </a:bodyPr>
          <a:lstStyle/>
          <a:p>
            <a:pPr algn="ctr"/>
            <a:r>
              <a:rPr sz="1238">
                <a:solidFill>
                  <a:srgbClr val="334155"/>
                </a:solidFill>
                <a:latin typeface="Plus Jakarta Sans"/>
              </a:rPr>
              <a:t>Actividades en el caso de estudio para consolidar el diseño</a:t>
            </a:r>
          </a:p>
        </p:txBody>
      </p:sp>
      <p:sp>
        <p:nvSpPr>
          <p:cNvPr id="9" name="TextBox 8"/>
          <p:cNvSpPr txBox="1"/>
          <p:nvPr/>
        </p:nvSpPr>
        <p:spPr>
          <a:xfrm>
            <a:off x="4349093" y="2183085"/>
            <a:ext cx="3980519" cy="374718"/>
          </a:xfrm>
          <a:prstGeom prst="rect">
            <a:avLst/>
          </a:prstGeom>
          <a:noFill/>
        </p:spPr>
        <p:txBody>
          <a:bodyPr wrap="square" lIns="0" tIns="0" rIns="0" bIns="0" anchor="t">
            <a:spAutoFit/>
          </a:bodyPr>
          <a:lstStyle/>
          <a:p>
            <a:pPr>
              <a:lnSpc>
                <a:spcPts val="1519"/>
              </a:lnSpc>
            </a:pPr>
            <a:r>
              <a:rPr sz="1125" b="1">
                <a:solidFill>
                  <a:srgbClr val="8B5CF6"/>
                </a:solidFill>
                <a:latin typeface="Plus Jakarta Sans"/>
              </a:rPr>
              <a:t>• </a:t>
            </a:r>
            <a:r>
              <a:rPr sz="1125" b="1">
                <a:solidFill>
                  <a:srgbClr val="292524"/>
                </a:solidFill>
                <a:latin typeface="Plus Jakarta Sans"/>
              </a:rPr>
              <a:t>Aterrizar cada componente candidato en un elemento implementable, o marcarlo para la siguiente iteración.</a:t>
            </a:r>
          </a:p>
        </p:txBody>
      </p:sp>
      <p:sp>
        <p:nvSpPr>
          <p:cNvPr id="10" name="TextBox 9"/>
          <p:cNvSpPr txBox="1"/>
          <p:nvPr/>
        </p:nvSpPr>
        <p:spPr>
          <a:xfrm>
            <a:off x="4349093" y="2783160"/>
            <a:ext cx="2888611" cy="182358"/>
          </a:xfrm>
          <a:prstGeom prst="rect">
            <a:avLst/>
          </a:prstGeom>
          <a:noFill/>
        </p:spPr>
        <p:txBody>
          <a:bodyPr wrap="none" lIns="0" tIns="0" rIns="0" bIns="0" anchor="t">
            <a:spAutoFit/>
          </a:bodyPr>
          <a:lstStyle/>
          <a:p>
            <a:pPr>
              <a:lnSpc>
                <a:spcPts val="1519"/>
              </a:lnSpc>
            </a:pPr>
            <a:r>
              <a:rPr sz="1125" b="1">
                <a:solidFill>
                  <a:srgbClr val="8B5CF6"/>
                </a:solidFill>
                <a:latin typeface="Plus Jakarta Sans"/>
              </a:rPr>
              <a:t>• </a:t>
            </a:r>
            <a:r>
              <a:rPr sz="1125" b="1">
                <a:solidFill>
                  <a:srgbClr val="292524"/>
                </a:solidFill>
                <a:latin typeface="Plus Jakarta Sans"/>
              </a:rPr>
              <a:t>Diseñar las clases con sus atributos y métodos.</a:t>
            </a:r>
          </a:p>
        </p:txBody>
      </p:sp>
      <p:sp>
        <p:nvSpPr>
          <p:cNvPr id="11" name="TextBox 10"/>
          <p:cNvSpPr txBox="1"/>
          <p:nvPr/>
        </p:nvSpPr>
        <p:spPr>
          <a:xfrm>
            <a:off x="4349093" y="3190354"/>
            <a:ext cx="3980519" cy="182358"/>
          </a:xfrm>
          <a:prstGeom prst="rect">
            <a:avLst/>
          </a:prstGeom>
          <a:noFill/>
        </p:spPr>
        <p:txBody>
          <a:bodyPr wrap="square" lIns="0" tIns="0" rIns="0" bIns="0" anchor="t">
            <a:spAutoFit/>
          </a:bodyPr>
          <a:lstStyle/>
          <a:p>
            <a:pPr>
              <a:lnSpc>
                <a:spcPts val="1519"/>
              </a:lnSpc>
            </a:pPr>
            <a:r>
              <a:rPr sz="1125" b="1">
                <a:solidFill>
                  <a:srgbClr val="8B5CF6"/>
                </a:solidFill>
                <a:latin typeface="Plus Jakarta Sans"/>
              </a:rPr>
              <a:t>• </a:t>
            </a:r>
            <a:r>
              <a:rPr sz="1125" b="1">
                <a:solidFill>
                  <a:srgbClr val="292524"/>
                </a:solidFill>
                <a:latin typeface="Plus Jakarta Sans"/>
              </a:rPr>
              <a:t>Diseñar las estructuras de datos que mantienen las relaciones.</a:t>
            </a:r>
          </a:p>
        </p:txBody>
      </p:sp>
      <p:sp>
        <p:nvSpPr>
          <p:cNvPr id="12" name="TextBox 11"/>
          <p:cNvSpPr txBox="1"/>
          <p:nvPr/>
        </p:nvSpPr>
        <p:spPr>
          <a:xfrm>
            <a:off x="4349093" y="3612811"/>
            <a:ext cx="1583767" cy="182358"/>
          </a:xfrm>
          <a:prstGeom prst="rect">
            <a:avLst/>
          </a:prstGeom>
          <a:noFill/>
        </p:spPr>
        <p:txBody>
          <a:bodyPr wrap="none" lIns="0" tIns="0" rIns="0" bIns="0" anchor="t">
            <a:spAutoFit/>
          </a:bodyPr>
          <a:lstStyle/>
          <a:p>
            <a:pPr>
              <a:lnSpc>
                <a:spcPts val="1519"/>
              </a:lnSpc>
            </a:pPr>
            <a:r>
              <a:rPr sz="1125" b="1" dirty="0">
                <a:solidFill>
                  <a:srgbClr val="8B5CF6"/>
                </a:solidFill>
                <a:latin typeface="Plus Jakarta Sans"/>
              </a:rPr>
              <a:t>• </a:t>
            </a:r>
            <a:r>
              <a:rPr sz="1125" b="1" dirty="0" err="1">
                <a:solidFill>
                  <a:srgbClr val="292524"/>
                </a:solidFill>
                <a:latin typeface="Plus Jakarta Sans"/>
              </a:rPr>
              <a:t>Especificar</a:t>
            </a:r>
            <a:r>
              <a:rPr sz="1125" b="1" dirty="0">
                <a:solidFill>
                  <a:srgbClr val="292524"/>
                </a:solidFill>
                <a:latin typeface="Plus Jakarta Sans"/>
              </a:rPr>
              <a:t> </a:t>
            </a:r>
            <a:r>
              <a:rPr sz="1125" b="1" dirty="0" err="1">
                <a:solidFill>
                  <a:srgbClr val="292524"/>
                </a:solidFill>
                <a:latin typeface="Plus Jakarta Sans"/>
              </a:rPr>
              <a:t>los</a:t>
            </a:r>
            <a:r>
              <a:rPr sz="1125" b="1" dirty="0">
                <a:solidFill>
                  <a:srgbClr val="292524"/>
                </a:solidFill>
                <a:latin typeface="Plus Jakarta Sans"/>
              </a:rPr>
              <a:t> </a:t>
            </a:r>
            <a:r>
              <a:rPr sz="1125" b="1" dirty="0" err="1">
                <a:solidFill>
                  <a:srgbClr val="292524"/>
                </a:solidFill>
                <a:latin typeface="Plus Jakarta Sans"/>
              </a:rPr>
              <a:t>contratos</a:t>
            </a:r>
            <a:r>
              <a:rPr sz="1125" b="1" dirty="0">
                <a:solidFill>
                  <a:srgbClr val="292524"/>
                </a:solidFill>
                <a:latin typeface="Plus Jakarta Sans"/>
              </a:rPr>
              <a:t>.</a:t>
            </a:r>
          </a:p>
        </p:txBody>
      </p:sp>
      <p:pic>
        <p:nvPicPr>
          <p:cNvPr id="16" name="Imagen 15" descr="Pasos - Iconos gratis de seguridad">
            <a:extLst>
              <a:ext uri="{FF2B5EF4-FFF2-40B4-BE49-F238E27FC236}">
                <a16:creationId xmlns:a16="http://schemas.microsoft.com/office/drawing/2014/main" id="{8733F9A9-2125-357D-2EA8-642601964C04}"/>
              </a:ext>
            </a:extLst>
          </p:cNvPr>
          <p:cNvPicPr>
            <a:picLocks noChangeAspect="1"/>
          </p:cNvPicPr>
          <p:nvPr/>
        </p:nvPicPr>
        <p:blipFill>
          <a:blip r:embed="rId3"/>
          <a:stretch>
            <a:fillRect/>
          </a:stretch>
        </p:blipFill>
        <p:spPr>
          <a:xfrm>
            <a:off x="799743" y="1814084"/>
            <a:ext cx="2609663" cy="2609663"/>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04800"/>
            <a:ext cx="8394192" cy="270123"/>
          </a:xfrm>
          <a:prstGeom prst="rect">
            <a:avLst/>
          </a:prstGeom>
          <a:noFill/>
          <a:ln/>
        </p:spPr>
        <p:txBody>
          <a:bodyPr wrap="square" lIns="0" tIns="0" rIns="0" bIns="0" rtlCol="0" anchor="t"/>
          <a:lstStyle/>
          <a:p>
            <a:pPr marL="0" indent="0" algn="l">
              <a:lnSpc>
                <a:spcPts val="2128"/>
              </a:lnSpc>
              <a:spcBef>
                <a:spcPts val="2400"/>
              </a:spcBef>
              <a:buNone/>
            </a:pPr>
            <a:r>
              <a:rPr lang="en-US" sz="1900" b="1" dirty="0">
                <a:solidFill>
                  <a:srgbClr val="111111"/>
                </a:solidFill>
                <a:latin typeface="Helvetica" pitchFamily="34" charset="0"/>
                <a:ea typeface="Helvetica" pitchFamily="34" charset="-122"/>
                <a:cs typeface="Helvetica" pitchFamily="34" charset="-120"/>
              </a:rPr>
              <a:t>Decisiones iniciales, para simplificar</a:t>
            </a:r>
            <a:endParaRPr lang="en-US" sz="1900" dirty="0"/>
          </a:p>
        </p:txBody>
      </p:sp>
      <p:sp>
        <p:nvSpPr>
          <p:cNvPr id="3" name="Text 1"/>
          <p:cNvSpPr/>
          <p:nvPr/>
        </p:nvSpPr>
        <p:spPr>
          <a:xfrm>
            <a:off x="431750" y="651123"/>
            <a:ext cx="8445957" cy="329803"/>
          </a:xfrm>
          <a:prstGeom prst="rect">
            <a:avLst/>
          </a:prstGeom>
          <a:noFill/>
          <a:ln/>
        </p:spPr>
        <p:txBody>
          <a:bodyPr wrap="square" lIns="0" tIns="0" rIns="0" bIns="0" rtlCol="0" anchor="t"/>
          <a:lstStyle/>
          <a:p>
            <a:pPr marL="0" indent="0" algn="l">
              <a:lnSpc>
                <a:spcPts val="1300"/>
              </a:lnSpc>
              <a:spcAft>
                <a:spcPts val="700"/>
              </a:spcAft>
              <a:buNone/>
            </a:pPr>
            <a:r>
              <a:rPr lang="en-US" sz="1000" dirty="0">
                <a:solidFill>
                  <a:srgbClr val="4A4A4A"/>
                </a:solidFill>
                <a:latin typeface="Helvetica" pitchFamily="34" charset="0"/>
                <a:ea typeface="Helvetica" pitchFamily="34" charset="-122"/>
                <a:cs typeface="Helvetica" pitchFamily="34" charset="-120"/>
              </a:rPr>
              <a:t>Antes de bajar a clases tomamos algunas decisiones para no tener que resolver todo al mismo tiempo. Todas son revisables, y todas van al documento de diseño con su justificación.</a:t>
            </a:r>
            <a:endParaRPr lang="en-US" sz="1000" dirty="0"/>
          </a:p>
        </p:txBody>
      </p:sp>
      <p:sp>
        <p:nvSpPr>
          <p:cNvPr id="4" name="Text 2"/>
          <p:cNvSpPr/>
          <p:nvPr/>
        </p:nvSpPr>
        <p:spPr>
          <a:xfrm>
            <a:off x="622250" y="1069777"/>
            <a:ext cx="8089850" cy="1705421"/>
          </a:xfrm>
          <a:prstGeom prst="rect">
            <a:avLst/>
          </a:prstGeom>
          <a:noFill/>
          <a:ln/>
        </p:spPr>
        <p:txBody>
          <a:bodyPr wrap="square" lIns="0" tIns="0" rIns="0" bIns="0" rtlCol="0" anchor="t"/>
          <a:lstStyle/>
          <a:p>
            <a:pPr marL="342900" indent="-342900" algn="l">
              <a:lnSpc>
                <a:spcPts val="1326"/>
              </a:lnSpc>
              <a:spcAft>
                <a:spcPts val="300"/>
              </a:spcAft>
              <a:buSzPct val="100000"/>
              <a:buChar char="•"/>
            </a:pPr>
            <a:r>
              <a:rPr lang="en-US" sz="1020" dirty="0">
                <a:solidFill>
                  <a:srgbClr val="111111"/>
                </a:solidFill>
                <a:latin typeface="Helvetica" pitchFamily="34" charset="0"/>
                <a:ea typeface="Helvetica" pitchFamily="34" charset="-122"/>
                <a:cs typeface="Helvetica" pitchFamily="34" charset="-120"/>
              </a:rPr>
              <a:t>Un </a:t>
            </a:r>
            <a:r>
              <a:rPr lang="en-US" sz="1020" b="1" dirty="0">
                <a:solidFill>
                  <a:srgbClr val="111111"/>
                </a:solidFill>
                <a:latin typeface="Helvetica" pitchFamily="34" charset="0"/>
                <a:ea typeface="Helvetica" pitchFamily="34" charset="-122"/>
                <a:cs typeface="Helvetica" pitchFamily="34" charset="-120"/>
              </a:rPr>
              <a:t>Dinero</a:t>
            </a:r>
            <a:r>
              <a:rPr lang="en-US" sz="1020" dirty="0">
                <a:solidFill>
                  <a:srgbClr val="111111"/>
                </a:solidFill>
                <a:latin typeface="Helvetica" pitchFamily="34" charset="0"/>
                <a:ea typeface="Helvetica" pitchFamily="34" charset="-122"/>
                <a:cs typeface="Helvetica" pitchFamily="34" charset="-120"/>
              </a:rPr>
              <a:t> se representa con un entero de pesos, no con </a:t>
            </a:r>
            <a:r>
              <a:rPr lang="en-US" sz="1020" i="1" dirty="0">
                <a:solidFill>
                  <a:srgbClr val="111111"/>
                </a:solidFill>
                <a:latin typeface="Helvetica" pitchFamily="34" charset="0"/>
                <a:ea typeface="Helvetica" pitchFamily="34" charset="-122"/>
                <a:cs typeface="Helvetica" pitchFamily="34" charset="-120"/>
              </a:rPr>
              <a:t>double</a:t>
            </a:r>
            <a:r>
              <a:rPr lang="en-US" sz="1020" dirty="0">
                <a:solidFill>
                  <a:srgbClr val="111111"/>
                </a:solidFill>
                <a:latin typeface="Helvetica" pitchFamily="34" charset="0"/>
                <a:ea typeface="Helvetica" pitchFamily="34" charset="-122"/>
                <a:cs typeface="Helvetica" pitchFamily="34" charset="-120"/>
              </a:rPr>
              <a:t>. No queremos descubrir en producción que un total dio 24.999,9999.</a:t>
            </a:r>
            <a:endParaRPr lang="en-US" sz="1020" dirty="0"/>
          </a:p>
          <a:p>
            <a:pPr marL="342900" indent="-342900" algn="l">
              <a:lnSpc>
                <a:spcPts val="1326"/>
              </a:lnSpc>
              <a:spcAft>
                <a:spcPts val="300"/>
              </a:spcAft>
              <a:buSzPct val="100000"/>
              <a:buChar char="•"/>
            </a:pPr>
            <a:r>
              <a:rPr lang="en-US" sz="1020" dirty="0">
                <a:solidFill>
                  <a:srgbClr val="111111"/>
                </a:solidFill>
                <a:latin typeface="Helvetica" pitchFamily="34" charset="0"/>
                <a:ea typeface="Helvetica" pitchFamily="34" charset="-122"/>
                <a:cs typeface="Helvetica" pitchFamily="34" charset="-120"/>
              </a:rPr>
              <a:t>Una </a:t>
            </a:r>
            <a:r>
              <a:rPr lang="en-US" sz="1020" b="1" dirty="0">
                <a:solidFill>
                  <a:srgbClr val="111111"/>
                </a:solidFill>
                <a:latin typeface="Helvetica" pitchFamily="34" charset="0"/>
                <a:ea typeface="Helvetica" pitchFamily="34" charset="-122"/>
                <a:cs typeface="Helvetica" pitchFamily="34" charset="-120"/>
              </a:rPr>
              <a:t>Notificación</a:t>
            </a:r>
            <a:r>
              <a:rPr lang="en-US" sz="1020" dirty="0">
                <a:solidFill>
                  <a:srgbClr val="111111"/>
                </a:solidFill>
                <a:latin typeface="Helvetica" pitchFamily="34" charset="0"/>
                <a:ea typeface="Helvetica" pitchFamily="34" charset="-122"/>
                <a:cs typeface="Helvetica" pitchFamily="34" charset="-120"/>
              </a:rPr>
              <a:t> no se materializa dentro del núcleo: el núcleo le entrega al Motor de Notificaciones el nombre de una plantilla y un mapa de datos. Así el Motor queda libre para decidir el canal y el formato.</a:t>
            </a:r>
            <a:endParaRPr lang="en-US" sz="1020" dirty="0"/>
          </a:p>
          <a:p>
            <a:pPr marL="342900" indent="-342900" algn="l">
              <a:lnSpc>
                <a:spcPts val="1326"/>
              </a:lnSpc>
              <a:spcAft>
                <a:spcPts val="300"/>
              </a:spcAft>
              <a:buSzPct val="100000"/>
              <a:buChar char="•"/>
            </a:pPr>
            <a:r>
              <a:rPr lang="en-US" sz="1020" dirty="0">
                <a:solidFill>
                  <a:srgbClr val="111111"/>
                </a:solidFill>
                <a:latin typeface="Helvetica" pitchFamily="34" charset="0"/>
                <a:ea typeface="Helvetica" pitchFamily="34" charset="-122"/>
                <a:cs typeface="Helvetica" pitchFamily="34" charset="-120"/>
              </a:rPr>
              <a:t>Las </a:t>
            </a:r>
            <a:r>
              <a:rPr lang="en-US" sz="1020" b="1" dirty="0">
                <a:solidFill>
                  <a:srgbClr val="111111"/>
                </a:solidFill>
                <a:latin typeface="Helvetica" pitchFamily="34" charset="0"/>
                <a:ea typeface="Helvetica" pitchFamily="34" charset="-122"/>
                <a:cs typeface="Helvetica" pitchFamily="34" charset="-120"/>
              </a:rPr>
              <a:t>fotos</a:t>
            </a:r>
            <a:r>
              <a:rPr lang="en-US" sz="1020" dirty="0">
                <a:solidFill>
                  <a:srgbClr val="111111"/>
                </a:solidFill>
                <a:latin typeface="Helvetica" pitchFamily="34" charset="0"/>
                <a:ea typeface="Helvetica" pitchFamily="34" charset="-122"/>
                <a:cs typeface="Helvetica" pitchFamily="34" charset="-120"/>
              </a:rPr>
              <a:t> se manejan como un flujo de datos (</a:t>
            </a:r>
            <a:r>
              <a:rPr lang="en-US" sz="1020" i="1" dirty="0">
                <a:solidFill>
                  <a:srgbClr val="111111"/>
                </a:solidFill>
                <a:latin typeface="Helvetica" pitchFamily="34" charset="0"/>
                <a:ea typeface="Helvetica" pitchFamily="34" charset="-122"/>
                <a:cs typeface="Helvetica" pitchFamily="34" charset="-120"/>
              </a:rPr>
              <a:t>java.io.InputStream</a:t>
            </a:r>
            <a:r>
              <a:rPr lang="en-US" sz="1020" dirty="0">
                <a:solidFill>
                  <a:srgbClr val="111111"/>
                </a:solidFill>
                <a:latin typeface="Helvetica" pitchFamily="34" charset="0"/>
                <a:ea typeface="Helvetica" pitchFamily="34" charset="-122"/>
                <a:cs typeface="Helvetica" pitchFamily="34" charset="-120"/>
              </a:rPr>
              <a:t>). De esa manera no nos importa si están en el disco local o en un servicio de almacenamiento externo.</a:t>
            </a:r>
            <a:endParaRPr lang="en-US" sz="1020" dirty="0"/>
          </a:p>
          <a:p>
            <a:pPr marL="342900" indent="-342900" algn="l">
              <a:lnSpc>
                <a:spcPts val="1326"/>
              </a:lnSpc>
              <a:spcAft>
                <a:spcPts val="300"/>
              </a:spcAft>
              <a:buSzPct val="100000"/>
              <a:buChar char="•"/>
            </a:pPr>
            <a:r>
              <a:rPr lang="en-US" sz="1020" dirty="0">
                <a:solidFill>
                  <a:srgbClr val="111111"/>
                </a:solidFill>
                <a:latin typeface="Helvetica" pitchFamily="34" charset="0"/>
                <a:ea typeface="Helvetica" pitchFamily="34" charset="-122"/>
                <a:cs typeface="Helvetica" pitchFamily="34" charset="-120"/>
              </a:rPr>
              <a:t>El </a:t>
            </a:r>
            <a:r>
              <a:rPr lang="en-US" sz="1020" b="1" dirty="0">
                <a:solidFill>
                  <a:srgbClr val="111111"/>
                </a:solidFill>
                <a:latin typeface="Helvetica" pitchFamily="34" charset="0"/>
                <a:ea typeface="Helvetica" pitchFamily="34" charset="-122"/>
                <a:cs typeface="Helvetica" pitchFamily="34" charset="-120"/>
              </a:rPr>
              <a:t>Resultado Query</a:t>
            </a:r>
            <a:r>
              <a:rPr lang="en-US" sz="1020" dirty="0">
                <a:solidFill>
                  <a:srgbClr val="111111"/>
                </a:solidFill>
                <a:latin typeface="Helvetica" pitchFamily="34" charset="0"/>
                <a:ea typeface="Helvetica" pitchFamily="34" charset="-122"/>
                <a:cs typeface="Helvetica" pitchFamily="34" charset="-120"/>
              </a:rPr>
              <a:t> se apoya en lo que ya ofrece JDBC, para no reimplementar lo que ya está en la librería estándar.</a:t>
            </a:r>
            <a:endParaRPr lang="en-US" sz="1020" dirty="0"/>
          </a:p>
          <a:p>
            <a:pPr marL="342900" indent="-342900" algn="l">
              <a:lnSpc>
                <a:spcPts val="1326"/>
              </a:lnSpc>
              <a:spcAft>
                <a:spcPts val="300"/>
              </a:spcAft>
              <a:buSzPct val="100000"/>
              <a:buChar char="•"/>
            </a:pPr>
            <a:r>
              <a:rPr lang="en-US" sz="1020" dirty="0">
                <a:solidFill>
                  <a:srgbClr val="111111"/>
                </a:solidFill>
                <a:latin typeface="Helvetica" pitchFamily="34" charset="0"/>
                <a:ea typeface="Helvetica" pitchFamily="34" charset="-122"/>
                <a:cs typeface="Helvetica" pitchFamily="34" charset="-120"/>
              </a:rPr>
              <a:t>El </a:t>
            </a:r>
            <a:r>
              <a:rPr lang="en-US" sz="1020" b="1" dirty="0">
                <a:solidFill>
                  <a:srgbClr val="111111"/>
                </a:solidFill>
                <a:latin typeface="Helvetica" pitchFamily="34" charset="0"/>
                <a:ea typeface="Helvetica" pitchFamily="34" charset="-122"/>
                <a:cs typeface="Helvetica" pitchFamily="34" charset="-120"/>
              </a:rPr>
              <a:t>estado del pedido</a:t>
            </a:r>
            <a:r>
              <a:rPr lang="en-US" sz="1020" dirty="0">
                <a:solidFill>
                  <a:srgbClr val="111111"/>
                </a:solidFill>
                <a:latin typeface="Helvetica" pitchFamily="34" charset="0"/>
                <a:ea typeface="Helvetica" pitchFamily="34" charset="-122"/>
                <a:cs typeface="Helvetica" pitchFamily="34" charset="-120"/>
              </a:rPr>
              <a:t> es una enumeración con transiciones válidas explícitas, no un </a:t>
            </a:r>
            <a:r>
              <a:rPr lang="en-US" sz="1020" i="1" dirty="0">
                <a:solidFill>
                  <a:srgbClr val="111111"/>
                </a:solidFill>
                <a:latin typeface="Helvetica" pitchFamily="34" charset="0"/>
                <a:ea typeface="Helvetica" pitchFamily="34" charset="-122"/>
                <a:cs typeface="Helvetica" pitchFamily="34" charset="-120"/>
              </a:rPr>
              <a:t>String</a:t>
            </a:r>
            <a:r>
              <a:rPr lang="en-US" sz="1020" dirty="0">
                <a:solidFill>
                  <a:srgbClr val="111111"/>
                </a:solidFill>
                <a:latin typeface="Helvetica" pitchFamily="34" charset="0"/>
                <a:ea typeface="Helvetica" pitchFamily="34" charset="-122"/>
                <a:cs typeface="Helvetica" pitchFamily="34" charset="-120"/>
              </a:rPr>
              <a:t>. Un </a:t>
            </a:r>
            <a:r>
              <a:rPr lang="en-US" sz="1020" i="1" dirty="0">
                <a:solidFill>
                  <a:srgbClr val="111111"/>
                </a:solidFill>
                <a:latin typeface="Helvetica" pitchFamily="34" charset="0"/>
                <a:ea typeface="Helvetica" pitchFamily="34" charset="-122"/>
                <a:cs typeface="Helvetica" pitchFamily="34" charset="-120"/>
              </a:rPr>
              <a:t>String</a:t>
            </a:r>
            <a:r>
              <a:rPr lang="en-US" sz="1020" dirty="0">
                <a:solidFill>
                  <a:srgbClr val="111111"/>
                </a:solidFill>
                <a:latin typeface="Helvetica" pitchFamily="34" charset="0"/>
                <a:ea typeface="Helvetica" pitchFamily="34" charset="-122"/>
                <a:cs typeface="Helvetica" pitchFamily="34" charset="-120"/>
              </a:rPr>
              <a:t> permite escribir “en camimo”.</a:t>
            </a:r>
            <a:endParaRPr lang="en-US" sz="1020" dirty="0"/>
          </a:p>
          <a:p>
            <a:pPr marL="342900" indent="-342900" algn="l">
              <a:lnSpc>
                <a:spcPts val="1326"/>
              </a:lnSpc>
              <a:spcAft>
                <a:spcPts val="300"/>
              </a:spcAft>
              <a:buSzPct val="100000"/>
              <a:buChar char="•"/>
            </a:pPr>
            <a:r>
              <a:rPr lang="en-US" sz="1020" dirty="0">
                <a:solidFill>
                  <a:srgbClr val="111111"/>
                </a:solidFill>
                <a:latin typeface="Helvetica" pitchFamily="34" charset="0"/>
                <a:ea typeface="Helvetica" pitchFamily="34" charset="-122"/>
                <a:cs typeface="Helvetica" pitchFamily="34" charset="-120"/>
              </a:rPr>
              <a:t>Un pedido pertenece a </a:t>
            </a:r>
            <a:r>
              <a:rPr lang="en-US" sz="1020" b="1" dirty="0">
                <a:solidFill>
                  <a:srgbClr val="111111"/>
                </a:solidFill>
                <a:latin typeface="Helvetica" pitchFamily="34" charset="0"/>
                <a:ea typeface="Helvetica" pitchFamily="34" charset="-122"/>
                <a:cs typeface="Helvetica" pitchFamily="34" charset="-120"/>
              </a:rPr>
              <a:t>un solo restaurante</a:t>
            </a:r>
            <a:r>
              <a:rPr lang="en-US" sz="1020" dirty="0">
                <a:solidFill>
                  <a:srgbClr val="111111"/>
                </a:solidFill>
                <a:latin typeface="Helvetica" pitchFamily="34" charset="0"/>
                <a:ea typeface="Helvetica" pitchFamily="34" charset="-122"/>
                <a:cs typeface="Helvetica" pitchFamily="34" charset="-120"/>
              </a:rPr>
              <a:t>. Sabemos que algún día habrá que soportar pedidos de varios, y sabemos que ese día vamos a tener que volver aquí.</a:t>
            </a:r>
            <a:endParaRPr lang="en-US" sz="1020" dirty="0"/>
          </a:p>
        </p:txBody>
      </p:sp>
      <p:sp>
        <p:nvSpPr>
          <p:cNvPr id="5" name="Text 3"/>
          <p:cNvSpPr/>
          <p:nvPr/>
        </p:nvSpPr>
        <p:spPr>
          <a:xfrm>
            <a:off x="8737402" y="4842570"/>
            <a:ext cx="129793" cy="148530"/>
          </a:xfrm>
          <a:prstGeom prst="rect">
            <a:avLst/>
          </a:prstGeom>
          <a:noFill/>
          <a:ln/>
        </p:spPr>
        <p:txBody>
          <a:bodyPr wrap="square" lIns="0" tIns="0" rIns="0" bIns="0" rtlCol="0" anchor="t"/>
          <a:lstStyle/>
          <a:p>
            <a:pPr marL="0" indent="0" algn="l">
              <a:lnSpc>
                <a:spcPts val="1170"/>
              </a:lnSpc>
              <a:buNone/>
            </a:pPr>
            <a:r>
              <a:rPr lang="en-US" sz="900" dirty="0">
                <a:solidFill>
                  <a:srgbClr val="9A9A9A"/>
                </a:solidFill>
                <a:latin typeface="Helvetica" pitchFamily="34" charset="0"/>
                <a:ea typeface="Helvetica" pitchFamily="34" charset="-122"/>
                <a:cs typeface="Helvetica" pitchFamily="34" charset="-120"/>
              </a:rPr>
              <a:t>29</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4" name="Rounded Rectangle 3"/>
          <p:cNvSpPr/>
          <p:nvPr/>
        </p:nvSpPr>
        <p:spPr>
          <a:xfrm>
            <a:off x="404949" y="1625555"/>
            <a:ext cx="2292531" cy="718616"/>
          </a:xfrm>
          <a:prstGeom prst="roundRect">
            <a:avLst>
              <a:gd name="adj" fmla="val 15905"/>
            </a:avLst>
          </a:prstGeom>
          <a:solidFill>
            <a:schemeClr val="accent5">
              <a:lumMod val="20000"/>
              <a:lumOff val="80000"/>
            </a:schemeClr>
          </a:solidFill>
          <a:ln w="9525">
            <a:solidFill>
              <a:srgbClr val="E6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ounded Rectangle 4"/>
          <p:cNvSpPr/>
          <p:nvPr/>
        </p:nvSpPr>
        <p:spPr>
          <a:xfrm>
            <a:off x="2983532" y="1637376"/>
            <a:ext cx="2628900" cy="765649"/>
          </a:xfrm>
          <a:prstGeom prst="roundRect">
            <a:avLst>
              <a:gd name="adj" fmla="val 15905"/>
            </a:avLst>
          </a:prstGeom>
          <a:solidFill>
            <a:schemeClr val="accent6">
              <a:lumMod val="20000"/>
              <a:lumOff val="80000"/>
            </a:schemeClr>
          </a:solidFill>
          <a:ln w="9525">
            <a:solidFill>
              <a:srgbClr val="E6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 name="Rounded Rectangle 5"/>
          <p:cNvSpPr/>
          <p:nvPr/>
        </p:nvSpPr>
        <p:spPr>
          <a:xfrm>
            <a:off x="5880309" y="1637375"/>
            <a:ext cx="2628900" cy="765649"/>
          </a:xfrm>
          <a:prstGeom prst="roundRect">
            <a:avLst>
              <a:gd name="adj" fmla="val 15905"/>
            </a:avLst>
          </a:prstGeom>
          <a:solidFill>
            <a:schemeClr val="accent5">
              <a:lumMod val="20000"/>
              <a:lumOff val="80000"/>
            </a:schemeClr>
          </a:solidFill>
          <a:ln w="9525">
            <a:solidFill>
              <a:srgbClr val="E6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 name="Rounded Rectangle 6"/>
          <p:cNvSpPr/>
          <p:nvPr/>
        </p:nvSpPr>
        <p:spPr>
          <a:xfrm>
            <a:off x="279609" y="3055820"/>
            <a:ext cx="2628900" cy="872876"/>
          </a:xfrm>
          <a:prstGeom prst="roundRect">
            <a:avLst>
              <a:gd name="adj" fmla="val 13094"/>
            </a:avLst>
          </a:prstGeom>
          <a:solidFill>
            <a:schemeClr val="accent6">
              <a:lumMod val="20000"/>
              <a:lumOff val="80000"/>
            </a:schemeClr>
          </a:solidFill>
          <a:ln w="9525">
            <a:solidFill>
              <a:srgbClr val="E6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Rounded Rectangle 7"/>
          <p:cNvSpPr/>
          <p:nvPr/>
        </p:nvSpPr>
        <p:spPr>
          <a:xfrm>
            <a:off x="3079959" y="3055820"/>
            <a:ext cx="2628900" cy="872876"/>
          </a:xfrm>
          <a:prstGeom prst="roundRect">
            <a:avLst>
              <a:gd name="adj" fmla="val 13094"/>
            </a:avLst>
          </a:prstGeom>
          <a:solidFill>
            <a:schemeClr val="accent5">
              <a:lumMod val="20000"/>
              <a:lumOff val="80000"/>
            </a:schemeClr>
          </a:solidFill>
          <a:ln w="9525">
            <a:solidFill>
              <a:srgbClr val="E6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 name="Rounded Rectangle 8"/>
          <p:cNvSpPr/>
          <p:nvPr/>
        </p:nvSpPr>
        <p:spPr>
          <a:xfrm>
            <a:off x="5880309" y="3055820"/>
            <a:ext cx="2628900" cy="872876"/>
          </a:xfrm>
          <a:prstGeom prst="roundRect">
            <a:avLst>
              <a:gd name="adj" fmla="val 13094"/>
            </a:avLst>
          </a:prstGeom>
          <a:solidFill>
            <a:schemeClr val="accent6">
              <a:lumMod val="20000"/>
              <a:lumOff val="80000"/>
            </a:schemeClr>
          </a:solidFill>
          <a:ln w="9525">
            <a:solidFill>
              <a:srgbClr val="E6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3" name="TextBox 22"/>
          <p:cNvSpPr txBox="1"/>
          <p:nvPr/>
        </p:nvSpPr>
        <p:spPr>
          <a:xfrm>
            <a:off x="458463" y="296373"/>
            <a:ext cx="4161396" cy="322461"/>
          </a:xfrm>
          <a:prstGeom prst="rect">
            <a:avLst/>
          </a:prstGeom>
          <a:noFill/>
        </p:spPr>
        <p:txBody>
          <a:bodyPr wrap="none" lIns="0" tIns="0" rIns="0" bIns="0" anchor="t">
            <a:spAutoFit/>
          </a:bodyPr>
          <a:lstStyle/>
          <a:p>
            <a:pPr>
              <a:lnSpc>
                <a:spcPts val="2565"/>
              </a:lnSpc>
            </a:pPr>
            <a:r>
              <a:rPr sz="2138" b="1" dirty="0" err="1">
                <a:solidFill>
                  <a:srgbClr val="0F172A"/>
                </a:solidFill>
                <a:latin typeface="Plus Jakarta Sans"/>
              </a:rPr>
              <a:t>Decisiones</a:t>
            </a:r>
            <a:r>
              <a:rPr sz="2138" b="1" dirty="0">
                <a:solidFill>
                  <a:srgbClr val="0F172A"/>
                </a:solidFill>
                <a:latin typeface="Plus Jakarta Sans"/>
              </a:rPr>
              <a:t> </a:t>
            </a:r>
            <a:r>
              <a:rPr sz="2138" b="1" dirty="0" err="1">
                <a:solidFill>
                  <a:srgbClr val="0F172A"/>
                </a:solidFill>
                <a:latin typeface="Plus Jakarta Sans"/>
              </a:rPr>
              <a:t>iniciales</a:t>
            </a:r>
            <a:r>
              <a:rPr sz="2138" b="1" dirty="0">
                <a:solidFill>
                  <a:srgbClr val="0F172A"/>
                </a:solidFill>
                <a:latin typeface="Plus Jakarta Sans"/>
              </a:rPr>
              <a:t> de </a:t>
            </a:r>
            <a:r>
              <a:rPr sz="2138" b="1" dirty="0" err="1">
                <a:solidFill>
                  <a:srgbClr val="0F172A"/>
                </a:solidFill>
                <a:latin typeface="Plus Jakarta Sans"/>
              </a:rPr>
              <a:t>simplificación</a:t>
            </a:r>
            <a:endParaRPr sz="2138" b="1" dirty="0">
              <a:solidFill>
                <a:srgbClr val="0F172A"/>
              </a:solidFill>
              <a:latin typeface="Plus Jakarta Sans"/>
            </a:endParaRPr>
          </a:p>
        </p:txBody>
      </p:sp>
      <p:sp>
        <p:nvSpPr>
          <p:cNvPr id="24" name="TextBox 23"/>
          <p:cNvSpPr txBox="1"/>
          <p:nvPr/>
        </p:nvSpPr>
        <p:spPr>
          <a:xfrm>
            <a:off x="457200" y="818737"/>
            <a:ext cx="8261877" cy="215893"/>
          </a:xfrm>
          <a:prstGeom prst="rect">
            <a:avLst/>
          </a:prstGeom>
          <a:noFill/>
        </p:spPr>
        <p:txBody>
          <a:bodyPr wrap="none" lIns="0" tIns="0" rIns="0" bIns="0" anchor="t">
            <a:spAutoFit/>
          </a:bodyPr>
          <a:lstStyle/>
          <a:p>
            <a:pPr>
              <a:lnSpc>
                <a:spcPts val="1417"/>
              </a:lnSpc>
            </a:pPr>
            <a:r>
              <a:rPr sz="2400" dirty="0" err="1">
                <a:solidFill>
                  <a:srgbClr val="64748B"/>
                </a:solidFill>
                <a:latin typeface="Plus Jakarta Sans"/>
              </a:rPr>
              <a:t>Acuerdos</a:t>
            </a:r>
            <a:r>
              <a:rPr sz="2400" dirty="0">
                <a:solidFill>
                  <a:srgbClr val="64748B"/>
                </a:solidFill>
                <a:latin typeface="Plus Jakarta Sans"/>
              </a:rPr>
              <a:t> </a:t>
            </a:r>
            <a:r>
              <a:rPr sz="2400" dirty="0" err="1">
                <a:solidFill>
                  <a:srgbClr val="64748B"/>
                </a:solidFill>
                <a:latin typeface="Plus Jakarta Sans"/>
              </a:rPr>
              <a:t>técnicos</a:t>
            </a:r>
            <a:r>
              <a:rPr sz="2400" dirty="0">
                <a:solidFill>
                  <a:srgbClr val="64748B"/>
                </a:solidFill>
                <a:latin typeface="Plus Jakarta Sans"/>
              </a:rPr>
              <a:t> </a:t>
            </a:r>
            <a:r>
              <a:rPr sz="2400" dirty="0" err="1">
                <a:solidFill>
                  <a:srgbClr val="64748B"/>
                </a:solidFill>
                <a:latin typeface="Plus Jakarta Sans"/>
              </a:rPr>
              <a:t>documentados</a:t>
            </a:r>
            <a:r>
              <a:rPr sz="2400" dirty="0">
                <a:solidFill>
                  <a:srgbClr val="64748B"/>
                </a:solidFill>
                <a:latin typeface="Plus Jakarta Sans"/>
              </a:rPr>
              <a:t> para </a:t>
            </a:r>
            <a:r>
              <a:rPr sz="2400" dirty="0" err="1">
                <a:solidFill>
                  <a:srgbClr val="64748B"/>
                </a:solidFill>
                <a:latin typeface="Plus Jakarta Sans"/>
              </a:rPr>
              <a:t>agilizar</a:t>
            </a:r>
            <a:r>
              <a:rPr sz="2400" dirty="0">
                <a:solidFill>
                  <a:srgbClr val="64748B"/>
                </a:solidFill>
                <a:latin typeface="Plus Jakarta Sans"/>
              </a:rPr>
              <a:t> el </a:t>
            </a:r>
            <a:r>
              <a:rPr sz="2400" dirty="0" err="1">
                <a:solidFill>
                  <a:srgbClr val="64748B"/>
                </a:solidFill>
                <a:latin typeface="Plus Jakarta Sans"/>
              </a:rPr>
              <a:t>diseño</a:t>
            </a:r>
            <a:r>
              <a:rPr sz="2400" dirty="0">
                <a:solidFill>
                  <a:srgbClr val="64748B"/>
                </a:solidFill>
                <a:latin typeface="Plus Jakarta Sans"/>
              </a:rPr>
              <a:t> de </a:t>
            </a:r>
            <a:r>
              <a:rPr sz="2400" dirty="0" err="1">
                <a:solidFill>
                  <a:srgbClr val="64748B"/>
                </a:solidFill>
                <a:latin typeface="Plus Jakarta Sans"/>
              </a:rPr>
              <a:t>clases</a:t>
            </a:r>
            <a:r>
              <a:rPr sz="2400" dirty="0">
                <a:solidFill>
                  <a:srgbClr val="64748B"/>
                </a:solidFill>
                <a:latin typeface="Plus Jakarta Sans"/>
              </a:rPr>
              <a:t>.</a:t>
            </a:r>
          </a:p>
        </p:txBody>
      </p:sp>
      <p:sp>
        <p:nvSpPr>
          <p:cNvPr id="25" name="TextBox 24"/>
          <p:cNvSpPr txBox="1"/>
          <p:nvPr/>
        </p:nvSpPr>
        <p:spPr>
          <a:xfrm>
            <a:off x="551061" y="1637376"/>
            <a:ext cx="403957" cy="173124"/>
          </a:xfrm>
          <a:prstGeom prst="rect">
            <a:avLst/>
          </a:prstGeom>
          <a:noFill/>
        </p:spPr>
        <p:txBody>
          <a:bodyPr wrap="none" lIns="0" tIns="0" rIns="0" bIns="0" anchor="t">
            <a:spAutoFit/>
          </a:bodyPr>
          <a:lstStyle/>
          <a:p>
            <a:pPr algn="l"/>
            <a:r>
              <a:rPr sz="1125" b="1" dirty="0">
                <a:solidFill>
                  <a:srgbClr val="0F172A"/>
                </a:solidFill>
                <a:latin typeface="Plus Jakarta Sans"/>
              </a:rPr>
              <a:t>Dinero</a:t>
            </a:r>
          </a:p>
        </p:txBody>
      </p:sp>
      <p:sp>
        <p:nvSpPr>
          <p:cNvPr id="26" name="TextBox 25"/>
          <p:cNvSpPr txBox="1"/>
          <p:nvPr/>
        </p:nvSpPr>
        <p:spPr>
          <a:xfrm>
            <a:off x="551061" y="1844544"/>
            <a:ext cx="2078831" cy="463588"/>
          </a:xfrm>
          <a:prstGeom prst="rect">
            <a:avLst/>
          </a:prstGeom>
          <a:noFill/>
        </p:spPr>
        <p:txBody>
          <a:bodyPr wrap="square" lIns="0" tIns="0" rIns="0" bIns="0" anchor="t">
            <a:spAutoFit/>
          </a:bodyPr>
          <a:lstStyle/>
          <a:p>
            <a:pPr>
              <a:lnSpc>
                <a:spcPts val="1215"/>
              </a:lnSpc>
            </a:pPr>
            <a:r>
              <a:rPr lang="es-ES" sz="1050" b="0" i="0" dirty="0">
                <a:solidFill>
                  <a:srgbClr val="334155"/>
                </a:solidFill>
                <a:effectLst/>
                <a:latin typeface="Plus Jakarta Sans"/>
              </a:rPr>
              <a:t>Entero de pesos, no </a:t>
            </a:r>
            <a:r>
              <a:rPr lang="es-ES" sz="1050" b="0" i="1" dirty="0" err="1">
                <a:solidFill>
                  <a:srgbClr val="334155"/>
                </a:solidFill>
                <a:effectLst/>
                <a:latin typeface="Plus Jakarta Sans"/>
              </a:rPr>
              <a:t>double</a:t>
            </a:r>
            <a:r>
              <a:rPr lang="es-ES" sz="1050" b="0" i="0" dirty="0">
                <a:solidFill>
                  <a:srgbClr val="334155"/>
                </a:solidFill>
                <a:effectLst/>
                <a:latin typeface="Plus Jakarta Sans"/>
              </a:rPr>
              <a:t>. Evita descubrir en producción que un total acumulado dio </a:t>
            </a:r>
            <a:r>
              <a:rPr lang="es-ES" sz="1050" b="0" i="0" dirty="0">
                <a:solidFill>
                  <a:srgbClr val="334155"/>
                </a:solidFill>
                <a:effectLst/>
                <a:latin typeface="Courier New" panose="02070309020205020404" pitchFamily="49" charset="0"/>
              </a:rPr>
              <a:t>24.999,9999</a:t>
            </a:r>
            <a:r>
              <a:rPr lang="es-ES" sz="1050" b="0" i="0" dirty="0">
                <a:solidFill>
                  <a:srgbClr val="334155"/>
                </a:solidFill>
                <a:effectLst/>
                <a:latin typeface="Plus Jakarta Sans"/>
              </a:rPr>
              <a:t>.</a:t>
            </a:r>
            <a:endParaRPr sz="1013" dirty="0">
              <a:solidFill>
                <a:srgbClr val="475569"/>
              </a:solidFill>
              <a:latin typeface="Plus Jakarta Sans"/>
            </a:endParaRPr>
          </a:p>
        </p:txBody>
      </p:sp>
      <p:sp>
        <p:nvSpPr>
          <p:cNvPr id="27" name="TextBox 26"/>
          <p:cNvSpPr txBox="1"/>
          <p:nvPr/>
        </p:nvSpPr>
        <p:spPr>
          <a:xfrm>
            <a:off x="3174372" y="1691553"/>
            <a:ext cx="847989" cy="173124"/>
          </a:xfrm>
          <a:prstGeom prst="rect">
            <a:avLst/>
          </a:prstGeom>
          <a:noFill/>
        </p:spPr>
        <p:txBody>
          <a:bodyPr wrap="square" lIns="0" tIns="0" rIns="0" bIns="0" anchor="t">
            <a:spAutoFit/>
          </a:bodyPr>
          <a:lstStyle/>
          <a:p>
            <a:pPr algn="l"/>
            <a:r>
              <a:rPr sz="1125" b="1">
                <a:solidFill>
                  <a:srgbClr val="0F172A"/>
                </a:solidFill>
                <a:latin typeface="Plus Jakarta Sans"/>
              </a:rPr>
              <a:t>Notificaciones</a:t>
            </a:r>
          </a:p>
        </p:txBody>
      </p:sp>
      <p:sp>
        <p:nvSpPr>
          <p:cNvPr id="28" name="TextBox 27"/>
          <p:cNvSpPr txBox="1"/>
          <p:nvPr/>
        </p:nvSpPr>
        <p:spPr>
          <a:xfrm>
            <a:off x="3174371" y="1898723"/>
            <a:ext cx="2371040" cy="461665"/>
          </a:xfrm>
          <a:prstGeom prst="rect">
            <a:avLst/>
          </a:prstGeom>
          <a:noFill/>
        </p:spPr>
        <p:txBody>
          <a:bodyPr wrap="square" lIns="0" tIns="0" rIns="0" bIns="0" anchor="t">
            <a:spAutoFit/>
          </a:bodyPr>
          <a:lstStyle/>
          <a:p>
            <a:pPr>
              <a:lnSpc>
                <a:spcPts val="1215"/>
              </a:lnSpc>
            </a:pPr>
            <a:r>
              <a:rPr lang="es-ES" sz="1013" dirty="0">
                <a:solidFill>
                  <a:srgbClr val="475569"/>
                </a:solidFill>
                <a:latin typeface="Plus Jakarta Sans"/>
              </a:rPr>
              <a:t>El núcleo entrega plantilla y mapa de datos. El motor queda libre para decidir canal y formato independientemente.</a:t>
            </a:r>
            <a:endParaRPr sz="1013" dirty="0">
              <a:solidFill>
                <a:srgbClr val="475569"/>
              </a:solidFill>
              <a:latin typeface="Plus Jakarta Sans"/>
            </a:endParaRPr>
          </a:p>
        </p:txBody>
      </p:sp>
      <p:sp>
        <p:nvSpPr>
          <p:cNvPr id="29" name="TextBox 28"/>
          <p:cNvSpPr txBox="1"/>
          <p:nvPr/>
        </p:nvSpPr>
        <p:spPr>
          <a:xfrm>
            <a:off x="6071149" y="1691552"/>
            <a:ext cx="327013" cy="173124"/>
          </a:xfrm>
          <a:prstGeom prst="rect">
            <a:avLst/>
          </a:prstGeom>
          <a:noFill/>
        </p:spPr>
        <p:txBody>
          <a:bodyPr wrap="none" lIns="0" tIns="0" rIns="0" bIns="0" anchor="t">
            <a:spAutoFit/>
          </a:bodyPr>
          <a:lstStyle/>
          <a:p>
            <a:pPr algn="l"/>
            <a:r>
              <a:rPr sz="1125" b="1">
                <a:solidFill>
                  <a:srgbClr val="0F172A"/>
                </a:solidFill>
                <a:latin typeface="Plus Jakarta Sans"/>
              </a:rPr>
              <a:t>Fotos</a:t>
            </a:r>
          </a:p>
        </p:txBody>
      </p:sp>
      <p:sp>
        <p:nvSpPr>
          <p:cNvPr id="30" name="TextBox 29"/>
          <p:cNvSpPr txBox="1"/>
          <p:nvPr/>
        </p:nvSpPr>
        <p:spPr>
          <a:xfrm>
            <a:off x="6071149" y="1898720"/>
            <a:ext cx="2438060" cy="461665"/>
          </a:xfrm>
          <a:prstGeom prst="rect">
            <a:avLst/>
          </a:prstGeom>
          <a:noFill/>
        </p:spPr>
        <p:txBody>
          <a:bodyPr wrap="square" lIns="0" tIns="0" rIns="0" bIns="0" anchor="t">
            <a:spAutoFit/>
          </a:bodyPr>
          <a:lstStyle/>
          <a:p>
            <a:pPr>
              <a:lnSpc>
                <a:spcPts val="1215"/>
              </a:lnSpc>
            </a:pPr>
            <a:r>
              <a:rPr lang="es-ES" sz="1013" dirty="0">
                <a:solidFill>
                  <a:srgbClr val="475569"/>
                </a:solidFill>
                <a:latin typeface="Plus Jakarta Sans"/>
              </a:rPr>
              <a:t>Flujo de datos (</a:t>
            </a:r>
            <a:r>
              <a:rPr lang="es-ES" sz="1013" dirty="0" err="1">
                <a:solidFill>
                  <a:srgbClr val="475569"/>
                </a:solidFill>
                <a:latin typeface="Plus Jakarta Sans"/>
              </a:rPr>
              <a:t>InputStream</a:t>
            </a:r>
            <a:r>
              <a:rPr lang="es-ES" sz="1013" dirty="0">
                <a:solidFill>
                  <a:srgbClr val="475569"/>
                </a:solidFill>
                <a:latin typeface="Plus Jakarta Sans"/>
              </a:rPr>
              <a:t>). No importa si las fotos residen en disco local o en un servicio externo.</a:t>
            </a:r>
            <a:endParaRPr sz="1013" dirty="0">
              <a:solidFill>
                <a:srgbClr val="475569"/>
              </a:solidFill>
              <a:latin typeface="Plus Jakarta Sans"/>
            </a:endParaRPr>
          </a:p>
        </p:txBody>
      </p:sp>
      <p:sp>
        <p:nvSpPr>
          <p:cNvPr id="31" name="TextBox 30"/>
          <p:cNvSpPr txBox="1"/>
          <p:nvPr/>
        </p:nvSpPr>
        <p:spPr>
          <a:xfrm>
            <a:off x="470449" y="3187126"/>
            <a:ext cx="578685" cy="173124"/>
          </a:xfrm>
          <a:prstGeom prst="rect">
            <a:avLst/>
          </a:prstGeom>
          <a:noFill/>
        </p:spPr>
        <p:txBody>
          <a:bodyPr wrap="none" lIns="0" tIns="0" rIns="0" bIns="0" anchor="t">
            <a:spAutoFit/>
          </a:bodyPr>
          <a:lstStyle/>
          <a:p>
            <a:pPr algn="l"/>
            <a:r>
              <a:rPr sz="1125" b="1" dirty="0" err="1">
                <a:solidFill>
                  <a:srgbClr val="0F172A"/>
                </a:solidFill>
                <a:latin typeface="Plus Jakarta Sans"/>
              </a:rPr>
              <a:t>Consultas</a:t>
            </a:r>
            <a:endParaRPr sz="1125" b="1" dirty="0">
              <a:solidFill>
                <a:srgbClr val="0F172A"/>
              </a:solidFill>
              <a:latin typeface="Plus Jakarta Sans"/>
            </a:endParaRPr>
          </a:p>
        </p:txBody>
      </p:sp>
      <p:sp>
        <p:nvSpPr>
          <p:cNvPr id="32" name="TextBox 31"/>
          <p:cNvSpPr txBox="1"/>
          <p:nvPr/>
        </p:nvSpPr>
        <p:spPr>
          <a:xfrm>
            <a:off x="470449" y="3394294"/>
            <a:ext cx="2335492" cy="461665"/>
          </a:xfrm>
          <a:prstGeom prst="rect">
            <a:avLst/>
          </a:prstGeom>
          <a:noFill/>
        </p:spPr>
        <p:txBody>
          <a:bodyPr wrap="square" lIns="0" tIns="0" rIns="0" bIns="0" anchor="t">
            <a:spAutoFit/>
          </a:bodyPr>
          <a:lstStyle/>
          <a:p>
            <a:pPr>
              <a:lnSpc>
                <a:spcPts val="1215"/>
              </a:lnSpc>
            </a:pPr>
            <a:r>
              <a:rPr lang="es-ES" sz="1013" dirty="0">
                <a:solidFill>
                  <a:srgbClr val="475569"/>
                </a:solidFill>
                <a:latin typeface="Plus Jakarta Sans"/>
              </a:rPr>
              <a:t>Se apoya directamente en lo que ya ofrece JDBC para no </a:t>
            </a:r>
            <a:r>
              <a:rPr lang="es-ES" sz="1013" dirty="0" err="1">
                <a:solidFill>
                  <a:srgbClr val="475569"/>
                </a:solidFill>
                <a:latin typeface="Plus Jakarta Sans"/>
              </a:rPr>
              <a:t>reimplementar</a:t>
            </a:r>
            <a:r>
              <a:rPr lang="es-ES" sz="1013" dirty="0">
                <a:solidFill>
                  <a:srgbClr val="475569"/>
                </a:solidFill>
                <a:latin typeface="Plus Jakarta Sans"/>
              </a:rPr>
              <a:t> lo que existe en la librería estándar.</a:t>
            </a:r>
            <a:endParaRPr sz="1013" dirty="0">
              <a:solidFill>
                <a:srgbClr val="475569"/>
              </a:solidFill>
              <a:latin typeface="Plus Jakarta Sans"/>
            </a:endParaRPr>
          </a:p>
        </p:txBody>
      </p:sp>
      <p:sp>
        <p:nvSpPr>
          <p:cNvPr id="33" name="TextBox 32"/>
          <p:cNvSpPr txBox="1"/>
          <p:nvPr/>
        </p:nvSpPr>
        <p:spPr>
          <a:xfrm>
            <a:off x="3270799" y="3109996"/>
            <a:ext cx="849592" cy="173124"/>
          </a:xfrm>
          <a:prstGeom prst="rect">
            <a:avLst/>
          </a:prstGeom>
          <a:noFill/>
        </p:spPr>
        <p:txBody>
          <a:bodyPr wrap="none" lIns="0" tIns="0" rIns="0" bIns="0" anchor="t">
            <a:spAutoFit/>
          </a:bodyPr>
          <a:lstStyle/>
          <a:p>
            <a:pPr algn="l"/>
            <a:r>
              <a:rPr sz="1125" b="1">
                <a:solidFill>
                  <a:srgbClr val="0F172A"/>
                </a:solidFill>
                <a:latin typeface="Plus Jakarta Sans"/>
              </a:rPr>
              <a:t>Estado Pedido</a:t>
            </a:r>
          </a:p>
        </p:txBody>
      </p:sp>
      <p:sp>
        <p:nvSpPr>
          <p:cNvPr id="34" name="TextBox 33"/>
          <p:cNvSpPr txBox="1"/>
          <p:nvPr/>
        </p:nvSpPr>
        <p:spPr>
          <a:xfrm>
            <a:off x="3270799" y="3317165"/>
            <a:ext cx="2244335" cy="461665"/>
          </a:xfrm>
          <a:prstGeom prst="rect">
            <a:avLst/>
          </a:prstGeom>
          <a:noFill/>
        </p:spPr>
        <p:txBody>
          <a:bodyPr wrap="square" lIns="0" tIns="0" rIns="0" bIns="0" anchor="t">
            <a:spAutoFit/>
          </a:bodyPr>
          <a:lstStyle/>
          <a:p>
            <a:pPr>
              <a:lnSpc>
                <a:spcPts val="1215"/>
              </a:lnSpc>
            </a:pPr>
            <a:r>
              <a:rPr lang="es-ES" sz="1013" dirty="0">
                <a:solidFill>
                  <a:srgbClr val="475569"/>
                </a:solidFill>
                <a:latin typeface="Plus Jakarta Sans"/>
              </a:rPr>
              <a:t>Enumeración con transiciones explícitas, no String. Evita errores en código como escribir "en </a:t>
            </a:r>
            <a:r>
              <a:rPr lang="es-ES" sz="1013" dirty="0" err="1">
                <a:solidFill>
                  <a:srgbClr val="475569"/>
                </a:solidFill>
                <a:latin typeface="Plus Jakarta Sans"/>
              </a:rPr>
              <a:t>camimo</a:t>
            </a:r>
            <a:r>
              <a:rPr lang="es-ES" sz="1013" dirty="0">
                <a:solidFill>
                  <a:srgbClr val="475569"/>
                </a:solidFill>
                <a:latin typeface="Plus Jakarta Sans"/>
              </a:rPr>
              <a:t>".</a:t>
            </a:r>
            <a:endParaRPr sz="1013" dirty="0">
              <a:solidFill>
                <a:srgbClr val="475569"/>
              </a:solidFill>
              <a:latin typeface="Plus Jakarta Sans"/>
            </a:endParaRPr>
          </a:p>
        </p:txBody>
      </p:sp>
      <p:sp>
        <p:nvSpPr>
          <p:cNvPr id="35" name="TextBox 34"/>
          <p:cNvSpPr txBox="1"/>
          <p:nvPr/>
        </p:nvSpPr>
        <p:spPr>
          <a:xfrm>
            <a:off x="6071149" y="3187126"/>
            <a:ext cx="464871" cy="173124"/>
          </a:xfrm>
          <a:prstGeom prst="rect">
            <a:avLst/>
          </a:prstGeom>
          <a:noFill/>
        </p:spPr>
        <p:txBody>
          <a:bodyPr wrap="none" lIns="0" tIns="0" rIns="0" bIns="0" anchor="t">
            <a:spAutoFit/>
          </a:bodyPr>
          <a:lstStyle/>
          <a:p>
            <a:pPr algn="l"/>
            <a:r>
              <a:rPr sz="1125" b="1">
                <a:solidFill>
                  <a:srgbClr val="0F172A"/>
                </a:solidFill>
                <a:latin typeface="Plus Jakarta Sans"/>
              </a:rPr>
              <a:t>Alcance</a:t>
            </a:r>
          </a:p>
        </p:txBody>
      </p:sp>
      <p:sp>
        <p:nvSpPr>
          <p:cNvPr id="36" name="TextBox 35"/>
          <p:cNvSpPr txBox="1"/>
          <p:nvPr/>
        </p:nvSpPr>
        <p:spPr>
          <a:xfrm>
            <a:off x="6071150" y="3394295"/>
            <a:ext cx="2385808" cy="461665"/>
          </a:xfrm>
          <a:prstGeom prst="rect">
            <a:avLst/>
          </a:prstGeom>
          <a:noFill/>
        </p:spPr>
        <p:txBody>
          <a:bodyPr wrap="square" lIns="0" tIns="0" rIns="0" bIns="0" anchor="t">
            <a:spAutoFit/>
          </a:bodyPr>
          <a:lstStyle/>
          <a:p>
            <a:pPr>
              <a:lnSpc>
                <a:spcPts val="1215"/>
              </a:lnSpc>
            </a:pPr>
            <a:r>
              <a:rPr lang="es-ES" sz="1013" dirty="0">
                <a:solidFill>
                  <a:srgbClr val="475569"/>
                </a:solidFill>
                <a:latin typeface="Plus Jakarta Sans"/>
              </a:rPr>
              <a:t>Un pedido pertenece a un solo restaurante. Cuando toque soportar varios por pedido, sabremos que debemos volver aquí.</a:t>
            </a:r>
            <a:endParaRPr sz="1013" dirty="0">
              <a:solidFill>
                <a:srgbClr val="475569"/>
              </a:solidFill>
              <a:latin typeface="Plus Jakarta Sans"/>
            </a:endParaRPr>
          </a:p>
        </p:txBody>
      </p:sp>
      <p:pic>
        <p:nvPicPr>
          <p:cNvPr id="37" name="Imagen 36" descr="Dinero - Iconos gratis de negocios y finanzas">
            <a:extLst>
              <a:ext uri="{FF2B5EF4-FFF2-40B4-BE49-F238E27FC236}">
                <a16:creationId xmlns:a16="http://schemas.microsoft.com/office/drawing/2014/main" id="{C59E3A81-DE41-2B36-8B63-33B5F4290B6A}"/>
              </a:ext>
            </a:extLst>
          </p:cNvPr>
          <p:cNvPicPr>
            <a:picLocks noChangeAspect="1"/>
          </p:cNvPicPr>
          <p:nvPr/>
        </p:nvPicPr>
        <p:blipFill>
          <a:blip r:embed="rId3"/>
          <a:stretch>
            <a:fillRect/>
          </a:stretch>
        </p:blipFill>
        <p:spPr>
          <a:xfrm>
            <a:off x="958283" y="920493"/>
            <a:ext cx="1060670" cy="1060670"/>
          </a:xfrm>
          <a:prstGeom prst="rect">
            <a:avLst/>
          </a:prstGeom>
        </p:spPr>
      </p:pic>
      <p:pic>
        <p:nvPicPr>
          <p:cNvPr id="38" name="Imagen 37" descr="Notificaciones - Iconos gratis de comunicaciones">
            <a:extLst>
              <a:ext uri="{FF2B5EF4-FFF2-40B4-BE49-F238E27FC236}">
                <a16:creationId xmlns:a16="http://schemas.microsoft.com/office/drawing/2014/main" id="{F5B20092-3935-ABFF-0C78-4CAFCE89963B}"/>
              </a:ext>
            </a:extLst>
          </p:cNvPr>
          <p:cNvPicPr>
            <a:picLocks noChangeAspect="1"/>
          </p:cNvPicPr>
          <p:nvPr/>
        </p:nvPicPr>
        <p:blipFill>
          <a:blip r:embed="rId4"/>
          <a:stretch>
            <a:fillRect/>
          </a:stretch>
        </p:blipFill>
        <p:spPr>
          <a:xfrm>
            <a:off x="4056798" y="1073399"/>
            <a:ext cx="754858" cy="754858"/>
          </a:xfrm>
          <a:prstGeom prst="rect">
            <a:avLst/>
          </a:prstGeom>
        </p:spPr>
      </p:pic>
      <p:pic>
        <p:nvPicPr>
          <p:cNvPr id="39" name="Imagen 38" descr="Galería de imágenes - Iconos gratis de interfaz">
            <a:extLst>
              <a:ext uri="{FF2B5EF4-FFF2-40B4-BE49-F238E27FC236}">
                <a16:creationId xmlns:a16="http://schemas.microsoft.com/office/drawing/2014/main" id="{ABA4D547-A49E-DDB7-9821-6F4074CF2121}"/>
              </a:ext>
            </a:extLst>
          </p:cNvPr>
          <p:cNvPicPr>
            <a:picLocks noChangeAspect="1"/>
          </p:cNvPicPr>
          <p:nvPr/>
        </p:nvPicPr>
        <p:blipFill>
          <a:blip r:embed="rId5"/>
          <a:stretch>
            <a:fillRect/>
          </a:stretch>
        </p:blipFill>
        <p:spPr>
          <a:xfrm>
            <a:off x="6686036" y="1079788"/>
            <a:ext cx="853832" cy="853832"/>
          </a:xfrm>
          <a:prstGeom prst="rect">
            <a:avLst/>
          </a:prstGeom>
        </p:spPr>
      </p:pic>
      <p:pic>
        <p:nvPicPr>
          <p:cNvPr id="40" name="Imagen 39" descr="Consulta - Iconos gratis de redes">
            <a:extLst>
              <a:ext uri="{FF2B5EF4-FFF2-40B4-BE49-F238E27FC236}">
                <a16:creationId xmlns:a16="http://schemas.microsoft.com/office/drawing/2014/main" id="{A3366F41-0B3D-0E02-7C83-2366967B20AE}"/>
              </a:ext>
            </a:extLst>
          </p:cNvPr>
          <p:cNvPicPr>
            <a:picLocks noChangeAspect="1"/>
          </p:cNvPicPr>
          <p:nvPr/>
        </p:nvPicPr>
        <p:blipFill>
          <a:blip r:embed="rId6"/>
          <a:stretch>
            <a:fillRect/>
          </a:stretch>
        </p:blipFill>
        <p:spPr>
          <a:xfrm>
            <a:off x="1102422" y="2605516"/>
            <a:ext cx="740945" cy="740945"/>
          </a:xfrm>
          <a:prstGeom prst="rect">
            <a:avLst/>
          </a:prstGeom>
        </p:spPr>
      </p:pic>
      <p:pic>
        <p:nvPicPr>
          <p:cNvPr id="41" name="Imagen 40" descr="Semáforos - Iconos gratis de transporte">
            <a:extLst>
              <a:ext uri="{FF2B5EF4-FFF2-40B4-BE49-F238E27FC236}">
                <a16:creationId xmlns:a16="http://schemas.microsoft.com/office/drawing/2014/main" id="{966C3A8B-F0BC-6AAB-6BB0-DEE32CDBFC81}"/>
              </a:ext>
            </a:extLst>
          </p:cNvPr>
          <p:cNvPicPr>
            <a:picLocks noChangeAspect="1"/>
          </p:cNvPicPr>
          <p:nvPr/>
        </p:nvPicPr>
        <p:blipFill>
          <a:blip r:embed="rId7"/>
          <a:stretch>
            <a:fillRect/>
          </a:stretch>
        </p:blipFill>
        <p:spPr>
          <a:xfrm>
            <a:off x="4062866" y="2704084"/>
            <a:ext cx="538844" cy="538844"/>
          </a:xfrm>
          <a:prstGeom prst="rect">
            <a:avLst/>
          </a:prstGeom>
        </p:spPr>
      </p:pic>
      <p:pic>
        <p:nvPicPr>
          <p:cNvPr id="43" name="Imagen 42" descr="Tienda - Iconos gratis de comercio">
            <a:extLst>
              <a:ext uri="{FF2B5EF4-FFF2-40B4-BE49-F238E27FC236}">
                <a16:creationId xmlns:a16="http://schemas.microsoft.com/office/drawing/2014/main" id="{98E517D4-BAD4-CE3C-F16E-726C31263DF1}"/>
              </a:ext>
            </a:extLst>
          </p:cNvPr>
          <p:cNvPicPr>
            <a:picLocks noChangeAspect="1"/>
          </p:cNvPicPr>
          <p:nvPr/>
        </p:nvPicPr>
        <p:blipFill>
          <a:blip r:embed="rId8"/>
          <a:stretch>
            <a:fillRect/>
          </a:stretch>
        </p:blipFill>
        <p:spPr>
          <a:xfrm>
            <a:off x="6813045" y="2556436"/>
            <a:ext cx="837859" cy="837859"/>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04800"/>
            <a:ext cx="8394192" cy="312837"/>
          </a:xfrm>
          <a:prstGeom prst="rect">
            <a:avLst/>
          </a:prstGeom>
          <a:noFill/>
          <a:ln/>
        </p:spPr>
        <p:txBody>
          <a:bodyPr wrap="square" lIns="0" tIns="0" rIns="0" bIns="0" rtlCol="0" anchor="t"/>
          <a:lstStyle/>
          <a:p>
            <a:pPr marL="0" indent="0" algn="l">
              <a:lnSpc>
                <a:spcPts val="2464"/>
              </a:lnSpc>
              <a:spcBef>
                <a:spcPts val="2400"/>
              </a:spcBef>
              <a:buNone/>
            </a:pPr>
            <a:r>
              <a:rPr lang="en-US" sz="2200" b="1" dirty="0">
                <a:solidFill>
                  <a:srgbClr val="111111"/>
                </a:solidFill>
                <a:latin typeface="Helvetica" pitchFamily="34" charset="0"/>
                <a:ea typeface="Helvetica" pitchFamily="34" charset="-122"/>
                <a:cs typeface="Helvetica" pitchFamily="34" charset="-120"/>
              </a:rPr>
              <a:t>Clases del Núcleo de Pedidos</a:t>
            </a:r>
            <a:endParaRPr lang="en-US" sz="2200" dirty="0"/>
          </a:p>
        </p:txBody>
      </p:sp>
      <p:sp>
        <p:nvSpPr>
          <p:cNvPr id="3" name="Text 1"/>
          <p:cNvSpPr/>
          <p:nvPr/>
        </p:nvSpPr>
        <p:spPr>
          <a:xfrm>
            <a:off x="431750" y="693837"/>
            <a:ext cx="8445957" cy="156865"/>
          </a:xfrm>
          <a:prstGeom prst="rect">
            <a:avLst/>
          </a:prstGeom>
          <a:noFill/>
          <a:ln/>
        </p:spPr>
        <p:txBody>
          <a:bodyPr wrap="square" lIns="0" tIns="0" rIns="0" bIns="0" rtlCol="0" anchor="t"/>
          <a:lstStyle/>
          <a:p>
            <a:pPr marL="0" indent="0" algn="l">
              <a:lnSpc>
                <a:spcPts val="1235"/>
              </a:lnSpc>
              <a:spcAft>
                <a:spcPts val="500"/>
              </a:spcAft>
              <a:buNone/>
            </a:pPr>
            <a:r>
              <a:rPr lang="en-US" sz="950" dirty="0">
                <a:solidFill>
                  <a:srgbClr val="5E5E5E"/>
                </a:solidFill>
                <a:latin typeface="Helvetica" pitchFamily="34" charset="0"/>
                <a:ea typeface="Helvetica" pitchFamily="34" charset="-122"/>
                <a:cs typeface="Helvetica" pitchFamily="34" charset="-120"/>
              </a:rPr>
              <a:t>Los cinco componentes de larga vida y quién los sostiene. Cada uno existe una sola vez mientras el sistema esté arriba.</a:t>
            </a:r>
            <a:endParaRPr lang="en-US" sz="950" dirty="0"/>
          </a:p>
        </p:txBody>
      </p:sp>
      <p:pic>
        <p:nvPicPr>
          <p:cNvPr id="4" name="Image 0" descr="/home/claude/work/build/img/clases_nucleo.png"/>
          <p:cNvPicPr>
            <a:picLocks noChangeAspect="1"/>
          </p:cNvPicPr>
          <p:nvPr/>
        </p:nvPicPr>
        <p:blipFill>
          <a:blip r:embed="rId3"/>
          <a:stretch>
            <a:fillRect/>
          </a:stretch>
        </p:blipFill>
        <p:spPr>
          <a:xfrm>
            <a:off x="634901" y="914102"/>
            <a:ext cx="7873901" cy="2806601"/>
          </a:xfrm>
          <a:prstGeom prst="rect">
            <a:avLst/>
          </a:prstGeom>
        </p:spPr>
      </p:pic>
      <p:sp>
        <p:nvSpPr>
          <p:cNvPr id="5" name="Text 2"/>
          <p:cNvSpPr/>
          <p:nvPr/>
        </p:nvSpPr>
        <p:spPr>
          <a:xfrm>
            <a:off x="431750" y="3822204"/>
            <a:ext cx="8445957" cy="329803"/>
          </a:xfrm>
          <a:prstGeom prst="rect">
            <a:avLst/>
          </a:prstGeom>
          <a:noFill/>
          <a:ln/>
        </p:spPr>
        <p:txBody>
          <a:bodyPr wrap="square" lIns="0" tIns="0" rIns="0" bIns="0" rtlCol="0" anchor="t"/>
          <a:lstStyle/>
          <a:p>
            <a:pPr marL="0" indent="0" algn="l">
              <a:lnSpc>
                <a:spcPts val="1300"/>
              </a:lnSpc>
              <a:spcBef>
                <a:spcPts val="800"/>
              </a:spcBef>
              <a:spcAft>
                <a:spcPts val="700"/>
              </a:spcAft>
              <a:buNone/>
            </a:pPr>
            <a:r>
              <a:rPr lang="en-US" sz="1000" dirty="0">
                <a:solidFill>
                  <a:srgbClr val="4A4A4A"/>
                </a:solidFill>
                <a:latin typeface="Helvetica" pitchFamily="34" charset="0"/>
                <a:ea typeface="Helvetica" pitchFamily="34" charset="-122"/>
                <a:cs typeface="Helvetica" pitchFamily="34" charset="-120"/>
              </a:rPr>
              <a:t>El Núcleo de Pedidos </a:t>
            </a:r>
            <a:r>
              <a:rPr lang="en-US" sz="1000" b="1" dirty="0">
                <a:solidFill>
                  <a:srgbClr val="4A4A4A"/>
                </a:solidFill>
                <a:latin typeface="Helvetica" pitchFamily="34" charset="0"/>
                <a:ea typeface="Helvetica" pitchFamily="34" charset="-122"/>
                <a:cs typeface="Helvetica" pitchFamily="34" charset="-120"/>
              </a:rPr>
              <a:t>no</a:t>
            </a:r>
            <a:r>
              <a:rPr lang="en-US" sz="1000" dirty="0">
                <a:solidFill>
                  <a:srgbClr val="4A4A4A"/>
                </a:solidFill>
                <a:latin typeface="Helvetica" pitchFamily="34" charset="0"/>
                <a:ea typeface="Helvetica" pitchFamily="34" charset="-122"/>
                <a:cs typeface="Helvetica" pitchFamily="34" charset="-120"/>
              </a:rPr>
              <a:t> es un objeto global al que todo el mundo le pregunta: es el que arma las piezas y se las entrega a quien las necesita. La diferencia entre esas dos cosas es el tema de la última diapositiva del deck de aspectos metodológicos.</a:t>
            </a:r>
            <a:endParaRPr lang="en-US" sz="1000" dirty="0"/>
          </a:p>
        </p:txBody>
      </p:sp>
      <p:sp>
        <p:nvSpPr>
          <p:cNvPr id="6" name="Text 3"/>
          <p:cNvSpPr/>
          <p:nvPr/>
        </p:nvSpPr>
        <p:spPr>
          <a:xfrm>
            <a:off x="8737402" y="4842570"/>
            <a:ext cx="129793" cy="148530"/>
          </a:xfrm>
          <a:prstGeom prst="rect">
            <a:avLst/>
          </a:prstGeom>
          <a:noFill/>
          <a:ln/>
        </p:spPr>
        <p:txBody>
          <a:bodyPr wrap="square" lIns="0" tIns="0" rIns="0" bIns="0" rtlCol="0" anchor="t"/>
          <a:lstStyle/>
          <a:p>
            <a:pPr marL="0" indent="0" algn="l">
              <a:lnSpc>
                <a:spcPts val="1170"/>
              </a:lnSpc>
              <a:buNone/>
            </a:pPr>
            <a:r>
              <a:rPr lang="en-US" sz="900" dirty="0">
                <a:solidFill>
                  <a:srgbClr val="9A9A9A"/>
                </a:solidFill>
                <a:latin typeface="Helvetica" pitchFamily="34" charset="0"/>
                <a:ea typeface="Helvetica" pitchFamily="34" charset="-122"/>
                <a:cs typeface="Helvetica" pitchFamily="34" charset="-120"/>
              </a:rPr>
              <a:t>30</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04800"/>
            <a:ext cx="8394192" cy="312837"/>
          </a:xfrm>
          <a:prstGeom prst="rect">
            <a:avLst/>
          </a:prstGeom>
          <a:noFill/>
          <a:ln/>
        </p:spPr>
        <p:txBody>
          <a:bodyPr wrap="square" lIns="0" tIns="0" rIns="0" bIns="0" rtlCol="0" anchor="t"/>
          <a:lstStyle/>
          <a:p>
            <a:pPr marL="0" indent="0" algn="l">
              <a:lnSpc>
                <a:spcPts val="2464"/>
              </a:lnSpc>
              <a:spcBef>
                <a:spcPts val="2400"/>
              </a:spcBef>
              <a:buNone/>
            </a:pPr>
            <a:r>
              <a:rPr lang="en-US" sz="2200" b="1" dirty="0">
                <a:solidFill>
                  <a:srgbClr val="111111"/>
                </a:solidFill>
                <a:latin typeface="Helvetica" pitchFamily="34" charset="0"/>
                <a:ea typeface="Helvetica" pitchFamily="34" charset="-122"/>
                <a:cs typeface="Helvetica" pitchFamily="34" charset="-120"/>
              </a:rPr>
              <a:t>El carrito, en detalle</a:t>
            </a:r>
            <a:endParaRPr lang="en-US" sz="2200" dirty="0"/>
          </a:p>
        </p:txBody>
      </p:sp>
      <p:sp>
        <p:nvSpPr>
          <p:cNvPr id="3" name="Text 1"/>
          <p:cNvSpPr/>
          <p:nvPr/>
        </p:nvSpPr>
        <p:spPr>
          <a:xfrm>
            <a:off x="431750" y="693837"/>
            <a:ext cx="8445957" cy="156865"/>
          </a:xfrm>
          <a:prstGeom prst="rect">
            <a:avLst/>
          </a:prstGeom>
          <a:noFill/>
          <a:ln/>
        </p:spPr>
        <p:txBody>
          <a:bodyPr wrap="square" lIns="0" tIns="0" rIns="0" bIns="0" rtlCol="0" anchor="t"/>
          <a:lstStyle/>
          <a:p>
            <a:pPr marL="0" indent="0" algn="l">
              <a:lnSpc>
                <a:spcPts val="1235"/>
              </a:lnSpc>
              <a:spcAft>
                <a:spcPts val="500"/>
              </a:spcAft>
              <a:buNone/>
            </a:pPr>
            <a:r>
              <a:rPr lang="en-US" sz="950" dirty="0">
                <a:solidFill>
                  <a:srgbClr val="5E5E5E"/>
                </a:solidFill>
                <a:latin typeface="Helvetica" pitchFamily="34" charset="0"/>
                <a:ea typeface="Helvetica" pitchFamily="34" charset="-122"/>
                <a:cs typeface="Helvetica" pitchFamily="34" charset="-120"/>
              </a:rPr>
              <a:t>Un ejemplo del nivel más bajo del diseño: aquí ya hablamos de atributos, métodos y asociaciones.</a:t>
            </a:r>
            <a:endParaRPr lang="en-US" sz="950" dirty="0"/>
          </a:p>
        </p:txBody>
      </p:sp>
      <p:pic>
        <p:nvPicPr>
          <p:cNvPr id="4" name="Image 0" descr="/home/claude/work/build/img/clases_carrito.png"/>
          <p:cNvPicPr>
            <a:picLocks noChangeAspect="1"/>
          </p:cNvPicPr>
          <p:nvPr/>
        </p:nvPicPr>
        <p:blipFill>
          <a:blip r:embed="rId3"/>
          <a:stretch>
            <a:fillRect/>
          </a:stretch>
        </p:blipFill>
        <p:spPr>
          <a:xfrm>
            <a:off x="634901" y="914102"/>
            <a:ext cx="7873901" cy="2806601"/>
          </a:xfrm>
          <a:prstGeom prst="rect">
            <a:avLst/>
          </a:prstGeom>
        </p:spPr>
      </p:pic>
      <p:sp>
        <p:nvSpPr>
          <p:cNvPr id="5" name="Text 2"/>
          <p:cNvSpPr/>
          <p:nvPr/>
        </p:nvSpPr>
        <p:spPr>
          <a:xfrm>
            <a:off x="431750" y="3822204"/>
            <a:ext cx="8445957" cy="494705"/>
          </a:xfrm>
          <a:prstGeom prst="rect">
            <a:avLst/>
          </a:prstGeom>
          <a:noFill/>
          <a:ln/>
        </p:spPr>
        <p:txBody>
          <a:bodyPr wrap="square" lIns="0" tIns="0" rIns="0" bIns="0" rtlCol="0" anchor="t"/>
          <a:lstStyle/>
          <a:p>
            <a:pPr marL="0" indent="0" algn="l">
              <a:lnSpc>
                <a:spcPts val="1300"/>
              </a:lnSpc>
              <a:spcBef>
                <a:spcPts val="800"/>
              </a:spcBef>
              <a:spcAft>
                <a:spcPts val="700"/>
              </a:spcAft>
              <a:buNone/>
            </a:pPr>
            <a:r>
              <a:rPr lang="en-US" sz="1000" dirty="0">
                <a:solidFill>
                  <a:srgbClr val="4A4A4A"/>
                </a:solidFill>
                <a:latin typeface="Helvetica" pitchFamily="34" charset="0"/>
                <a:ea typeface="Helvetica" pitchFamily="34" charset="-122"/>
                <a:cs typeface="Helvetica" pitchFamily="34" charset="-120"/>
              </a:rPr>
              <a:t>Tres decisiones visibles en este diagrama: el </a:t>
            </a:r>
            <a:r>
              <a:rPr lang="en-US" sz="1000" b="1" dirty="0">
                <a:solidFill>
                  <a:srgbClr val="4A4A4A"/>
                </a:solidFill>
                <a:latin typeface="Helvetica" pitchFamily="34" charset="0"/>
                <a:ea typeface="Helvetica" pitchFamily="34" charset="-122"/>
                <a:cs typeface="Helvetica" pitchFamily="34" charset="-120"/>
              </a:rPr>
              <a:t>Item Carrito</a:t>
            </a:r>
            <a:r>
              <a:rPr lang="en-US" sz="1000" dirty="0">
                <a:solidFill>
                  <a:srgbClr val="4A4A4A"/>
                </a:solidFill>
                <a:latin typeface="Helvetica" pitchFamily="34" charset="0"/>
                <a:ea typeface="Helvetica" pitchFamily="34" charset="-122"/>
                <a:cs typeface="Helvetica" pitchFamily="34" charset="-120"/>
              </a:rPr>
              <a:t> existe porque un mismo plato puede aparecer dos veces con notas distintas; el Carrito guarda una referencia al </a:t>
            </a:r>
            <a:r>
              <a:rPr lang="en-US" sz="1000" b="1" dirty="0">
                <a:solidFill>
                  <a:srgbClr val="4A4A4A"/>
                </a:solidFill>
                <a:latin typeface="Helvetica" pitchFamily="34" charset="0"/>
                <a:ea typeface="Helvetica" pitchFamily="34" charset="-122"/>
                <a:cs typeface="Helvetica" pitchFamily="34" charset="-120"/>
              </a:rPr>
              <a:t>Plato</a:t>
            </a:r>
            <a:r>
              <a:rPr lang="en-US" sz="1000" dirty="0">
                <a:solidFill>
                  <a:srgbClr val="4A4A4A"/>
                </a:solidFill>
                <a:latin typeface="Helvetica" pitchFamily="34" charset="0"/>
                <a:ea typeface="Helvetica" pitchFamily="34" charset="-122"/>
                <a:cs typeface="Helvetica" pitchFamily="34" charset="-120"/>
              </a:rPr>
              <a:t> y no una copia de su precio, para que un cambio de precio no pase desapercibido; y el Manejador de Carritos puede </a:t>
            </a:r>
            <a:r>
              <a:rPr lang="en-US" sz="1000" b="1" dirty="0">
                <a:solidFill>
                  <a:srgbClr val="4A4A4A"/>
                </a:solidFill>
                <a:latin typeface="Helvetica" pitchFamily="34" charset="0"/>
                <a:ea typeface="Helvetica" pitchFamily="34" charset="-122"/>
                <a:cs typeface="Helvetica" pitchFamily="34" charset="-120"/>
              </a:rPr>
              <a:t>expirar</a:t>
            </a:r>
            <a:r>
              <a:rPr lang="en-US" sz="1000" dirty="0">
                <a:solidFill>
                  <a:srgbClr val="4A4A4A"/>
                </a:solidFill>
                <a:latin typeface="Helvetica" pitchFamily="34" charset="0"/>
                <a:ea typeface="Helvetica" pitchFamily="34" charset="-122"/>
                <a:cs typeface="Helvetica" pitchFamily="34" charset="-120"/>
              </a:rPr>
              <a:t> los carritos inactivos, porque nadie más sabe cuál lleva tres días abandonado.</a:t>
            </a:r>
            <a:endParaRPr lang="en-US" sz="1000" dirty="0"/>
          </a:p>
        </p:txBody>
      </p:sp>
      <p:sp>
        <p:nvSpPr>
          <p:cNvPr id="6" name="Text 3"/>
          <p:cNvSpPr/>
          <p:nvPr/>
        </p:nvSpPr>
        <p:spPr>
          <a:xfrm>
            <a:off x="8737402" y="4842570"/>
            <a:ext cx="129793" cy="148530"/>
          </a:xfrm>
          <a:prstGeom prst="rect">
            <a:avLst/>
          </a:prstGeom>
          <a:noFill/>
          <a:ln/>
        </p:spPr>
        <p:txBody>
          <a:bodyPr wrap="square" lIns="0" tIns="0" rIns="0" bIns="0" rtlCol="0" anchor="t"/>
          <a:lstStyle/>
          <a:p>
            <a:pPr marL="0" indent="0" algn="l">
              <a:lnSpc>
                <a:spcPts val="1170"/>
              </a:lnSpc>
              <a:buNone/>
            </a:pPr>
            <a:r>
              <a:rPr lang="en-US" sz="900" dirty="0">
                <a:solidFill>
                  <a:srgbClr val="9A9A9A"/>
                </a:solidFill>
                <a:latin typeface="Helvetica" pitchFamily="34" charset="0"/>
                <a:ea typeface="Helvetica" pitchFamily="34" charset="-122"/>
                <a:cs typeface="Helvetica" pitchFamily="34" charset="-120"/>
              </a:rPr>
              <a:t>31</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04800"/>
            <a:ext cx="8394192" cy="312837"/>
          </a:xfrm>
          <a:prstGeom prst="rect">
            <a:avLst/>
          </a:prstGeom>
          <a:noFill/>
          <a:ln/>
        </p:spPr>
        <p:txBody>
          <a:bodyPr wrap="square" lIns="0" tIns="0" rIns="0" bIns="0" rtlCol="0" anchor="t"/>
          <a:lstStyle/>
          <a:p>
            <a:pPr marL="0" indent="0" algn="l">
              <a:lnSpc>
                <a:spcPts val="2464"/>
              </a:lnSpc>
              <a:spcBef>
                <a:spcPts val="2400"/>
              </a:spcBef>
              <a:buNone/>
            </a:pPr>
            <a:r>
              <a:rPr lang="en-US" sz="2200" b="1" dirty="0">
                <a:solidFill>
                  <a:srgbClr val="111111"/>
                </a:solidFill>
                <a:latin typeface="Helvetica" pitchFamily="34" charset="0"/>
                <a:ea typeface="Helvetica" pitchFamily="34" charset="-122"/>
                <a:cs typeface="Helvetica" pitchFamily="34" charset="-120"/>
              </a:rPr>
              <a:t>El estado de un Pedido</a:t>
            </a:r>
            <a:endParaRPr lang="en-US" sz="2200" dirty="0"/>
          </a:p>
        </p:txBody>
      </p:sp>
      <p:sp>
        <p:nvSpPr>
          <p:cNvPr id="3" name="Text 1"/>
          <p:cNvSpPr/>
          <p:nvPr/>
        </p:nvSpPr>
        <p:spPr>
          <a:xfrm>
            <a:off x="431750" y="693837"/>
            <a:ext cx="8445957" cy="156865"/>
          </a:xfrm>
          <a:prstGeom prst="rect">
            <a:avLst/>
          </a:prstGeom>
          <a:noFill/>
          <a:ln/>
        </p:spPr>
        <p:txBody>
          <a:bodyPr wrap="square" lIns="0" tIns="0" rIns="0" bIns="0" rtlCol="0" anchor="t"/>
          <a:lstStyle/>
          <a:p>
            <a:pPr marL="0" indent="0" algn="l">
              <a:lnSpc>
                <a:spcPts val="1235"/>
              </a:lnSpc>
              <a:spcAft>
                <a:spcPts val="500"/>
              </a:spcAft>
              <a:buNone/>
            </a:pPr>
            <a:r>
              <a:rPr lang="en-US" sz="950" dirty="0">
                <a:solidFill>
                  <a:srgbClr val="5E5E5E"/>
                </a:solidFill>
                <a:latin typeface="Helvetica" pitchFamily="34" charset="0"/>
                <a:ea typeface="Helvetica" pitchFamily="34" charset="-122"/>
                <a:cs typeface="Helvetica" pitchFamily="34" charset="-120"/>
              </a:rPr>
              <a:t>Cuando un elemento tiene estados y transiciones, vale la pena dibujarlos antes de escribir el primer </a:t>
            </a:r>
            <a:r>
              <a:rPr lang="en-US" sz="950" i="1" dirty="0">
                <a:solidFill>
                  <a:srgbClr val="5E5E5E"/>
                </a:solidFill>
                <a:latin typeface="Helvetica" pitchFamily="34" charset="0"/>
                <a:ea typeface="Helvetica" pitchFamily="34" charset="-122"/>
                <a:cs typeface="Helvetica" pitchFamily="34" charset="-120"/>
              </a:rPr>
              <a:t>if</a:t>
            </a:r>
            <a:r>
              <a:rPr lang="en-US" sz="950" dirty="0">
                <a:solidFill>
                  <a:srgbClr val="5E5E5E"/>
                </a:solidFill>
                <a:latin typeface="Helvetica" pitchFamily="34" charset="0"/>
                <a:ea typeface="Helvetica" pitchFamily="34" charset="-122"/>
                <a:cs typeface="Helvetica" pitchFamily="34" charset="-120"/>
              </a:rPr>
              <a:t>.</a:t>
            </a:r>
            <a:endParaRPr lang="en-US" sz="950" dirty="0"/>
          </a:p>
        </p:txBody>
      </p:sp>
      <p:pic>
        <p:nvPicPr>
          <p:cNvPr id="4" name="Image 0" descr="/home/claude/work/build/img/estados.png"/>
          <p:cNvPicPr>
            <a:picLocks noChangeAspect="1"/>
          </p:cNvPicPr>
          <p:nvPr/>
        </p:nvPicPr>
        <p:blipFill>
          <a:blip r:embed="rId3"/>
          <a:stretch>
            <a:fillRect/>
          </a:stretch>
        </p:blipFill>
        <p:spPr>
          <a:xfrm>
            <a:off x="507950" y="914102"/>
            <a:ext cx="8127950" cy="2743200"/>
          </a:xfrm>
          <a:prstGeom prst="rect">
            <a:avLst/>
          </a:prstGeom>
        </p:spPr>
      </p:pic>
      <p:sp>
        <p:nvSpPr>
          <p:cNvPr id="5" name="Text 2"/>
          <p:cNvSpPr/>
          <p:nvPr/>
        </p:nvSpPr>
        <p:spPr>
          <a:xfrm>
            <a:off x="431750" y="3758803"/>
            <a:ext cx="8445957" cy="494705"/>
          </a:xfrm>
          <a:prstGeom prst="rect">
            <a:avLst/>
          </a:prstGeom>
          <a:noFill/>
          <a:ln/>
        </p:spPr>
        <p:txBody>
          <a:bodyPr wrap="square" lIns="0" tIns="0" rIns="0" bIns="0" rtlCol="0" anchor="t"/>
          <a:lstStyle/>
          <a:p>
            <a:pPr marL="0" indent="0" algn="l">
              <a:lnSpc>
                <a:spcPts val="1300"/>
              </a:lnSpc>
              <a:spcBef>
                <a:spcPts val="800"/>
              </a:spcBef>
              <a:spcAft>
                <a:spcPts val="700"/>
              </a:spcAft>
              <a:buNone/>
            </a:pPr>
            <a:r>
              <a:rPr lang="en-US" sz="1000" dirty="0">
                <a:solidFill>
                  <a:srgbClr val="4A4A4A"/>
                </a:solidFill>
                <a:latin typeface="Helvetica" pitchFamily="34" charset="0"/>
                <a:ea typeface="Helvetica" pitchFamily="34" charset="-122"/>
                <a:cs typeface="Helvetica" pitchFamily="34" charset="-120"/>
              </a:rPr>
              <a:t>Este diagrama es una herramienta de asignación de responsabilidades: si el Pedido es el único que puede cambiar su estado, entonces el Despachador </a:t>
            </a:r>
            <a:r>
              <a:rPr lang="en-US" sz="1000" b="1" dirty="0">
                <a:solidFill>
                  <a:srgbClr val="4A4A4A"/>
                </a:solidFill>
                <a:latin typeface="Helvetica" pitchFamily="34" charset="0"/>
                <a:ea typeface="Helvetica" pitchFamily="34" charset="-122"/>
                <a:cs typeface="Helvetica" pitchFamily="34" charset="-120"/>
              </a:rPr>
              <a:t>no</a:t>
            </a:r>
            <a:r>
              <a:rPr lang="en-US" sz="1000" dirty="0">
                <a:solidFill>
                  <a:srgbClr val="4A4A4A"/>
                </a:solidFill>
                <a:latin typeface="Helvetica" pitchFamily="34" charset="0"/>
                <a:ea typeface="Helvetica" pitchFamily="34" charset="-122"/>
                <a:cs typeface="Helvetica" pitchFamily="34" charset="-120"/>
              </a:rPr>
              <a:t> puede marcarlo como EN_CAMINO por su cuenta, tiene que pedírselo. Y si alguien más lo necesitara, ya sabemos que es una señal de que las responsabilidades quedaron mal repartidas.</a:t>
            </a:r>
            <a:endParaRPr lang="en-US" sz="1000" dirty="0"/>
          </a:p>
        </p:txBody>
      </p:sp>
      <p:sp>
        <p:nvSpPr>
          <p:cNvPr id="6" name="Text 3"/>
          <p:cNvSpPr/>
          <p:nvPr/>
        </p:nvSpPr>
        <p:spPr>
          <a:xfrm>
            <a:off x="8737402" y="4842570"/>
            <a:ext cx="129793" cy="148530"/>
          </a:xfrm>
          <a:prstGeom prst="rect">
            <a:avLst/>
          </a:prstGeom>
          <a:noFill/>
          <a:ln/>
        </p:spPr>
        <p:txBody>
          <a:bodyPr wrap="square" lIns="0" tIns="0" rIns="0" bIns="0" rtlCol="0" anchor="t"/>
          <a:lstStyle/>
          <a:p>
            <a:pPr marL="0" indent="0" algn="l">
              <a:lnSpc>
                <a:spcPts val="1170"/>
              </a:lnSpc>
              <a:buNone/>
            </a:pPr>
            <a:r>
              <a:rPr lang="en-US" sz="900" dirty="0">
                <a:solidFill>
                  <a:srgbClr val="9A9A9A"/>
                </a:solidFill>
                <a:latin typeface="Helvetica" pitchFamily="34" charset="0"/>
                <a:ea typeface="Helvetica" pitchFamily="34" charset="-122"/>
                <a:cs typeface="Helvetica" pitchFamily="34" charset="-120"/>
              </a:rPr>
              <a:t>32</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04800"/>
            <a:ext cx="8394192" cy="270123"/>
          </a:xfrm>
          <a:prstGeom prst="rect">
            <a:avLst/>
          </a:prstGeom>
          <a:noFill/>
          <a:ln/>
        </p:spPr>
        <p:txBody>
          <a:bodyPr wrap="square" lIns="0" tIns="0" rIns="0" bIns="0" rtlCol="0" anchor="t"/>
          <a:lstStyle/>
          <a:p>
            <a:pPr marL="0" indent="0" algn="l">
              <a:lnSpc>
                <a:spcPts val="2128"/>
              </a:lnSpc>
              <a:spcBef>
                <a:spcPts val="2400"/>
              </a:spcBef>
              <a:buNone/>
            </a:pPr>
            <a:r>
              <a:rPr lang="en-US" sz="1900" b="1" dirty="0">
                <a:solidFill>
                  <a:srgbClr val="111111"/>
                </a:solidFill>
                <a:latin typeface="Helvetica" pitchFamily="34" charset="0"/>
                <a:ea typeface="Helvetica" pitchFamily="34" charset="-122"/>
                <a:cs typeface="Helvetica" pitchFamily="34" charset="-120"/>
              </a:rPr>
              <a:t>Componentes pendientes</a:t>
            </a:r>
            <a:endParaRPr lang="en-US" sz="1900" dirty="0"/>
          </a:p>
        </p:txBody>
      </p:sp>
      <p:sp>
        <p:nvSpPr>
          <p:cNvPr id="3" name="Text 1"/>
          <p:cNvSpPr/>
          <p:nvPr/>
        </p:nvSpPr>
        <p:spPr>
          <a:xfrm>
            <a:off x="431750" y="651123"/>
            <a:ext cx="8445957" cy="164902"/>
          </a:xfrm>
          <a:prstGeom prst="rect">
            <a:avLst/>
          </a:prstGeom>
          <a:noFill/>
          <a:ln/>
        </p:spPr>
        <p:txBody>
          <a:bodyPr wrap="square" lIns="0" tIns="0" rIns="0" bIns="0" rtlCol="0" anchor="t"/>
          <a:lstStyle/>
          <a:p>
            <a:pPr marL="0" indent="0" algn="l">
              <a:lnSpc>
                <a:spcPts val="1300"/>
              </a:lnSpc>
              <a:spcAft>
                <a:spcPts val="700"/>
              </a:spcAft>
              <a:buNone/>
            </a:pPr>
            <a:r>
              <a:rPr lang="en-US" sz="1000" dirty="0">
                <a:solidFill>
                  <a:srgbClr val="4A4A4A"/>
                </a:solidFill>
                <a:latin typeface="Helvetica" pitchFamily="34" charset="0"/>
                <a:ea typeface="Helvetica" pitchFamily="34" charset="-122"/>
                <a:cs typeface="Helvetica" pitchFamily="34" charset="-120"/>
              </a:rPr>
              <a:t>A esta altura ya tenemos bastante claridad sobre la estructura del Núcleo de Pedidos, pero falta diseñar el detalle de varios elementos:</a:t>
            </a:r>
            <a:endParaRPr lang="en-US" sz="1000" dirty="0"/>
          </a:p>
        </p:txBody>
      </p:sp>
      <p:sp>
        <p:nvSpPr>
          <p:cNvPr id="4" name="Text 2"/>
          <p:cNvSpPr/>
          <p:nvPr/>
        </p:nvSpPr>
        <p:spPr>
          <a:xfrm>
            <a:off x="622250" y="904875"/>
            <a:ext cx="8089850" cy="1705421"/>
          </a:xfrm>
          <a:prstGeom prst="rect">
            <a:avLst/>
          </a:prstGeom>
          <a:noFill/>
          <a:ln/>
        </p:spPr>
        <p:txBody>
          <a:bodyPr wrap="square" lIns="0" tIns="0" rIns="0" bIns="0" rtlCol="0" anchor="t"/>
          <a:lstStyle/>
          <a:p>
            <a:pPr marL="342900" indent="-342900" algn="l">
              <a:lnSpc>
                <a:spcPts val="1326"/>
              </a:lnSpc>
              <a:spcAft>
                <a:spcPts val="300"/>
              </a:spcAft>
              <a:buSzPct val="100000"/>
              <a:buChar char="•"/>
            </a:pPr>
            <a:r>
              <a:rPr lang="en-US" sz="1020" b="1" dirty="0">
                <a:solidFill>
                  <a:srgbClr val="111111"/>
                </a:solidFill>
                <a:latin typeface="Helvetica" pitchFamily="34" charset="0"/>
                <a:ea typeface="Helvetica" pitchFamily="34" charset="-122"/>
                <a:cs typeface="Helvetica" pitchFamily="34" charset="-120"/>
              </a:rPr>
              <a:t>Despachador:</a:t>
            </a:r>
            <a:r>
              <a:rPr lang="en-US" sz="1020" dirty="0">
                <a:solidFill>
                  <a:srgbClr val="111111"/>
                </a:solidFill>
                <a:latin typeface="Helvetica" pitchFamily="34" charset="0"/>
                <a:ea typeface="Helvetica" pitchFamily="34" charset="-122"/>
                <a:cs typeface="Helvetica" pitchFamily="34" charset="-120"/>
              </a:rPr>
              <a:t> su estructura interna y, sobre todo, el criterio con el que escoge un repartidor. ¿El más cercano? ¿El que lleva más tiempo sin pedido? ¿El mejor calificado? Esa decisión es un diseño completo por sí sola.</a:t>
            </a:r>
            <a:endParaRPr lang="en-US" sz="1020" dirty="0"/>
          </a:p>
          <a:p>
            <a:pPr marL="342900" indent="-342900" algn="l">
              <a:lnSpc>
                <a:spcPts val="1326"/>
              </a:lnSpc>
              <a:spcAft>
                <a:spcPts val="300"/>
              </a:spcAft>
              <a:buSzPct val="100000"/>
              <a:buChar char="•"/>
            </a:pPr>
            <a:r>
              <a:rPr lang="en-US" sz="1020" b="1" dirty="0">
                <a:solidFill>
                  <a:srgbClr val="111111"/>
                </a:solidFill>
                <a:latin typeface="Helvetica" pitchFamily="34" charset="0"/>
                <a:ea typeface="Helvetica" pitchFamily="34" charset="-122"/>
                <a:cs typeface="Helvetica" pitchFamily="34" charset="-120"/>
              </a:rPr>
              <a:t>Catálogo de Restaurantes:</a:t>
            </a:r>
            <a:r>
              <a:rPr lang="en-US" sz="1020" dirty="0">
                <a:solidFill>
                  <a:srgbClr val="111111"/>
                </a:solidFill>
                <a:latin typeface="Helvetica" pitchFamily="34" charset="0"/>
                <a:ea typeface="Helvetica" pitchFamily="34" charset="-122"/>
                <a:cs typeface="Helvetica" pitchFamily="34" charset="-120"/>
              </a:rPr>
              <a:t> cómo se cargan los restaurantes al arrancar y cómo se resuelve un identificador sin ir a la base de datos en cada consulta.</a:t>
            </a:r>
            <a:endParaRPr lang="en-US" sz="1020" dirty="0"/>
          </a:p>
          <a:p>
            <a:pPr marL="342900" indent="-342900" algn="l">
              <a:lnSpc>
                <a:spcPts val="1326"/>
              </a:lnSpc>
              <a:spcAft>
                <a:spcPts val="300"/>
              </a:spcAft>
              <a:buSzPct val="100000"/>
              <a:buChar char="•"/>
            </a:pPr>
            <a:r>
              <a:rPr lang="en-US" sz="1020" b="1" dirty="0">
                <a:solidFill>
                  <a:srgbClr val="111111"/>
                </a:solidFill>
                <a:latin typeface="Helvetica" pitchFamily="34" charset="0"/>
                <a:ea typeface="Helvetica" pitchFamily="34" charset="-122"/>
                <a:cs typeface="Helvetica" pitchFamily="34" charset="-120"/>
              </a:rPr>
              <a:t>Conector DB y Conexión DB:</a:t>
            </a:r>
            <a:r>
              <a:rPr lang="en-US" sz="1020" dirty="0">
                <a:solidFill>
                  <a:srgbClr val="111111"/>
                </a:solidFill>
                <a:latin typeface="Helvetica" pitchFamily="34" charset="0"/>
                <a:ea typeface="Helvetica" pitchFamily="34" charset="-122"/>
                <a:cs typeface="Helvetica" pitchFamily="34" charset="-120"/>
              </a:rPr>
              <a:t> teniendo en cuenta que deberían reutilizar todo lo que sea posible de JDBC en lugar de reimplementarlo.</a:t>
            </a:r>
            <a:endParaRPr lang="en-US" sz="1020" dirty="0"/>
          </a:p>
          <a:p>
            <a:pPr marL="342900" indent="-342900" algn="l">
              <a:lnSpc>
                <a:spcPts val="1326"/>
              </a:lnSpc>
              <a:spcAft>
                <a:spcPts val="300"/>
              </a:spcAft>
              <a:buSzPct val="100000"/>
              <a:buChar char="•"/>
            </a:pPr>
            <a:r>
              <a:rPr lang="en-US" sz="1020" b="1" dirty="0">
                <a:solidFill>
                  <a:srgbClr val="111111"/>
                </a:solidFill>
                <a:latin typeface="Helvetica" pitchFamily="34" charset="0"/>
                <a:ea typeface="Helvetica" pitchFamily="34" charset="-122"/>
                <a:cs typeface="Helvetica" pitchFamily="34" charset="-120"/>
              </a:rPr>
              <a:t>Buscador de Fotos:</a:t>
            </a:r>
            <a:r>
              <a:rPr lang="en-US" sz="1020" dirty="0">
                <a:solidFill>
                  <a:srgbClr val="111111"/>
                </a:solidFill>
                <a:latin typeface="Helvetica" pitchFamily="34" charset="0"/>
                <a:ea typeface="Helvetica" pitchFamily="34" charset="-122"/>
                <a:cs typeface="Helvetica" pitchFamily="34" charset="-120"/>
              </a:rPr>
              <a:t> cómo encuentra la foto de un plato y qué hace cuando no existe.</a:t>
            </a:r>
            <a:endParaRPr lang="en-US" sz="1020" dirty="0"/>
          </a:p>
          <a:p>
            <a:pPr marL="342900" indent="-342900" algn="l">
              <a:lnSpc>
                <a:spcPts val="1326"/>
              </a:lnSpc>
              <a:spcAft>
                <a:spcPts val="300"/>
              </a:spcAft>
              <a:buSzPct val="100000"/>
              <a:buChar char="•"/>
            </a:pPr>
            <a:r>
              <a:rPr lang="en-US" sz="1020" b="1" dirty="0">
                <a:solidFill>
                  <a:srgbClr val="111111"/>
                </a:solidFill>
                <a:latin typeface="Helvetica" pitchFamily="34" charset="0"/>
                <a:ea typeface="Helvetica" pitchFamily="34" charset="-122"/>
                <a:cs typeface="Helvetica" pitchFamily="34" charset="-120"/>
              </a:rPr>
              <a:t>Interfaz del Motor de Notificaciones:</a:t>
            </a:r>
            <a:r>
              <a:rPr lang="en-US" sz="1020" dirty="0">
                <a:solidFill>
                  <a:srgbClr val="111111"/>
                </a:solidFill>
                <a:latin typeface="Helvetica" pitchFamily="34" charset="0"/>
                <a:ea typeface="Helvetica" pitchFamily="34" charset="-122"/>
                <a:cs typeface="Helvetica" pitchFamily="34" charset="-120"/>
              </a:rPr>
              <a:t> los métodos exactos que le va a ofrecer al núcleo y el formato de las plantillas.</a:t>
            </a:r>
            <a:endParaRPr lang="en-US" sz="1020" dirty="0"/>
          </a:p>
          <a:p>
            <a:pPr marL="342900" indent="-342900" algn="l">
              <a:lnSpc>
                <a:spcPts val="1326"/>
              </a:lnSpc>
              <a:spcAft>
                <a:spcPts val="300"/>
              </a:spcAft>
              <a:buSzPct val="100000"/>
              <a:buChar char="•"/>
            </a:pPr>
            <a:r>
              <a:rPr lang="en-US" sz="1020" b="1" dirty="0">
                <a:solidFill>
                  <a:srgbClr val="111111"/>
                </a:solidFill>
                <a:latin typeface="Helvetica" pitchFamily="34" charset="0"/>
                <a:ea typeface="Helvetica" pitchFamily="34" charset="-122"/>
                <a:cs typeface="Helvetica" pitchFamily="34" charset="-120"/>
              </a:rPr>
              <a:t>Qué pasa cuando algo falla:</a:t>
            </a:r>
            <a:r>
              <a:rPr lang="en-US" sz="1020" dirty="0">
                <a:solidFill>
                  <a:srgbClr val="111111"/>
                </a:solidFill>
                <a:latin typeface="Helvetica" pitchFamily="34" charset="0"/>
                <a:ea typeface="Helvetica" pitchFamily="34" charset="-122"/>
                <a:cs typeface="Helvetica" pitchFamily="34" charset="-120"/>
              </a:rPr>
              <a:t> el cobro se aprueba pero se cae el servidor antes de crear el pedido. Todavía no lo hemos diseñado, y es el requerimiento no funcional más duro que tenemos.</a:t>
            </a:r>
            <a:endParaRPr lang="en-US" sz="1020" dirty="0"/>
          </a:p>
        </p:txBody>
      </p:sp>
      <p:sp>
        <p:nvSpPr>
          <p:cNvPr id="5" name="Text 3"/>
          <p:cNvSpPr/>
          <p:nvPr/>
        </p:nvSpPr>
        <p:spPr>
          <a:xfrm>
            <a:off x="431750" y="2711797"/>
            <a:ext cx="8445957" cy="164902"/>
          </a:xfrm>
          <a:prstGeom prst="rect">
            <a:avLst/>
          </a:prstGeom>
          <a:noFill/>
          <a:ln/>
        </p:spPr>
        <p:txBody>
          <a:bodyPr wrap="square" lIns="0" tIns="0" rIns="0" bIns="0" rtlCol="0" anchor="t"/>
          <a:lstStyle/>
          <a:p>
            <a:pPr marL="0" indent="0" algn="l">
              <a:lnSpc>
                <a:spcPts val="1300"/>
              </a:lnSpc>
              <a:spcAft>
                <a:spcPts val="700"/>
              </a:spcAft>
              <a:buNone/>
            </a:pPr>
            <a:r>
              <a:rPr lang="en-US" sz="1000" dirty="0">
                <a:solidFill>
                  <a:srgbClr val="0B84D9"/>
                </a:solidFill>
                <a:latin typeface="Helvetica" pitchFamily="34" charset="0"/>
                <a:ea typeface="Helvetica" pitchFamily="34" charset="-122"/>
                <a:cs typeface="Helvetica" pitchFamily="34" charset="-120"/>
              </a:rPr>
              <a:t>Notar que la lista de pendientes es tan valiosa como el diseño: dice explícitamente qué falta y evita que alguien crea que ya terminamos.</a:t>
            </a:r>
            <a:endParaRPr lang="en-US" sz="1000" dirty="0"/>
          </a:p>
        </p:txBody>
      </p:sp>
      <p:sp>
        <p:nvSpPr>
          <p:cNvPr id="6" name="Text 4"/>
          <p:cNvSpPr/>
          <p:nvPr/>
        </p:nvSpPr>
        <p:spPr>
          <a:xfrm>
            <a:off x="8737402" y="4842570"/>
            <a:ext cx="129793" cy="148530"/>
          </a:xfrm>
          <a:prstGeom prst="rect">
            <a:avLst/>
          </a:prstGeom>
          <a:noFill/>
          <a:ln/>
        </p:spPr>
        <p:txBody>
          <a:bodyPr wrap="square" lIns="0" tIns="0" rIns="0" bIns="0" rtlCol="0" anchor="t"/>
          <a:lstStyle/>
          <a:p>
            <a:pPr marL="0" indent="0" algn="l">
              <a:lnSpc>
                <a:spcPts val="1170"/>
              </a:lnSpc>
              <a:buNone/>
            </a:pPr>
            <a:r>
              <a:rPr lang="en-US" sz="900" dirty="0">
                <a:solidFill>
                  <a:srgbClr val="9A9A9A"/>
                </a:solidFill>
                <a:latin typeface="Helvetica" pitchFamily="34" charset="0"/>
                <a:ea typeface="Helvetica" pitchFamily="34" charset="-122"/>
                <a:cs typeface="Helvetica" pitchFamily="34" charset="-120"/>
              </a:rPr>
              <a:t>33</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ounded Rectangle 2"/>
          <p:cNvSpPr/>
          <p:nvPr/>
        </p:nvSpPr>
        <p:spPr>
          <a:xfrm>
            <a:off x="457200" y="3912208"/>
            <a:ext cx="8229600" cy="457200"/>
          </a:xfrm>
          <a:prstGeom prst="roundRect">
            <a:avLst>
              <a:gd name="adj" fmla="val 18750"/>
            </a:avLst>
          </a:prstGeom>
          <a:solidFill>
            <a:srgbClr val="F4EBFA"/>
          </a:solidFill>
          <a:ln w="952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ounded Rectangle 4"/>
          <p:cNvSpPr/>
          <p:nvPr/>
        </p:nvSpPr>
        <p:spPr>
          <a:xfrm>
            <a:off x="342900" y="1061907"/>
            <a:ext cx="4000500" cy="2475421"/>
          </a:xfrm>
          <a:prstGeom prst="roundRect">
            <a:avLst>
              <a:gd name="adj" fmla="val 4617"/>
            </a:avLst>
          </a:prstGeom>
          <a:solidFill>
            <a:srgbClr val="FEFDFD"/>
          </a:solidFill>
          <a:ln w="9525">
            <a:solidFill>
              <a:srgbClr val="E6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 name="Rounded Rectangle 5"/>
          <p:cNvSpPr/>
          <p:nvPr/>
        </p:nvSpPr>
        <p:spPr>
          <a:xfrm>
            <a:off x="4572000" y="1061907"/>
            <a:ext cx="4000500" cy="2475421"/>
          </a:xfrm>
          <a:prstGeom prst="roundRect">
            <a:avLst>
              <a:gd name="adj" fmla="val 4617"/>
            </a:avLst>
          </a:prstGeom>
          <a:solidFill>
            <a:srgbClr val="FEFDFD"/>
          </a:solidFill>
          <a:ln w="9525">
            <a:solidFill>
              <a:srgbClr val="E6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 name="TextBox 6"/>
          <p:cNvSpPr txBox="1"/>
          <p:nvPr/>
        </p:nvSpPr>
        <p:spPr>
          <a:xfrm>
            <a:off x="-200025" y="4040796"/>
            <a:ext cx="9544050" cy="173124"/>
          </a:xfrm>
          <a:prstGeom prst="rect">
            <a:avLst/>
          </a:prstGeom>
          <a:noFill/>
        </p:spPr>
        <p:txBody>
          <a:bodyPr wrap="square" lIns="0" tIns="0" rIns="0" bIns="0" anchor="t">
            <a:spAutoFit/>
          </a:bodyPr>
          <a:lstStyle/>
          <a:p>
            <a:pPr algn="ctr"/>
            <a:r>
              <a:rPr sz="1125">
                <a:solidFill>
                  <a:srgbClr val="334155"/>
                </a:solidFill>
                <a:latin typeface="Plus Jakarta Sans"/>
              </a:rPr>
              <a:t>💡 </a:t>
            </a:r>
            <a:r>
              <a:rPr sz="1125" b="1">
                <a:solidFill>
                  <a:srgbClr val="0F172A"/>
                </a:solidFill>
                <a:latin typeface="Plus Jakarta Sans"/>
              </a:rPr>
              <a:t>El valor de esta lista:</a:t>
            </a:r>
            <a:r>
              <a:rPr sz="1125">
                <a:solidFill>
                  <a:srgbClr val="334155"/>
                </a:solidFill>
                <a:latin typeface="Plus Jakarta Sans"/>
              </a:rPr>
              <a:t> Explicita exactamente qué falta y evita la falsa sensación de que el diseño ya está terminado.</a:t>
            </a:r>
          </a:p>
        </p:txBody>
      </p:sp>
      <p:sp>
        <p:nvSpPr>
          <p:cNvPr id="9" name="TextBox 8"/>
          <p:cNvSpPr txBox="1"/>
          <p:nvPr/>
        </p:nvSpPr>
        <p:spPr>
          <a:xfrm>
            <a:off x="457200" y="270647"/>
            <a:ext cx="2922275" cy="322461"/>
          </a:xfrm>
          <a:prstGeom prst="rect">
            <a:avLst/>
          </a:prstGeom>
          <a:noFill/>
        </p:spPr>
        <p:txBody>
          <a:bodyPr wrap="none" lIns="0" tIns="0" rIns="0" bIns="0" anchor="t">
            <a:spAutoFit/>
          </a:bodyPr>
          <a:lstStyle/>
          <a:p>
            <a:pPr>
              <a:lnSpc>
                <a:spcPts val="2565"/>
              </a:lnSpc>
            </a:pPr>
            <a:r>
              <a:rPr sz="2138" b="1" dirty="0" err="1">
                <a:solidFill>
                  <a:srgbClr val="0F172A"/>
                </a:solidFill>
                <a:latin typeface="Plus Jakarta Sans"/>
              </a:rPr>
              <a:t>Componentes</a:t>
            </a:r>
            <a:r>
              <a:rPr sz="2138" b="1" dirty="0">
                <a:solidFill>
                  <a:srgbClr val="0F172A"/>
                </a:solidFill>
                <a:latin typeface="Plus Jakarta Sans"/>
              </a:rPr>
              <a:t> </a:t>
            </a:r>
            <a:r>
              <a:rPr sz="2138" b="1" dirty="0" err="1">
                <a:solidFill>
                  <a:srgbClr val="0F172A"/>
                </a:solidFill>
                <a:latin typeface="Plus Jakarta Sans"/>
              </a:rPr>
              <a:t>pendientes</a:t>
            </a:r>
            <a:endParaRPr sz="2138" b="1" dirty="0">
              <a:solidFill>
                <a:srgbClr val="0F172A"/>
              </a:solidFill>
              <a:latin typeface="Plus Jakarta Sans"/>
            </a:endParaRPr>
          </a:p>
        </p:txBody>
      </p:sp>
      <p:sp>
        <p:nvSpPr>
          <p:cNvPr id="10" name="TextBox 9"/>
          <p:cNvSpPr txBox="1"/>
          <p:nvPr/>
        </p:nvSpPr>
        <p:spPr>
          <a:xfrm>
            <a:off x="457200" y="639219"/>
            <a:ext cx="3257302" cy="168957"/>
          </a:xfrm>
          <a:prstGeom prst="rect">
            <a:avLst/>
          </a:prstGeom>
          <a:noFill/>
        </p:spPr>
        <p:txBody>
          <a:bodyPr wrap="none" lIns="0" tIns="0" rIns="0" bIns="0" anchor="t">
            <a:spAutoFit/>
          </a:bodyPr>
          <a:lstStyle/>
          <a:p>
            <a:pPr>
              <a:lnSpc>
                <a:spcPts val="1417"/>
              </a:lnSpc>
            </a:pPr>
            <a:r>
              <a:rPr sz="1013">
                <a:solidFill>
                  <a:srgbClr val="64748B"/>
                </a:solidFill>
                <a:latin typeface="Plus Jakarta Sans"/>
              </a:rPr>
              <a:t>Elementos estructurales que aún requieren diseño en detalle.</a:t>
            </a:r>
          </a:p>
        </p:txBody>
      </p:sp>
      <p:sp>
        <p:nvSpPr>
          <p:cNvPr id="11" name="TextBox 10"/>
          <p:cNvSpPr txBox="1"/>
          <p:nvPr/>
        </p:nvSpPr>
        <p:spPr>
          <a:xfrm>
            <a:off x="578644" y="1297651"/>
            <a:ext cx="3600450" cy="159339"/>
          </a:xfrm>
          <a:prstGeom prst="rect">
            <a:avLst/>
          </a:prstGeom>
          <a:noFill/>
        </p:spPr>
        <p:txBody>
          <a:bodyPr wrap="square" lIns="0" tIns="0" rIns="0" bIns="0" anchor="t">
            <a:spAutoFit/>
          </a:bodyPr>
          <a:lstStyle/>
          <a:p>
            <a:pPr>
              <a:lnSpc>
                <a:spcPts val="1316"/>
              </a:lnSpc>
            </a:pPr>
            <a:r>
              <a:rPr sz="1013" b="1">
                <a:solidFill>
                  <a:srgbClr val="8B5CF6"/>
                </a:solidFill>
                <a:latin typeface="Plus Jakarta Sans"/>
              </a:rPr>
              <a:t>• </a:t>
            </a:r>
          </a:p>
        </p:txBody>
      </p:sp>
      <p:sp>
        <p:nvSpPr>
          <p:cNvPr id="12" name="TextBox 11"/>
          <p:cNvSpPr txBox="1"/>
          <p:nvPr/>
        </p:nvSpPr>
        <p:spPr>
          <a:xfrm>
            <a:off x="578644" y="1998967"/>
            <a:ext cx="3600450" cy="159339"/>
          </a:xfrm>
          <a:prstGeom prst="rect">
            <a:avLst/>
          </a:prstGeom>
          <a:noFill/>
        </p:spPr>
        <p:txBody>
          <a:bodyPr wrap="square" lIns="0" tIns="0" rIns="0" bIns="0" anchor="t">
            <a:spAutoFit/>
          </a:bodyPr>
          <a:lstStyle/>
          <a:p>
            <a:pPr>
              <a:lnSpc>
                <a:spcPts val="1316"/>
              </a:lnSpc>
            </a:pPr>
            <a:r>
              <a:rPr sz="1013" b="1">
                <a:solidFill>
                  <a:srgbClr val="8B5CF6"/>
                </a:solidFill>
                <a:latin typeface="Plus Jakarta Sans"/>
              </a:rPr>
              <a:t>• </a:t>
            </a:r>
          </a:p>
        </p:txBody>
      </p:sp>
      <p:sp>
        <p:nvSpPr>
          <p:cNvPr id="13" name="TextBox 12"/>
          <p:cNvSpPr txBox="1"/>
          <p:nvPr/>
        </p:nvSpPr>
        <p:spPr>
          <a:xfrm>
            <a:off x="578644" y="2700282"/>
            <a:ext cx="3600450" cy="159339"/>
          </a:xfrm>
          <a:prstGeom prst="rect">
            <a:avLst/>
          </a:prstGeom>
          <a:noFill/>
        </p:spPr>
        <p:txBody>
          <a:bodyPr wrap="square" lIns="0" tIns="0" rIns="0" bIns="0" anchor="t">
            <a:spAutoFit/>
          </a:bodyPr>
          <a:lstStyle/>
          <a:p>
            <a:pPr>
              <a:lnSpc>
                <a:spcPts val="1316"/>
              </a:lnSpc>
            </a:pPr>
            <a:r>
              <a:rPr sz="1013" b="1">
                <a:solidFill>
                  <a:srgbClr val="8B5CF6"/>
                </a:solidFill>
                <a:latin typeface="Plus Jakarta Sans"/>
              </a:rPr>
              <a:t>• </a:t>
            </a:r>
          </a:p>
        </p:txBody>
      </p:sp>
      <p:sp>
        <p:nvSpPr>
          <p:cNvPr id="14" name="TextBox 13"/>
          <p:cNvSpPr txBox="1"/>
          <p:nvPr/>
        </p:nvSpPr>
        <p:spPr>
          <a:xfrm>
            <a:off x="4807744" y="1297651"/>
            <a:ext cx="3600450" cy="159339"/>
          </a:xfrm>
          <a:prstGeom prst="rect">
            <a:avLst/>
          </a:prstGeom>
          <a:noFill/>
        </p:spPr>
        <p:txBody>
          <a:bodyPr wrap="square" lIns="0" tIns="0" rIns="0" bIns="0" anchor="t">
            <a:spAutoFit/>
          </a:bodyPr>
          <a:lstStyle/>
          <a:p>
            <a:pPr>
              <a:lnSpc>
                <a:spcPts val="1316"/>
              </a:lnSpc>
            </a:pPr>
            <a:r>
              <a:rPr sz="1013" b="1">
                <a:solidFill>
                  <a:srgbClr val="8B5CF6"/>
                </a:solidFill>
                <a:latin typeface="Plus Jakarta Sans"/>
              </a:rPr>
              <a:t>• </a:t>
            </a:r>
          </a:p>
        </p:txBody>
      </p:sp>
      <p:sp>
        <p:nvSpPr>
          <p:cNvPr id="15" name="TextBox 14"/>
          <p:cNvSpPr txBox="1"/>
          <p:nvPr/>
        </p:nvSpPr>
        <p:spPr>
          <a:xfrm>
            <a:off x="4807744" y="1831870"/>
            <a:ext cx="3600450" cy="159339"/>
          </a:xfrm>
          <a:prstGeom prst="rect">
            <a:avLst/>
          </a:prstGeom>
          <a:noFill/>
        </p:spPr>
        <p:txBody>
          <a:bodyPr wrap="square" lIns="0" tIns="0" rIns="0" bIns="0" anchor="t">
            <a:spAutoFit/>
          </a:bodyPr>
          <a:lstStyle/>
          <a:p>
            <a:pPr>
              <a:lnSpc>
                <a:spcPts val="1316"/>
              </a:lnSpc>
            </a:pPr>
            <a:r>
              <a:rPr sz="1013" b="1">
                <a:solidFill>
                  <a:srgbClr val="8B5CF6"/>
                </a:solidFill>
                <a:latin typeface="Plus Jakarta Sans"/>
              </a:rPr>
              <a:t>• </a:t>
            </a:r>
          </a:p>
        </p:txBody>
      </p:sp>
      <p:sp>
        <p:nvSpPr>
          <p:cNvPr id="16" name="TextBox 15"/>
          <p:cNvSpPr txBox="1"/>
          <p:nvPr/>
        </p:nvSpPr>
        <p:spPr>
          <a:xfrm>
            <a:off x="4807744" y="2533186"/>
            <a:ext cx="3600450" cy="159339"/>
          </a:xfrm>
          <a:prstGeom prst="rect">
            <a:avLst/>
          </a:prstGeom>
          <a:noFill/>
        </p:spPr>
        <p:txBody>
          <a:bodyPr wrap="square" lIns="0" tIns="0" rIns="0" bIns="0" anchor="t">
            <a:spAutoFit/>
          </a:bodyPr>
          <a:lstStyle/>
          <a:p>
            <a:pPr>
              <a:lnSpc>
                <a:spcPts val="1316"/>
              </a:lnSpc>
            </a:pPr>
            <a:r>
              <a:rPr sz="1013" b="1">
                <a:solidFill>
                  <a:srgbClr val="8B5CF6"/>
                </a:solidFill>
                <a:latin typeface="Plus Jakarta Sans"/>
              </a:rPr>
              <a:t>• </a:t>
            </a:r>
          </a:p>
        </p:txBody>
      </p:sp>
      <p:sp>
        <p:nvSpPr>
          <p:cNvPr id="17" name="TextBox 16"/>
          <p:cNvSpPr txBox="1"/>
          <p:nvPr/>
        </p:nvSpPr>
        <p:spPr>
          <a:xfrm>
            <a:off x="742950" y="1297651"/>
            <a:ext cx="3436144" cy="326051"/>
          </a:xfrm>
          <a:prstGeom prst="rect">
            <a:avLst/>
          </a:prstGeom>
          <a:noFill/>
        </p:spPr>
        <p:txBody>
          <a:bodyPr wrap="square" lIns="0" tIns="0" rIns="0" bIns="0" anchor="t">
            <a:spAutoFit/>
          </a:bodyPr>
          <a:lstStyle/>
          <a:p>
            <a:pPr>
              <a:lnSpc>
                <a:spcPts val="1316"/>
              </a:lnSpc>
            </a:pPr>
            <a:r>
              <a:rPr sz="1013" b="1">
                <a:solidFill>
                  <a:srgbClr val="0F172A"/>
                </a:solidFill>
                <a:latin typeface="Plus Jakarta Sans"/>
              </a:rPr>
              <a:t>Despachador Criterios de asignación de repartidor (distancia, tiempo, calificación).</a:t>
            </a:r>
          </a:p>
        </p:txBody>
      </p:sp>
      <p:sp>
        <p:nvSpPr>
          <p:cNvPr id="18" name="TextBox 17"/>
          <p:cNvSpPr txBox="1"/>
          <p:nvPr/>
        </p:nvSpPr>
        <p:spPr>
          <a:xfrm>
            <a:off x="742950" y="1998967"/>
            <a:ext cx="3436144" cy="326051"/>
          </a:xfrm>
          <a:prstGeom prst="rect">
            <a:avLst/>
          </a:prstGeom>
          <a:noFill/>
        </p:spPr>
        <p:txBody>
          <a:bodyPr wrap="square" lIns="0" tIns="0" rIns="0" bIns="0" anchor="t">
            <a:spAutoFit/>
          </a:bodyPr>
          <a:lstStyle/>
          <a:p>
            <a:pPr>
              <a:lnSpc>
                <a:spcPts val="1316"/>
              </a:lnSpc>
            </a:pPr>
            <a:r>
              <a:rPr sz="1013" b="1">
                <a:solidFill>
                  <a:srgbClr val="0F172A"/>
                </a:solidFill>
                <a:latin typeface="Plus Jakarta Sans"/>
              </a:rPr>
              <a:t>Catálogo de Restaurantes Estrategia de carga al arranque y resolución de identificadores.</a:t>
            </a:r>
          </a:p>
        </p:txBody>
      </p:sp>
      <p:sp>
        <p:nvSpPr>
          <p:cNvPr id="19" name="TextBox 18"/>
          <p:cNvSpPr txBox="1"/>
          <p:nvPr/>
        </p:nvSpPr>
        <p:spPr>
          <a:xfrm>
            <a:off x="742950" y="2700282"/>
            <a:ext cx="3436144" cy="326051"/>
          </a:xfrm>
          <a:prstGeom prst="rect">
            <a:avLst/>
          </a:prstGeom>
          <a:noFill/>
        </p:spPr>
        <p:txBody>
          <a:bodyPr wrap="square" lIns="0" tIns="0" rIns="0" bIns="0" anchor="t">
            <a:spAutoFit/>
          </a:bodyPr>
          <a:lstStyle/>
          <a:p>
            <a:pPr>
              <a:lnSpc>
                <a:spcPts val="1316"/>
              </a:lnSpc>
            </a:pPr>
            <a:r>
              <a:rPr sz="1013" b="1">
                <a:solidFill>
                  <a:srgbClr val="0F172A"/>
                </a:solidFill>
                <a:latin typeface="Plus Jakarta Sans"/>
              </a:rPr>
              <a:t>Buscador de Fotos Búsqueda de archivos y manejo de casos donde la foto no existe.</a:t>
            </a:r>
          </a:p>
        </p:txBody>
      </p:sp>
      <p:sp>
        <p:nvSpPr>
          <p:cNvPr id="20" name="TextBox 19"/>
          <p:cNvSpPr txBox="1"/>
          <p:nvPr/>
        </p:nvSpPr>
        <p:spPr>
          <a:xfrm>
            <a:off x="4972051" y="1297651"/>
            <a:ext cx="3136106" cy="326051"/>
          </a:xfrm>
          <a:prstGeom prst="rect">
            <a:avLst/>
          </a:prstGeom>
          <a:noFill/>
        </p:spPr>
        <p:txBody>
          <a:bodyPr wrap="square" lIns="0" tIns="0" rIns="0" bIns="0" anchor="t">
            <a:spAutoFit/>
          </a:bodyPr>
          <a:lstStyle/>
          <a:p>
            <a:pPr>
              <a:lnSpc>
                <a:spcPts val="1316"/>
              </a:lnSpc>
            </a:pPr>
            <a:r>
              <a:rPr sz="1013" b="1">
                <a:solidFill>
                  <a:srgbClr val="0F172A"/>
                </a:solidFill>
                <a:latin typeface="Plus Jakarta Sans"/>
              </a:rPr>
              <a:t>Conector y Conexión DB Reutilización máxima de funciones nativas de JDBC.</a:t>
            </a:r>
          </a:p>
        </p:txBody>
      </p:sp>
      <p:sp>
        <p:nvSpPr>
          <p:cNvPr id="21" name="TextBox 20"/>
          <p:cNvSpPr txBox="1"/>
          <p:nvPr/>
        </p:nvSpPr>
        <p:spPr>
          <a:xfrm>
            <a:off x="4972050" y="1831870"/>
            <a:ext cx="3436144" cy="326051"/>
          </a:xfrm>
          <a:prstGeom prst="rect">
            <a:avLst/>
          </a:prstGeom>
          <a:noFill/>
        </p:spPr>
        <p:txBody>
          <a:bodyPr wrap="square" lIns="0" tIns="0" rIns="0" bIns="0" anchor="t">
            <a:spAutoFit/>
          </a:bodyPr>
          <a:lstStyle/>
          <a:p>
            <a:pPr>
              <a:lnSpc>
                <a:spcPts val="1316"/>
              </a:lnSpc>
            </a:pPr>
            <a:r>
              <a:rPr sz="1013" b="1">
                <a:solidFill>
                  <a:srgbClr val="0F172A"/>
                </a:solidFill>
                <a:latin typeface="Plus Jakarta Sans"/>
              </a:rPr>
              <a:t>Interfaz Motor Notificaciones Métodos expuestos al núcleo y formato exacto de plantillas.</a:t>
            </a:r>
          </a:p>
        </p:txBody>
      </p:sp>
      <p:sp>
        <p:nvSpPr>
          <p:cNvPr id="22" name="TextBox 21"/>
          <p:cNvSpPr txBox="1"/>
          <p:nvPr/>
        </p:nvSpPr>
        <p:spPr>
          <a:xfrm>
            <a:off x="4972050" y="2533186"/>
            <a:ext cx="3436144" cy="326051"/>
          </a:xfrm>
          <a:prstGeom prst="rect">
            <a:avLst/>
          </a:prstGeom>
          <a:noFill/>
        </p:spPr>
        <p:txBody>
          <a:bodyPr wrap="square" lIns="0" tIns="0" rIns="0" bIns="0" anchor="t">
            <a:spAutoFit/>
          </a:bodyPr>
          <a:lstStyle/>
          <a:p>
            <a:pPr>
              <a:lnSpc>
                <a:spcPts val="1316"/>
              </a:lnSpc>
            </a:pPr>
            <a:r>
              <a:rPr sz="1013" b="1">
                <a:solidFill>
                  <a:srgbClr val="0F172A"/>
                </a:solidFill>
                <a:latin typeface="Plus Jakarta Sans"/>
              </a:rPr>
              <a:t>Tolerancia a Fallos Recuperación si el servidor cae tras cobro pero antes del pedido.</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04800"/>
            <a:ext cx="8394192" cy="312837"/>
          </a:xfrm>
          <a:prstGeom prst="rect">
            <a:avLst/>
          </a:prstGeom>
          <a:noFill/>
          <a:ln/>
        </p:spPr>
        <p:txBody>
          <a:bodyPr wrap="square" lIns="0" tIns="0" rIns="0" bIns="0" rtlCol="0" anchor="t"/>
          <a:lstStyle/>
          <a:p>
            <a:pPr marL="0" indent="0" algn="l">
              <a:lnSpc>
                <a:spcPts val="2464"/>
              </a:lnSpc>
              <a:spcBef>
                <a:spcPts val="2400"/>
              </a:spcBef>
              <a:buNone/>
            </a:pPr>
            <a:r>
              <a:rPr lang="en-US" sz="2200" b="1" dirty="0">
                <a:solidFill>
                  <a:srgbClr val="111111"/>
                </a:solidFill>
                <a:latin typeface="Helvetica" pitchFamily="34" charset="0"/>
                <a:ea typeface="Helvetica" pitchFamily="34" charset="-122"/>
                <a:cs typeface="Helvetica" pitchFamily="34" charset="-120"/>
              </a:rPr>
              <a:t>El resumen del caso</a:t>
            </a:r>
            <a:endParaRPr lang="en-US" sz="2200" dirty="0"/>
          </a:p>
        </p:txBody>
      </p:sp>
      <p:sp>
        <p:nvSpPr>
          <p:cNvPr id="3" name="Text 1"/>
          <p:cNvSpPr/>
          <p:nvPr/>
        </p:nvSpPr>
        <p:spPr>
          <a:xfrm>
            <a:off x="622250" y="693837"/>
            <a:ext cx="8089850" cy="2337048"/>
          </a:xfrm>
          <a:prstGeom prst="rect">
            <a:avLst/>
          </a:prstGeom>
          <a:noFill/>
          <a:ln/>
        </p:spPr>
        <p:txBody>
          <a:bodyPr wrap="square" lIns="0" tIns="0" rIns="0" bIns="0" rtlCol="0" anchor="t"/>
          <a:lstStyle/>
          <a:p>
            <a:pPr marL="342900" indent="-342900" algn="l">
              <a:lnSpc>
                <a:spcPts val="1469"/>
              </a:lnSpc>
              <a:spcAft>
                <a:spcPts val="450"/>
              </a:spcAft>
              <a:buSzPct val="100000"/>
              <a:buChar char="•"/>
            </a:pPr>
            <a:r>
              <a:rPr lang="en-US" sz="1130" dirty="0">
                <a:solidFill>
                  <a:srgbClr val="111111"/>
                </a:solidFill>
                <a:latin typeface="Helvetica" pitchFamily="34" charset="0"/>
                <a:ea typeface="Helvetica" pitchFamily="34" charset="-122"/>
                <a:cs typeface="Helvetica" pitchFamily="34" charset="-120"/>
              </a:rPr>
              <a:t>Empezamos con una frontera y un diagrama de contexto: qué hace Ñam y con qué se conecta, sin saber nada de lo que hay por dentro.</a:t>
            </a:r>
            <a:endParaRPr lang="en-US" sz="1130" dirty="0"/>
          </a:p>
          <a:p>
            <a:pPr marL="342900" indent="-342900" algn="l">
              <a:lnSpc>
                <a:spcPts val="1469"/>
              </a:lnSpc>
              <a:spcAft>
                <a:spcPts val="450"/>
              </a:spcAft>
              <a:buSzPct val="100000"/>
              <a:buChar char="•"/>
            </a:pPr>
            <a:r>
              <a:rPr lang="en-US" sz="1130" dirty="0">
                <a:solidFill>
                  <a:srgbClr val="111111"/>
                </a:solidFill>
                <a:latin typeface="Helvetica" pitchFamily="34" charset="0"/>
                <a:ea typeface="Helvetica" pitchFamily="34" charset="-122"/>
                <a:cs typeface="Helvetica" pitchFamily="34" charset="-120"/>
              </a:rPr>
              <a:t>Hicimos </a:t>
            </a:r>
            <a:r>
              <a:rPr lang="en-US" sz="1130" b="1" dirty="0">
                <a:solidFill>
                  <a:srgbClr val="111111"/>
                </a:solidFill>
                <a:latin typeface="Helvetica" pitchFamily="34" charset="0"/>
                <a:ea typeface="Helvetica" pitchFamily="34" charset="-122"/>
                <a:cs typeface="Helvetica" pitchFamily="34" charset="-120"/>
              </a:rPr>
              <a:t>una sola descomposición</a:t>
            </a:r>
            <a:r>
              <a:rPr lang="en-US" sz="1130" dirty="0">
                <a:solidFill>
                  <a:srgbClr val="111111"/>
                </a:solidFill>
                <a:latin typeface="Helvetica" pitchFamily="34" charset="0"/>
                <a:ea typeface="Helvetica" pitchFamily="34" charset="-122"/>
                <a:cs typeface="Helvetica" pitchFamily="34" charset="-120"/>
              </a:rPr>
              <a:t> y separamos dos partes complejas (la API Móvil y el Motor de Notificaciones) para no tener que resolverlo todo a la vez.</a:t>
            </a:r>
            <a:endParaRPr lang="en-US" sz="1130" dirty="0"/>
          </a:p>
          <a:p>
            <a:pPr marL="342900" indent="-342900" algn="l">
              <a:lnSpc>
                <a:spcPts val="1469"/>
              </a:lnSpc>
              <a:spcAft>
                <a:spcPts val="450"/>
              </a:spcAft>
              <a:buSzPct val="100000"/>
              <a:buChar char="•"/>
            </a:pPr>
            <a:r>
              <a:rPr lang="en-US" sz="1130" dirty="0">
                <a:solidFill>
                  <a:srgbClr val="111111"/>
                </a:solidFill>
                <a:latin typeface="Helvetica" pitchFamily="34" charset="0"/>
                <a:ea typeface="Helvetica" pitchFamily="34" charset="-122"/>
                <a:cs typeface="Helvetica" pitchFamily="34" charset="-120"/>
              </a:rPr>
              <a:t>Buscamos </a:t>
            </a:r>
            <a:r>
              <a:rPr lang="en-US" sz="1130" b="1" dirty="0">
                <a:solidFill>
                  <a:srgbClr val="111111"/>
                </a:solidFill>
                <a:latin typeface="Helvetica" pitchFamily="34" charset="0"/>
                <a:ea typeface="Helvetica" pitchFamily="34" charset="-122"/>
                <a:cs typeface="Helvetica" pitchFamily="34" charset="-120"/>
              </a:rPr>
              <a:t>candidatos</a:t>
            </a:r>
            <a:r>
              <a:rPr lang="en-US" sz="1130" dirty="0">
                <a:solidFill>
                  <a:srgbClr val="111111"/>
                </a:solidFill>
                <a:latin typeface="Helvetica" pitchFamily="34" charset="0"/>
                <a:ea typeface="Helvetica" pitchFamily="34" charset="-122"/>
                <a:cs typeface="Helvetica" pitchFamily="34" charset="-120"/>
              </a:rPr>
              <a:t> desde cuatro perspectivas distintas y les asignamos </a:t>
            </a:r>
            <a:r>
              <a:rPr lang="en-US" sz="1130" b="1" dirty="0">
                <a:solidFill>
                  <a:srgbClr val="111111"/>
                </a:solidFill>
                <a:latin typeface="Helvetica" pitchFamily="34" charset="0"/>
                <a:ea typeface="Helvetica" pitchFamily="34" charset="-122"/>
                <a:cs typeface="Helvetica" pitchFamily="34" charset="-120"/>
              </a:rPr>
              <a:t>estereotipos</a:t>
            </a:r>
            <a:r>
              <a:rPr lang="en-US" sz="1130" dirty="0">
                <a:solidFill>
                  <a:srgbClr val="111111"/>
                </a:solidFill>
                <a:latin typeface="Helvetica" pitchFamily="34" charset="0"/>
                <a:ea typeface="Helvetica" pitchFamily="34" charset="-122"/>
                <a:cs typeface="Helvetica" pitchFamily="34" charset="-120"/>
              </a:rPr>
              <a:t>, que resultaron ser decisiones de diseño disfrazadas.</a:t>
            </a:r>
            <a:endParaRPr lang="en-US" sz="1130" dirty="0"/>
          </a:p>
          <a:p>
            <a:pPr marL="342900" indent="-342900" algn="l">
              <a:lnSpc>
                <a:spcPts val="1469"/>
              </a:lnSpc>
              <a:spcAft>
                <a:spcPts val="450"/>
              </a:spcAft>
              <a:buSzPct val="100000"/>
              <a:buChar char="•"/>
            </a:pPr>
            <a:r>
              <a:rPr lang="en-US" sz="1130" dirty="0">
                <a:solidFill>
                  <a:srgbClr val="111111"/>
                </a:solidFill>
                <a:latin typeface="Helvetica" pitchFamily="34" charset="0"/>
                <a:ea typeface="Helvetica" pitchFamily="34" charset="-122"/>
                <a:cs typeface="Helvetica" pitchFamily="34" charset="-120"/>
              </a:rPr>
              <a:t>Identificamos </a:t>
            </a:r>
            <a:r>
              <a:rPr lang="en-US" sz="1130" b="1" dirty="0">
                <a:solidFill>
                  <a:srgbClr val="111111"/>
                </a:solidFill>
                <a:latin typeface="Helvetica" pitchFamily="34" charset="0"/>
                <a:ea typeface="Helvetica" pitchFamily="34" charset="-122"/>
                <a:cs typeface="Helvetica" pitchFamily="34" charset="-120"/>
              </a:rPr>
              <a:t>responsabilidades</a:t>
            </a:r>
            <a:r>
              <a:rPr lang="en-US" sz="1130" dirty="0">
                <a:solidFill>
                  <a:srgbClr val="111111"/>
                </a:solidFill>
                <a:latin typeface="Helvetica" pitchFamily="34" charset="0"/>
                <a:ea typeface="Helvetica" pitchFamily="34" charset="-122"/>
                <a:cs typeface="Helvetica" pitchFamily="34" charset="-120"/>
              </a:rPr>
              <a:t> y las repartimos. En el camino apareció un rol que no habíamos visto y descubrimos un hueco de dos niveles que había que resolver.</a:t>
            </a:r>
            <a:endParaRPr lang="en-US" sz="1130" dirty="0"/>
          </a:p>
          <a:p>
            <a:pPr marL="342900" indent="-342900" algn="l">
              <a:lnSpc>
                <a:spcPts val="1469"/>
              </a:lnSpc>
              <a:spcAft>
                <a:spcPts val="450"/>
              </a:spcAft>
              <a:buSzPct val="100000"/>
              <a:buChar char="•"/>
            </a:pPr>
            <a:r>
              <a:rPr lang="en-US" sz="1130" dirty="0">
                <a:solidFill>
                  <a:srgbClr val="111111"/>
                </a:solidFill>
                <a:latin typeface="Helvetica" pitchFamily="34" charset="0"/>
                <a:ea typeface="Helvetica" pitchFamily="34" charset="-122"/>
                <a:cs typeface="Helvetica" pitchFamily="34" charset="-120"/>
              </a:rPr>
              <a:t>Diseñamos cuatro </a:t>
            </a:r>
            <a:r>
              <a:rPr lang="en-US" sz="1130" b="1" dirty="0">
                <a:solidFill>
                  <a:srgbClr val="111111"/>
                </a:solidFill>
                <a:latin typeface="Helvetica" pitchFamily="34" charset="0"/>
                <a:ea typeface="Helvetica" pitchFamily="34" charset="-122"/>
                <a:cs typeface="Helvetica" pitchFamily="34" charset="-120"/>
              </a:rPr>
              <a:t>colaboraciones</a:t>
            </a:r>
            <a:r>
              <a:rPr lang="en-US" sz="1130" dirty="0">
                <a:solidFill>
                  <a:srgbClr val="111111"/>
                </a:solidFill>
                <a:latin typeface="Helvetica" pitchFamily="34" charset="0"/>
                <a:ea typeface="Helvetica" pitchFamily="34" charset="-122"/>
                <a:cs typeface="Helvetica" pitchFamily="34" charset="-120"/>
              </a:rPr>
              <a:t> y las usamos para validar el diseño y para descubrir el </a:t>
            </a:r>
            <a:r>
              <a:rPr lang="en-US" sz="1130" b="1" dirty="0">
                <a:solidFill>
                  <a:srgbClr val="111111"/>
                </a:solidFill>
                <a:latin typeface="Helvetica" pitchFamily="34" charset="0"/>
                <a:ea typeface="Helvetica" pitchFamily="34" charset="-122"/>
                <a:cs typeface="Helvetica" pitchFamily="34" charset="-120"/>
              </a:rPr>
              <a:t>estilo de control</a:t>
            </a:r>
            <a:r>
              <a:rPr lang="en-US" sz="1130" dirty="0">
                <a:solidFill>
                  <a:srgbClr val="111111"/>
                </a:solidFill>
                <a:latin typeface="Helvetica" pitchFamily="34" charset="0"/>
                <a:ea typeface="Helvetica" pitchFamily="34" charset="-122"/>
                <a:cs typeface="Helvetica" pitchFamily="34" charset="-120"/>
              </a:rPr>
              <a:t> que habíamos elegido sin decirlo.</a:t>
            </a:r>
            <a:endParaRPr lang="en-US" sz="1130" dirty="0"/>
          </a:p>
          <a:p>
            <a:pPr marL="342900" indent="-342900" algn="l">
              <a:lnSpc>
                <a:spcPts val="1469"/>
              </a:lnSpc>
              <a:spcAft>
                <a:spcPts val="450"/>
              </a:spcAft>
              <a:buSzPct val="100000"/>
              <a:buChar char="•"/>
            </a:pPr>
            <a:r>
              <a:rPr lang="en-US" sz="1130" dirty="0">
                <a:solidFill>
                  <a:srgbClr val="111111"/>
                </a:solidFill>
                <a:latin typeface="Helvetica" pitchFamily="34" charset="0"/>
                <a:ea typeface="Helvetica" pitchFamily="34" charset="-122"/>
                <a:cs typeface="Helvetica" pitchFamily="34" charset="-120"/>
              </a:rPr>
              <a:t>Sólo al final bajamos a </a:t>
            </a:r>
            <a:r>
              <a:rPr lang="en-US" sz="1130" b="1" dirty="0">
                <a:solidFill>
                  <a:srgbClr val="111111"/>
                </a:solidFill>
                <a:latin typeface="Helvetica" pitchFamily="34" charset="0"/>
                <a:ea typeface="Helvetica" pitchFamily="34" charset="-122"/>
                <a:cs typeface="Helvetica" pitchFamily="34" charset="-120"/>
              </a:rPr>
              <a:t>clases, atributos y métodos</a:t>
            </a:r>
            <a:r>
              <a:rPr lang="en-US" sz="1130" dirty="0">
                <a:solidFill>
                  <a:srgbClr val="111111"/>
                </a:solidFill>
                <a:latin typeface="Helvetica" pitchFamily="34" charset="0"/>
                <a:ea typeface="Helvetica" pitchFamily="34" charset="-122"/>
                <a:cs typeface="Helvetica" pitchFamily="34" charset="-120"/>
              </a:rPr>
              <a:t>, y quedó una lista explícita de lo que falta.</a:t>
            </a:r>
            <a:endParaRPr lang="en-US" sz="1130" dirty="0"/>
          </a:p>
        </p:txBody>
      </p:sp>
      <p:sp>
        <p:nvSpPr>
          <p:cNvPr id="4" name="Text 2"/>
          <p:cNvSpPr/>
          <p:nvPr/>
        </p:nvSpPr>
        <p:spPr>
          <a:xfrm>
            <a:off x="431750" y="3132386"/>
            <a:ext cx="8445957" cy="372963"/>
          </a:xfrm>
          <a:prstGeom prst="rect">
            <a:avLst/>
          </a:prstGeom>
          <a:noFill/>
          <a:ln/>
        </p:spPr>
        <p:txBody>
          <a:bodyPr wrap="square" lIns="0" tIns="0" rIns="0" bIns="0" rtlCol="0" anchor="t"/>
          <a:lstStyle/>
          <a:p>
            <a:pPr marL="0" indent="0" algn="l">
              <a:lnSpc>
                <a:spcPts val="1469"/>
              </a:lnSpc>
              <a:spcBef>
                <a:spcPts val="600"/>
              </a:spcBef>
              <a:spcAft>
                <a:spcPts val="700"/>
              </a:spcAft>
              <a:buNone/>
            </a:pPr>
            <a:r>
              <a:rPr lang="en-US" sz="1130" b="1" dirty="0">
                <a:solidFill>
                  <a:srgbClr val="0B84D9"/>
                </a:solidFill>
                <a:latin typeface="Helvetica" pitchFamily="34" charset="0"/>
                <a:ea typeface="Helvetica" pitchFamily="34" charset="-122"/>
                <a:cs typeface="Helvetica" pitchFamily="34" charset="-120"/>
              </a:rPr>
              <a:t>Ninguna de estas decisiones es la única posible, y ninguna es óptima.</a:t>
            </a:r>
            <a:r>
              <a:rPr lang="en-US" sz="1130" dirty="0">
                <a:solidFill>
                  <a:srgbClr val="0B84D9"/>
                </a:solidFill>
                <a:latin typeface="Helvetica" pitchFamily="34" charset="0"/>
                <a:ea typeface="Helvetica" pitchFamily="34" charset="-122"/>
                <a:cs typeface="Helvetica" pitchFamily="34" charset="-120"/>
              </a:rPr>
              <a:t> Lo que sí tienen es una justificación, y esa justificación es lo que va en el documento de diseño.</a:t>
            </a:r>
            <a:endParaRPr lang="en-US" sz="1130" dirty="0"/>
          </a:p>
        </p:txBody>
      </p:sp>
      <p:sp>
        <p:nvSpPr>
          <p:cNvPr id="5" name="Text 3"/>
          <p:cNvSpPr/>
          <p:nvPr/>
        </p:nvSpPr>
        <p:spPr>
          <a:xfrm>
            <a:off x="8737402" y="4842570"/>
            <a:ext cx="129793" cy="148530"/>
          </a:xfrm>
          <a:prstGeom prst="rect">
            <a:avLst/>
          </a:prstGeom>
          <a:noFill/>
          <a:ln/>
        </p:spPr>
        <p:txBody>
          <a:bodyPr wrap="square" lIns="0" tIns="0" rIns="0" bIns="0" rtlCol="0" anchor="t"/>
          <a:lstStyle/>
          <a:p>
            <a:pPr marL="0" indent="0" algn="l">
              <a:lnSpc>
                <a:spcPts val="1170"/>
              </a:lnSpc>
              <a:buNone/>
            </a:pPr>
            <a:r>
              <a:rPr lang="en-US" sz="900" dirty="0">
                <a:solidFill>
                  <a:srgbClr val="9A9A9A"/>
                </a:solidFill>
                <a:latin typeface="Helvetica" pitchFamily="34" charset="0"/>
                <a:ea typeface="Helvetica" pitchFamily="34" charset="-122"/>
                <a:cs typeface="Helvetica" pitchFamily="34" charset="-120"/>
              </a:rPr>
              <a:t>34</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4" name="Rounded Rectangle 3"/>
          <p:cNvSpPr/>
          <p:nvPr/>
        </p:nvSpPr>
        <p:spPr>
          <a:xfrm>
            <a:off x="457200" y="3490056"/>
            <a:ext cx="8229600" cy="542925"/>
          </a:xfrm>
          <a:prstGeom prst="roundRect">
            <a:avLst>
              <a:gd name="adj" fmla="val 15789"/>
            </a:avLst>
          </a:prstGeom>
          <a:solidFill>
            <a:srgbClr val="E4F2FC"/>
          </a:solidFill>
          <a:ln w="9525">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ounded Rectangle 4"/>
          <p:cNvSpPr/>
          <p:nvPr/>
        </p:nvSpPr>
        <p:spPr>
          <a:xfrm>
            <a:off x="457200" y="1693403"/>
            <a:ext cx="4064794" cy="489347"/>
          </a:xfrm>
          <a:prstGeom prst="roundRect">
            <a:avLst>
              <a:gd name="adj" fmla="val 17518"/>
            </a:avLst>
          </a:prstGeom>
          <a:solidFill>
            <a:srgbClr val="FEFD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 name="Rounded Rectangle 5"/>
          <p:cNvSpPr/>
          <p:nvPr/>
        </p:nvSpPr>
        <p:spPr>
          <a:xfrm>
            <a:off x="4622007" y="1693403"/>
            <a:ext cx="4064794" cy="489347"/>
          </a:xfrm>
          <a:prstGeom prst="roundRect">
            <a:avLst>
              <a:gd name="adj" fmla="val 17518"/>
            </a:avLst>
          </a:prstGeom>
          <a:solidFill>
            <a:srgbClr val="FEFD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 name="Rounded Rectangle 6"/>
          <p:cNvSpPr/>
          <p:nvPr/>
        </p:nvSpPr>
        <p:spPr>
          <a:xfrm>
            <a:off x="457200" y="2282762"/>
            <a:ext cx="4064794" cy="489347"/>
          </a:xfrm>
          <a:prstGeom prst="roundRect">
            <a:avLst>
              <a:gd name="adj" fmla="val 17518"/>
            </a:avLst>
          </a:prstGeom>
          <a:solidFill>
            <a:srgbClr val="FEFD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Rounded Rectangle 7"/>
          <p:cNvSpPr/>
          <p:nvPr/>
        </p:nvSpPr>
        <p:spPr>
          <a:xfrm>
            <a:off x="4622007" y="2282762"/>
            <a:ext cx="4064794" cy="489347"/>
          </a:xfrm>
          <a:prstGeom prst="roundRect">
            <a:avLst>
              <a:gd name="adj" fmla="val 17518"/>
            </a:avLst>
          </a:prstGeom>
          <a:solidFill>
            <a:srgbClr val="FEFD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 name="Rounded Rectangle 8"/>
          <p:cNvSpPr/>
          <p:nvPr/>
        </p:nvSpPr>
        <p:spPr>
          <a:xfrm>
            <a:off x="457200" y="2872122"/>
            <a:ext cx="4064794" cy="489347"/>
          </a:xfrm>
          <a:prstGeom prst="roundRect">
            <a:avLst>
              <a:gd name="adj" fmla="val 17518"/>
            </a:avLst>
          </a:prstGeom>
          <a:solidFill>
            <a:srgbClr val="FEFD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 name="Rounded Rectangle 9"/>
          <p:cNvSpPr/>
          <p:nvPr/>
        </p:nvSpPr>
        <p:spPr>
          <a:xfrm>
            <a:off x="4622007" y="2872122"/>
            <a:ext cx="4064794" cy="489347"/>
          </a:xfrm>
          <a:prstGeom prst="roundRect">
            <a:avLst>
              <a:gd name="adj" fmla="val 17518"/>
            </a:avLst>
          </a:prstGeom>
          <a:solidFill>
            <a:srgbClr val="FEFD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1" name="Rectangle 10"/>
          <p:cNvSpPr/>
          <p:nvPr/>
        </p:nvSpPr>
        <p:spPr>
          <a:xfrm>
            <a:off x="457200" y="1693403"/>
            <a:ext cx="28575" cy="489347"/>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 name="Rectangle 11"/>
          <p:cNvSpPr/>
          <p:nvPr/>
        </p:nvSpPr>
        <p:spPr>
          <a:xfrm>
            <a:off x="4622006" y="1693403"/>
            <a:ext cx="28575" cy="489347"/>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3" name="Rectangle 12"/>
          <p:cNvSpPr/>
          <p:nvPr/>
        </p:nvSpPr>
        <p:spPr>
          <a:xfrm>
            <a:off x="457200" y="2282762"/>
            <a:ext cx="28575" cy="489347"/>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4" name="Rectangle 13"/>
          <p:cNvSpPr/>
          <p:nvPr/>
        </p:nvSpPr>
        <p:spPr>
          <a:xfrm>
            <a:off x="4622006" y="2282762"/>
            <a:ext cx="28575" cy="48934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5" name="Rectangle 14"/>
          <p:cNvSpPr/>
          <p:nvPr/>
        </p:nvSpPr>
        <p:spPr>
          <a:xfrm>
            <a:off x="457200" y="2872122"/>
            <a:ext cx="28575" cy="48934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6" name="Rectangle 15"/>
          <p:cNvSpPr/>
          <p:nvPr/>
        </p:nvSpPr>
        <p:spPr>
          <a:xfrm>
            <a:off x="4622006" y="2872122"/>
            <a:ext cx="28575" cy="489347"/>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pic>
        <p:nvPicPr>
          <p:cNvPr id="17" name="Picture 16" descr="image.png"/>
          <p:cNvPicPr>
            <a:picLocks noChangeAspect="1"/>
          </p:cNvPicPr>
          <p:nvPr/>
        </p:nvPicPr>
        <p:blipFill>
          <a:blip r:embed="rId3"/>
          <a:stretch>
            <a:fillRect/>
          </a:stretch>
        </p:blipFill>
        <p:spPr>
          <a:xfrm>
            <a:off x="614363" y="1807703"/>
            <a:ext cx="164306" cy="142875"/>
          </a:xfrm>
          <a:prstGeom prst="rect">
            <a:avLst/>
          </a:prstGeom>
        </p:spPr>
      </p:pic>
      <p:pic>
        <p:nvPicPr>
          <p:cNvPr id="18" name="Picture 17" descr="image.png"/>
          <p:cNvPicPr>
            <a:picLocks noChangeAspect="1"/>
          </p:cNvPicPr>
          <p:nvPr/>
        </p:nvPicPr>
        <p:blipFill>
          <a:blip r:embed="rId4"/>
          <a:stretch>
            <a:fillRect/>
          </a:stretch>
        </p:blipFill>
        <p:spPr>
          <a:xfrm>
            <a:off x="4779169" y="1807703"/>
            <a:ext cx="142875" cy="142875"/>
          </a:xfrm>
          <a:prstGeom prst="rect">
            <a:avLst/>
          </a:prstGeom>
        </p:spPr>
      </p:pic>
      <p:pic>
        <p:nvPicPr>
          <p:cNvPr id="19" name="Picture 18" descr="image.png"/>
          <p:cNvPicPr>
            <a:picLocks noChangeAspect="1"/>
          </p:cNvPicPr>
          <p:nvPr/>
        </p:nvPicPr>
        <p:blipFill>
          <a:blip r:embed="rId5"/>
          <a:stretch>
            <a:fillRect/>
          </a:stretch>
        </p:blipFill>
        <p:spPr>
          <a:xfrm>
            <a:off x="614363" y="2397062"/>
            <a:ext cx="178594" cy="142875"/>
          </a:xfrm>
          <a:prstGeom prst="rect">
            <a:avLst/>
          </a:prstGeom>
        </p:spPr>
      </p:pic>
      <p:pic>
        <p:nvPicPr>
          <p:cNvPr id="20" name="Picture 19" descr="image.png"/>
          <p:cNvPicPr>
            <a:picLocks noChangeAspect="1"/>
          </p:cNvPicPr>
          <p:nvPr/>
        </p:nvPicPr>
        <p:blipFill>
          <a:blip r:embed="rId6"/>
          <a:stretch>
            <a:fillRect/>
          </a:stretch>
        </p:blipFill>
        <p:spPr>
          <a:xfrm>
            <a:off x="4779169" y="2397062"/>
            <a:ext cx="142875" cy="142875"/>
          </a:xfrm>
          <a:prstGeom prst="rect">
            <a:avLst/>
          </a:prstGeom>
        </p:spPr>
      </p:pic>
      <p:pic>
        <p:nvPicPr>
          <p:cNvPr id="21" name="Picture 20" descr="image.png"/>
          <p:cNvPicPr>
            <a:picLocks noChangeAspect="1"/>
          </p:cNvPicPr>
          <p:nvPr/>
        </p:nvPicPr>
        <p:blipFill>
          <a:blip r:embed="rId7"/>
          <a:stretch>
            <a:fillRect/>
          </a:stretch>
        </p:blipFill>
        <p:spPr>
          <a:xfrm>
            <a:off x="614363" y="2986422"/>
            <a:ext cx="164306" cy="142875"/>
          </a:xfrm>
          <a:prstGeom prst="rect">
            <a:avLst/>
          </a:prstGeom>
        </p:spPr>
      </p:pic>
      <p:pic>
        <p:nvPicPr>
          <p:cNvPr id="22" name="Picture 21" descr="image.png"/>
          <p:cNvPicPr>
            <a:picLocks noChangeAspect="1"/>
          </p:cNvPicPr>
          <p:nvPr/>
        </p:nvPicPr>
        <p:blipFill>
          <a:blip r:embed="rId8"/>
          <a:stretch>
            <a:fillRect/>
          </a:stretch>
        </p:blipFill>
        <p:spPr>
          <a:xfrm>
            <a:off x="4779169" y="2986422"/>
            <a:ext cx="178594" cy="142875"/>
          </a:xfrm>
          <a:prstGeom prst="rect">
            <a:avLst/>
          </a:prstGeom>
        </p:spPr>
      </p:pic>
      <p:sp>
        <p:nvSpPr>
          <p:cNvPr id="23" name="TextBox 22"/>
          <p:cNvSpPr txBox="1"/>
          <p:nvPr/>
        </p:nvSpPr>
        <p:spPr>
          <a:xfrm>
            <a:off x="7872476" y="4672013"/>
            <a:ext cx="814325" cy="121252"/>
          </a:xfrm>
          <a:prstGeom prst="rect">
            <a:avLst/>
          </a:prstGeom>
          <a:noFill/>
        </p:spPr>
        <p:txBody>
          <a:bodyPr wrap="none" lIns="0" tIns="0" rIns="0" bIns="0" anchor="t">
            <a:spAutoFit/>
          </a:bodyPr>
          <a:lstStyle/>
          <a:p>
            <a:pPr algn="r"/>
            <a:r>
              <a:rPr sz="788">
                <a:solidFill>
                  <a:srgbClr val="0F172A"/>
                </a:solidFill>
                <a:latin typeface="Plus Jakarta Sans"/>
              </a:rPr>
              <a:t>Síntesis • Caso Ñam</a:t>
            </a:r>
          </a:p>
        </p:txBody>
      </p:sp>
      <p:sp>
        <p:nvSpPr>
          <p:cNvPr id="25" name="TextBox 24"/>
          <p:cNvSpPr txBox="1"/>
          <p:nvPr/>
        </p:nvSpPr>
        <p:spPr>
          <a:xfrm>
            <a:off x="457200" y="642938"/>
            <a:ext cx="2242730" cy="322461"/>
          </a:xfrm>
          <a:prstGeom prst="rect">
            <a:avLst/>
          </a:prstGeom>
          <a:noFill/>
        </p:spPr>
        <p:txBody>
          <a:bodyPr wrap="none" lIns="0" tIns="0" rIns="0" bIns="0" anchor="t">
            <a:spAutoFit/>
          </a:bodyPr>
          <a:lstStyle/>
          <a:p>
            <a:pPr>
              <a:lnSpc>
                <a:spcPts val="2565"/>
              </a:lnSpc>
            </a:pPr>
            <a:r>
              <a:rPr sz="2138" b="1">
                <a:solidFill>
                  <a:srgbClr val="0F172A"/>
                </a:solidFill>
                <a:latin typeface="Plus Jakarta Sans"/>
              </a:rPr>
              <a:t>El resumen del caso</a:t>
            </a:r>
          </a:p>
        </p:txBody>
      </p:sp>
      <p:sp>
        <p:nvSpPr>
          <p:cNvPr id="26" name="TextBox 25"/>
          <p:cNvSpPr txBox="1"/>
          <p:nvPr/>
        </p:nvSpPr>
        <p:spPr>
          <a:xfrm>
            <a:off x="600075" y="3590069"/>
            <a:ext cx="8015288" cy="311752"/>
          </a:xfrm>
          <a:prstGeom prst="rect">
            <a:avLst/>
          </a:prstGeom>
          <a:noFill/>
        </p:spPr>
        <p:txBody>
          <a:bodyPr wrap="square" lIns="0" tIns="0" rIns="0" bIns="0" anchor="t">
            <a:spAutoFit/>
          </a:bodyPr>
          <a:lstStyle/>
          <a:p>
            <a:pPr algn="l"/>
            <a:r>
              <a:rPr sz="1013" dirty="0">
                <a:solidFill>
                  <a:srgbClr val="334155"/>
                </a:solidFill>
                <a:latin typeface="Plus Jakarta Sans"/>
              </a:rPr>
              <a:t>📌 </a:t>
            </a:r>
            <a:r>
              <a:rPr sz="1013" b="1" dirty="0" err="1">
                <a:solidFill>
                  <a:srgbClr val="0284C7"/>
                </a:solidFill>
                <a:latin typeface="Plus Jakarta Sans"/>
              </a:rPr>
              <a:t>Conclusión</a:t>
            </a:r>
            <a:r>
              <a:rPr sz="1013" b="1" dirty="0">
                <a:solidFill>
                  <a:srgbClr val="0284C7"/>
                </a:solidFill>
                <a:latin typeface="Plus Jakarta Sans"/>
              </a:rPr>
              <a:t> Clave:</a:t>
            </a:r>
            <a:r>
              <a:rPr sz="1013" dirty="0">
                <a:solidFill>
                  <a:srgbClr val="334155"/>
                </a:solidFill>
                <a:latin typeface="Plus Jakarta Sans"/>
              </a:rPr>
              <a:t> </a:t>
            </a:r>
            <a:r>
              <a:rPr sz="1013" dirty="0" err="1">
                <a:solidFill>
                  <a:srgbClr val="334155"/>
                </a:solidFill>
                <a:latin typeface="Plus Jakarta Sans"/>
              </a:rPr>
              <a:t>Ninguna</a:t>
            </a:r>
            <a:r>
              <a:rPr sz="1013" dirty="0">
                <a:solidFill>
                  <a:srgbClr val="334155"/>
                </a:solidFill>
                <a:latin typeface="Plus Jakarta Sans"/>
              </a:rPr>
              <a:t> de </a:t>
            </a:r>
            <a:r>
              <a:rPr sz="1013" dirty="0" err="1">
                <a:solidFill>
                  <a:srgbClr val="334155"/>
                </a:solidFill>
                <a:latin typeface="Plus Jakarta Sans"/>
              </a:rPr>
              <a:t>estas</a:t>
            </a:r>
            <a:r>
              <a:rPr sz="1013" dirty="0">
                <a:solidFill>
                  <a:srgbClr val="334155"/>
                </a:solidFill>
                <a:latin typeface="Plus Jakarta Sans"/>
              </a:rPr>
              <a:t> </a:t>
            </a:r>
            <a:r>
              <a:rPr sz="1013" dirty="0" err="1">
                <a:solidFill>
                  <a:srgbClr val="334155"/>
                </a:solidFill>
                <a:latin typeface="Plus Jakarta Sans"/>
              </a:rPr>
              <a:t>decisiones</a:t>
            </a:r>
            <a:r>
              <a:rPr sz="1013" dirty="0">
                <a:solidFill>
                  <a:srgbClr val="334155"/>
                </a:solidFill>
                <a:latin typeface="Plus Jakarta Sans"/>
              </a:rPr>
              <a:t> es la </a:t>
            </a:r>
            <a:r>
              <a:rPr sz="1013" dirty="0" err="1">
                <a:solidFill>
                  <a:srgbClr val="334155"/>
                </a:solidFill>
                <a:latin typeface="Plus Jakarta Sans"/>
              </a:rPr>
              <a:t>única</a:t>
            </a:r>
            <a:r>
              <a:rPr sz="1013" dirty="0">
                <a:solidFill>
                  <a:srgbClr val="334155"/>
                </a:solidFill>
                <a:latin typeface="Plus Jakarta Sans"/>
              </a:rPr>
              <a:t> </a:t>
            </a:r>
            <a:r>
              <a:rPr sz="1013" dirty="0" err="1">
                <a:solidFill>
                  <a:srgbClr val="334155"/>
                </a:solidFill>
                <a:latin typeface="Plus Jakarta Sans"/>
              </a:rPr>
              <a:t>posible</a:t>
            </a:r>
            <a:r>
              <a:rPr sz="1013" dirty="0">
                <a:solidFill>
                  <a:srgbClr val="334155"/>
                </a:solidFill>
                <a:latin typeface="Plus Jakarta Sans"/>
              </a:rPr>
              <a:t>, y </a:t>
            </a:r>
            <a:r>
              <a:rPr sz="1013" dirty="0" err="1">
                <a:solidFill>
                  <a:srgbClr val="334155"/>
                </a:solidFill>
                <a:latin typeface="Plus Jakarta Sans"/>
              </a:rPr>
              <a:t>ninguna</a:t>
            </a:r>
            <a:r>
              <a:rPr sz="1013" dirty="0">
                <a:solidFill>
                  <a:srgbClr val="334155"/>
                </a:solidFill>
                <a:latin typeface="Plus Jakarta Sans"/>
              </a:rPr>
              <a:t> es </a:t>
            </a:r>
            <a:r>
              <a:rPr sz="1013" dirty="0" err="1">
                <a:solidFill>
                  <a:srgbClr val="334155"/>
                </a:solidFill>
                <a:latin typeface="Plus Jakarta Sans"/>
              </a:rPr>
              <a:t>óptima</a:t>
            </a:r>
            <a:r>
              <a:rPr sz="1013" dirty="0">
                <a:solidFill>
                  <a:srgbClr val="334155"/>
                </a:solidFill>
                <a:latin typeface="Plus Jakarta Sans"/>
              </a:rPr>
              <a:t>. Lo </a:t>
            </a:r>
            <a:r>
              <a:rPr sz="1013" dirty="0" err="1">
                <a:solidFill>
                  <a:srgbClr val="334155"/>
                </a:solidFill>
                <a:latin typeface="Plus Jakarta Sans"/>
              </a:rPr>
              <a:t>que</a:t>
            </a:r>
            <a:r>
              <a:rPr sz="1013" dirty="0">
                <a:solidFill>
                  <a:srgbClr val="334155"/>
                </a:solidFill>
                <a:latin typeface="Plus Jakarta Sans"/>
              </a:rPr>
              <a:t> </a:t>
            </a:r>
            <a:r>
              <a:rPr sz="1013" dirty="0" err="1">
                <a:solidFill>
                  <a:srgbClr val="334155"/>
                </a:solidFill>
                <a:latin typeface="Plus Jakarta Sans"/>
              </a:rPr>
              <a:t>sí</a:t>
            </a:r>
            <a:r>
              <a:rPr sz="1013" dirty="0">
                <a:solidFill>
                  <a:srgbClr val="334155"/>
                </a:solidFill>
                <a:latin typeface="Plus Jakarta Sans"/>
              </a:rPr>
              <a:t> </a:t>
            </a:r>
            <a:r>
              <a:rPr sz="1013" dirty="0" err="1">
                <a:solidFill>
                  <a:srgbClr val="334155"/>
                </a:solidFill>
                <a:latin typeface="Plus Jakarta Sans"/>
              </a:rPr>
              <a:t>tienen</a:t>
            </a:r>
            <a:r>
              <a:rPr sz="1013" dirty="0">
                <a:solidFill>
                  <a:srgbClr val="334155"/>
                </a:solidFill>
                <a:latin typeface="Plus Jakarta Sans"/>
              </a:rPr>
              <a:t> es </a:t>
            </a:r>
            <a:r>
              <a:rPr sz="1013" dirty="0" err="1">
                <a:solidFill>
                  <a:srgbClr val="334155"/>
                </a:solidFill>
                <a:latin typeface="Plus Jakarta Sans"/>
              </a:rPr>
              <a:t>una</a:t>
            </a:r>
            <a:r>
              <a:rPr sz="1013" dirty="0">
                <a:solidFill>
                  <a:srgbClr val="334155"/>
                </a:solidFill>
                <a:latin typeface="Plus Jakarta Sans"/>
              </a:rPr>
              <a:t> </a:t>
            </a:r>
            <a:r>
              <a:rPr sz="1013" b="1" dirty="0" err="1">
                <a:solidFill>
                  <a:srgbClr val="334155"/>
                </a:solidFill>
                <a:latin typeface="Plus Jakarta Sans"/>
              </a:rPr>
              <a:t>justificación</a:t>
            </a:r>
            <a:r>
              <a:rPr sz="1013" dirty="0">
                <a:solidFill>
                  <a:srgbClr val="334155"/>
                </a:solidFill>
                <a:latin typeface="Plus Jakarta Sans"/>
              </a:rPr>
              <a:t>, y </a:t>
            </a:r>
            <a:r>
              <a:rPr sz="1013" dirty="0" err="1">
                <a:solidFill>
                  <a:srgbClr val="334155"/>
                </a:solidFill>
                <a:latin typeface="Plus Jakarta Sans"/>
              </a:rPr>
              <a:t>esa</a:t>
            </a:r>
            <a:r>
              <a:rPr sz="1013" dirty="0">
                <a:solidFill>
                  <a:srgbClr val="334155"/>
                </a:solidFill>
                <a:latin typeface="Plus Jakarta Sans"/>
              </a:rPr>
              <a:t> </a:t>
            </a:r>
            <a:r>
              <a:rPr sz="1013" dirty="0" err="1">
                <a:solidFill>
                  <a:srgbClr val="334155"/>
                </a:solidFill>
                <a:latin typeface="Plus Jakarta Sans"/>
              </a:rPr>
              <a:t>justificación</a:t>
            </a:r>
            <a:r>
              <a:rPr sz="1013" dirty="0">
                <a:solidFill>
                  <a:srgbClr val="334155"/>
                </a:solidFill>
                <a:latin typeface="Plus Jakarta Sans"/>
              </a:rPr>
              <a:t> es lo </a:t>
            </a:r>
            <a:r>
              <a:rPr sz="1013" dirty="0" err="1">
                <a:solidFill>
                  <a:srgbClr val="334155"/>
                </a:solidFill>
                <a:latin typeface="Plus Jakarta Sans"/>
              </a:rPr>
              <a:t>que</a:t>
            </a:r>
            <a:r>
              <a:rPr sz="1013" dirty="0">
                <a:solidFill>
                  <a:srgbClr val="334155"/>
                </a:solidFill>
                <a:latin typeface="Plus Jakarta Sans"/>
              </a:rPr>
              <a:t> </a:t>
            </a:r>
            <a:r>
              <a:rPr sz="1013" dirty="0" err="1">
                <a:solidFill>
                  <a:srgbClr val="334155"/>
                </a:solidFill>
                <a:latin typeface="Plus Jakarta Sans"/>
              </a:rPr>
              <a:t>va</a:t>
            </a:r>
            <a:r>
              <a:rPr sz="1013" dirty="0">
                <a:solidFill>
                  <a:srgbClr val="334155"/>
                </a:solidFill>
                <a:latin typeface="Plus Jakarta Sans"/>
              </a:rPr>
              <a:t> </a:t>
            </a:r>
            <a:r>
              <a:rPr sz="1013" dirty="0" err="1">
                <a:solidFill>
                  <a:srgbClr val="334155"/>
                </a:solidFill>
                <a:latin typeface="Plus Jakarta Sans"/>
              </a:rPr>
              <a:t>en</a:t>
            </a:r>
            <a:r>
              <a:rPr sz="1013" dirty="0">
                <a:solidFill>
                  <a:srgbClr val="334155"/>
                </a:solidFill>
                <a:latin typeface="Plus Jakarta Sans"/>
              </a:rPr>
              <a:t> el </a:t>
            </a:r>
            <a:r>
              <a:rPr sz="1013" dirty="0" err="1">
                <a:solidFill>
                  <a:srgbClr val="334155"/>
                </a:solidFill>
                <a:latin typeface="Plus Jakarta Sans"/>
              </a:rPr>
              <a:t>documento</a:t>
            </a:r>
            <a:r>
              <a:rPr sz="1013" dirty="0">
                <a:solidFill>
                  <a:srgbClr val="334155"/>
                </a:solidFill>
                <a:latin typeface="Plus Jakarta Sans"/>
              </a:rPr>
              <a:t> de </a:t>
            </a:r>
            <a:r>
              <a:rPr sz="1013" dirty="0" err="1">
                <a:solidFill>
                  <a:srgbClr val="334155"/>
                </a:solidFill>
                <a:latin typeface="Plus Jakarta Sans"/>
              </a:rPr>
              <a:t>diseño</a:t>
            </a:r>
            <a:r>
              <a:rPr sz="1013" dirty="0">
                <a:solidFill>
                  <a:srgbClr val="334155"/>
                </a:solidFill>
                <a:latin typeface="Plus Jakarta Sans"/>
              </a:rPr>
              <a:t>.</a:t>
            </a:r>
          </a:p>
        </p:txBody>
      </p:sp>
      <p:sp>
        <p:nvSpPr>
          <p:cNvPr id="27" name="TextBox 26"/>
          <p:cNvSpPr txBox="1"/>
          <p:nvPr/>
        </p:nvSpPr>
        <p:spPr>
          <a:xfrm>
            <a:off x="864394" y="1793416"/>
            <a:ext cx="3600450" cy="275460"/>
          </a:xfrm>
          <a:prstGeom prst="rect">
            <a:avLst/>
          </a:prstGeom>
          <a:noFill/>
        </p:spPr>
        <p:txBody>
          <a:bodyPr wrap="square" lIns="0" tIns="0" rIns="0" bIns="0" anchor="t">
            <a:spAutoFit/>
          </a:bodyPr>
          <a:lstStyle/>
          <a:p>
            <a:pPr>
              <a:lnSpc>
                <a:spcPts val="1139"/>
              </a:lnSpc>
            </a:pPr>
            <a:r>
              <a:rPr sz="844" dirty="0" err="1">
                <a:solidFill>
                  <a:srgbClr val="334155"/>
                </a:solidFill>
                <a:latin typeface="Plus Jakarta Sans"/>
              </a:rPr>
              <a:t>Empezamos</a:t>
            </a:r>
            <a:r>
              <a:rPr sz="844" dirty="0">
                <a:solidFill>
                  <a:srgbClr val="334155"/>
                </a:solidFill>
                <a:latin typeface="Plus Jakarta Sans"/>
              </a:rPr>
              <a:t> con </a:t>
            </a:r>
            <a:r>
              <a:rPr sz="844" dirty="0" err="1">
                <a:solidFill>
                  <a:srgbClr val="334155"/>
                </a:solidFill>
                <a:latin typeface="Plus Jakarta Sans"/>
              </a:rPr>
              <a:t>una</a:t>
            </a:r>
            <a:r>
              <a:rPr sz="844" dirty="0">
                <a:solidFill>
                  <a:srgbClr val="334155"/>
                </a:solidFill>
                <a:latin typeface="Plus Jakarta Sans"/>
              </a:rPr>
              <a:t> </a:t>
            </a:r>
            <a:r>
              <a:rPr sz="844" b="1" dirty="0" err="1">
                <a:solidFill>
                  <a:srgbClr val="334155"/>
                </a:solidFill>
                <a:latin typeface="Plus Jakarta Sans"/>
              </a:rPr>
              <a:t>frontera</a:t>
            </a:r>
            <a:r>
              <a:rPr sz="844" b="1" dirty="0">
                <a:solidFill>
                  <a:srgbClr val="334155"/>
                </a:solidFill>
                <a:latin typeface="Plus Jakarta Sans"/>
              </a:rPr>
              <a:t> y </a:t>
            </a:r>
            <a:r>
              <a:rPr sz="844" b="1" dirty="0" err="1">
                <a:solidFill>
                  <a:srgbClr val="334155"/>
                </a:solidFill>
                <a:latin typeface="Plus Jakarta Sans"/>
              </a:rPr>
              <a:t>diagrama</a:t>
            </a:r>
            <a:r>
              <a:rPr sz="844" b="1" dirty="0">
                <a:solidFill>
                  <a:srgbClr val="334155"/>
                </a:solidFill>
                <a:latin typeface="Plus Jakarta Sans"/>
              </a:rPr>
              <a:t> de </a:t>
            </a:r>
            <a:r>
              <a:rPr sz="844" b="1" dirty="0" err="1">
                <a:solidFill>
                  <a:srgbClr val="334155"/>
                </a:solidFill>
                <a:latin typeface="Plus Jakarta Sans"/>
              </a:rPr>
              <a:t>contexto</a:t>
            </a:r>
            <a:r>
              <a:rPr sz="844" dirty="0">
                <a:solidFill>
                  <a:srgbClr val="334155"/>
                </a:solidFill>
                <a:latin typeface="Plus Jakarta Sans"/>
              </a:rPr>
              <a:t>: </a:t>
            </a:r>
            <a:r>
              <a:rPr sz="844" dirty="0" err="1">
                <a:solidFill>
                  <a:srgbClr val="334155"/>
                </a:solidFill>
                <a:latin typeface="Plus Jakarta Sans"/>
              </a:rPr>
              <a:t>qué</a:t>
            </a:r>
            <a:r>
              <a:rPr sz="844" dirty="0">
                <a:solidFill>
                  <a:srgbClr val="334155"/>
                </a:solidFill>
                <a:latin typeface="Plus Jakarta Sans"/>
              </a:rPr>
              <a:t> </a:t>
            </a:r>
            <a:r>
              <a:rPr sz="844" dirty="0" err="1">
                <a:solidFill>
                  <a:srgbClr val="334155"/>
                </a:solidFill>
                <a:latin typeface="Plus Jakarta Sans"/>
              </a:rPr>
              <a:t>hace</a:t>
            </a:r>
            <a:r>
              <a:rPr sz="844" dirty="0">
                <a:solidFill>
                  <a:srgbClr val="334155"/>
                </a:solidFill>
                <a:latin typeface="Plus Jakarta Sans"/>
              </a:rPr>
              <a:t> </a:t>
            </a:r>
            <a:r>
              <a:rPr sz="844" dirty="0" err="1">
                <a:solidFill>
                  <a:srgbClr val="334155"/>
                </a:solidFill>
                <a:latin typeface="Plus Jakarta Sans"/>
              </a:rPr>
              <a:t>Ñam</a:t>
            </a:r>
            <a:r>
              <a:rPr sz="844" dirty="0">
                <a:solidFill>
                  <a:srgbClr val="334155"/>
                </a:solidFill>
                <a:latin typeface="Plus Jakarta Sans"/>
              </a:rPr>
              <a:t> y con </a:t>
            </a:r>
            <a:r>
              <a:rPr sz="844" dirty="0" err="1">
                <a:solidFill>
                  <a:srgbClr val="334155"/>
                </a:solidFill>
                <a:latin typeface="Plus Jakarta Sans"/>
              </a:rPr>
              <a:t>qué</a:t>
            </a:r>
            <a:r>
              <a:rPr sz="844" dirty="0">
                <a:solidFill>
                  <a:srgbClr val="334155"/>
                </a:solidFill>
                <a:latin typeface="Plus Jakarta Sans"/>
              </a:rPr>
              <a:t> se </a:t>
            </a:r>
            <a:r>
              <a:rPr sz="844" dirty="0" err="1">
                <a:solidFill>
                  <a:srgbClr val="334155"/>
                </a:solidFill>
                <a:latin typeface="Plus Jakarta Sans"/>
              </a:rPr>
              <a:t>conecta</a:t>
            </a:r>
            <a:r>
              <a:rPr sz="844" dirty="0">
                <a:solidFill>
                  <a:srgbClr val="334155"/>
                </a:solidFill>
                <a:latin typeface="Plus Jakarta Sans"/>
              </a:rPr>
              <a:t>, sin saber la </a:t>
            </a:r>
            <a:r>
              <a:rPr sz="844" dirty="0" err="1">
                <a:solidFill>
                  <a:srgbClr val="334155"/>
                </a:solidFill>
                <a:latin typeface="Plus Jakarta Sans"/>
              </a:rPr>
              <a:t>lógica</a:t>
            </a:r>
            <a:r>
              <a:rPr sz="844" dirty="0">
                <a:solidFill>
                  <a:srgbClr val="334155"/>
                </a:solidFill>
                <a:latin typeface="Plus Jakarta Sans"/>
              </a:rPr>
              <a:t> interna.</a:t>
            </a:r>
          </a:p>
        </p:txBody>
      </p:sp>
      <p:sp>
        <p:nvSpPr>
          <p:cNvPr id="28" name="TextBox 27"/>
          <p:cNvSpPr txBox="1"/>
          <p:nvPr/>
        </p:nvSpPr>
        <p:spPr>
          <a:xfrm>
            <a:off x="5007769" y="1793416"/>
            <a:ext cx="3621881" cy="275460"/>
          </a:xfrm>
          <a:prstGeom prst="rect">
            <a:avLst/>
          </a:prstGeom>
          <a:noFill/>
        </p:spPr>
        <p:txBody>
          <a:bodyPr wrap="square" lIns="0" tIns="0" rIns="0" bIns="0" anchor="t">
            <a:spAutoFit/>
          </a:bodyPr>
          <a:lstStyle/>
          <a:p>
            <a:pPr>
              <a:lnSpc>
                <a:spcPts val="1139"/>
              </a:lnSpc>
            </a:pPr>
            <a:r>
              <a:rPr sz="844">
                <a:solidFill>
                  <a:srgbClr val="334155"/>
                </a:solidFill>
                <a:latin typeface="Plus Jakarta Sans"/>
              </a:rPr>
              <a:t>Hicimos </a:t>
            </a:r>
            <a:r>
              <a:rPr sz="844" b="1">
                <a:solidFill>
                  <a:srgbClr val="334155"/>
                </a:solidFill>
                <a:latin typeface="Plus Jakarta Sans"/>
              </a:rPr>
              <a:t>una sola descomposición</a:t>
            </a:r>
            <a:r>
              <a:rPr sz="844">
                <a:solidFill>
                  <a:srgbClr val="334155"/>
                </a:solidFill>
                <a:latin typeface="Plus Jakarta Sans"/>
              </a:rPr>
              <a:t> y separamos dos partes complejas (API Móvil y Notificaciones) para simplificar.</a:t>
            </a:r>
          </a:p>
        </p:txBody>
      </p:sp>
      <p:sp>
        <p:nvSpPr>
          <p:cNvPr id="29" name="TextBox 28"/>
          <p:cNvSpPr txBox="1"/>
          <p:nvPr/>
        </p:nvSpPr>
        <p:spPr>
          <a:xfrm>
            <a:off x="878681" y="2382775"/>
            <a:ext cx="3586163" cy="275460"/>
          </a:xfrm>
          <a:prstGeom prst="rect">
            <a:avLst/>
          </a:prstGeom>
          <a:noFill/>
        </p:spPr>
        <p:txBody>
          <a:bodyPr wrap="square" lIns="0" tIns="0" rIns="0" bIns="0" anchor="t">
            <a:spAutoFit/>
          </a:bodyPr>
          <a:lstStyle/>
          <a:p>
            <a:pPr>
              <a:lnSpc>
                <a:spcPts val="1139"/>
              </a:lnSpc>
            </a:pPr>
            <a:r>
              <a:rPr sz="844">
                <a:solidFill>
                  <a:srgbClr val="334155"/>
                </a:solidFill>
                <a:latin typeface="Plus Jakarta Sans"/>
              </a:rPr>
              <a:t>Buscamos </a:t>
            </a:r>
            <a:r>
              <a:rPr sz="844" b="1">
                <a:solidFill>
                  <a:srgbClr val="334155"/>
                </a:solidFill>
                <a:latin typeface="Plus Jakarta Sans"/>
              </a:rPr>
              <a:t>candidatos</a:t>
            </a:r>
            <a:r>
              <a:rPr sz="844">
                <a:solidFill>
                  <a:srgbClr val="334155"/>
                </a:solidFill>
                <a:latin typeface="Plus Jakarta Sans"/>
              </a:rPr>
              <a:t> desde 4 perspectivas y les asignamos </a:t>
            </a:r>
            <a:r>
              <a:rPr sz="844" b="1">
                <a:solidFill>
                  <a:srgbClr val="334155"/>
                </a:solidFill>
                <a:latin typeface="Plus Jakarta Sans"/>
              </a:rPr>
              <a:t>estereotipos</a:t>
            </a:r>
            <a:r>
              <a:rPr sz="844">
                <a:solidFill>
                  <a:srgbClr val="334155"/>
                </a:solidFill>
                <a:latin typeface="Plus Jakarta Sans"/>
              </a:rPr>
              <a:t> (decisiones de diseño disfrazadas).</a:t>
            </a:r>
          </a:p>
        </p:txBody>
      </p:sp>
      <p:sp>
        <p:nvSpPr>
          <p:cNvPr id="30" name="TextBox 29"/>
          <p:cNvSpPr txBox="1"/>
          <p:nvPr/>
        </p:nvSpPr>
        <p:spPr>
          <a:xfrm>
            <a:off x="5007769" y="2382775"/>
            <a:ext cx="3621881" cy="275460"/>
          </a:xfrm>
          <a:prstGeom prst="rect">
            <a:avLst/>
          </a:prstGeom>
          <a:noFill/>
        </p:spPr>
        <p:txBody>
          <a:bodyPr wrap="square" lIns="0" tIns="0" rIns="0" bIns="0" anchor="t">
            <a:spAutoFit/>
          </a:bodyPr>
          <a:lstStyle/>
          <a:p>
            <a:pPr>
              <a:lnSpc>
                <a:spcPts val="1139"/>
              </a:lnSpc>
            </a:pPr>
            <a:r>
              <a:rPr sz="844">
                <a:solidFill>
                  <a:srgbClr val="334155"/>
                </a:solidFill>
                <a:latin typeface="Plus Jakarta Sans"/>
              </a:rPr>
              <a:t>Identificamos </a:t>
            </a:r>
            <a:r>
              <a:rPr sz="844" b="1">
                <a:solidFill>
                  <a:srgbClr val="334155"/>
                </a:solidFill>
                <a:latin typeface="Plus Jakarta Sans"/>
              </a:rPr>
              <a:t>responsabilidades</a:t>
            </a:r>
            <a:r>
              <a:rPr sz="844">
                <a:solidFill>
                  <a:srgbClr val="334155"/>
                </a:solidFill>
                <a:latin typeface="Plus Jakarta Sans"/>
              </a:rPr>
              <a:t>. En el camino apareció un rol nuevo y un hueco de dos niveles por resolver.</a:t>
            </a:r>
          </a:p>
        </p:txBody>
      </p:sp>
      <p:sp>
        <p:nvSpPr>
          <p:cNvPr id="31" name="TextBox 30"/>
          <p:cNvSpPr txBox="1"/>
          <p:nvPr/>
        </p:nvSpPr>
        <p:spPr>
          <a:xfrm>
            <a:off x="864394" y="2972135"/>
            <a:ext cx="3600450" cy="275460"/>
          </a:xfrm>
          <a:prstGeom prst="rect">
            <a:avLst/>
          </a:prstGeom>
          <a:noFill/>
        </p:spPr>
        <p:txBody>
          <a:bodyPr wrap="square" lIns="0" tIns="0" rIns="0" bIns="0" anchor="t">
            <a:spAutoFit/>
          </a:bodyPr>
          <a:lstStyle/>
          <a:p>
            <a:pPr>
              <a:lnSpc>
                <a:spcPts val="1139"/>
              </a:lnSpc>
            </a:pPr>
            <a:r>
              <a:rPr sz="844">
                <a:solidFill>
                  <a:srgbClr val="334155"/>
                </a:solidFill>
                <a:latin typeface="Plus Jakarta Sans"/>
              </a:rPr>
              <a:t>Diseñamos cuatro </a:t>
            </a:r>
            <a:r>
              <a:rPr sz="844" b="1">
                <a:solidFill>
                  <a:srgbClr val="334155"/>
                </a:solidFill>
                <a:latin typeface="Plus Jakarta Sans"/>
              </a:rPr>
              <a:t>colaboraciones</a:t>
            </a:r>
            <a:r>
              <a:rPr sz="844">
                <a:solidFill>
                  <a:srgbClr val="334155"/>
                </a:solidFill>
                <a:latin typeface="Plus Jakarta Sans"/>
              </a:rPr>
              <a:t> para validar el diseño y descubrir el </a:t>
            </a:r>
            <a:r>
              <a:rPr sz="844" b="1">
                <a:solidFill>
                  <a:srgbClr val="334155"/>
                </a:solidFill>
                <a:latin typeface="Plus Jakarta Sans"/>
              </a:rPr>
              <a:t>estilo de control</a:t>
            </a:r>
            <a:r>
              <a:rPr sz="844">
                <a:solidFill>
                  <a:srgbClr val="334155"/>
                </a:solidFill>
                <a:latin typeface="Plus Jakarta Sans"/>
              </a:rPr>
              <a:t> elegido.</a:t>
            </a:r>
          </a:p>
        </p:txBody>
      </p:sp>
      <p:sp>
        <p:nvSpPr>
          <p:cNvPr id="32" name="TextBox 31"/>
          <p:cNvSpPr txBox="1"/>
          <p:nvPr/>
        </p:nvSpPr>
        <p:spPr>
          <a:xfrm>
            <a:off x="5043487" y="2972135"/>
            <a:ext cx="3586163" cy="275460"/>
          </a:xfrm>
          <a:prstGeom prst="rect">
            <a:avLst/>
          </a:prstGeom>
          <a:noFill/>
        </p:spPr>
        <p:txBody>
          <a:bodyPr wrap="square" lIns="0" tIns="0" rIns="0" bIns="0" anchor="t">
            <a:spAutoFit/>
          </a:bodyPr>
          <a:lstStyle/>
          <a:p>
            <a:pPr>
              <a:lnSpc>
                <a:spcPts val="1139"/>
              </a:lnSpc>
            </a:pPr>
            <a:r>
              <a:rPr sz="844">
                <a:solidFill>
                  <a:srgbClr val="334155"/>
                </a:solidFill>
                <a:latin typeface="Plus Jakarta Sans"/>
              </a:rPr>
              <a:t>Sólo al final bajamos a </a:t>
            </a:r>
            <a:r>
              <a:rPr sz="844" b="1">
                <a:solidFill>
                  <a:srgbClr val="334155"/>
                </a:solidFill>
                <a:latin typeface="Plus Jakarta Sans"/>
              </a:rPr>
              <a:t>clases, atributos y métodos</a:t>
            </a:r>
            <a:r>
              <a:rPr sz="844">
                <a:solidFill>
                  <a:srgbClr val="334155"/>
                </a:solidFill>
                <a:latin typeface="Plus Jakarta Sans"/>
              </a:rPr>
              <a:t>, dejando una lista explícita de lo que falta.</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203150" cy="5143500"/>
          </a:xfrm>
          <a:prstGeom prst="rect">
            <a:avLst/>
          </a:prstGeom>
          <a:solidFill>
            <a:srgbClr val="0B84D9"/>
          </a:solidFill>
          <a:ln/>
        </p:spPr>
        <p:txBody>
          <a:bodyPr wrap="square" rtlCol="0" anchor="ctr"/>
          <a:lstStyle/>
          <a:p>
            <a:pPr marL="0" indent="0">
              <a:buNone/>
            </a:pPr>
            <a:endParaRPr lang="en-US" dirty="0"/>
          </a:p>
        </p:txBody>
      </p:sp>
      <p:sp>
        <p:nvSpPr>
          <p:cNvPr id="3" name="Text 1"/>
          <p:cNvSpPr/>
          <p:nvPr/>
        </p:nvSpPr>
        <p:spPr>
          <a:xfrm>
            <a:off x="431750" y="1524000"/>
            <a:ext cx="5181549" cy="1424732"/>
          </a:xfrm>
          <a:prstGeom prst="rect">
            <a:avLst/>
          </a:prstGeom>
          <a:noFill/>
          <a:ln/>
        </p:spPr>
        <p:txBody>
          <a:bodyPr wrap="square" lIns="0" tIns="0" rIns="0" bIns="0" rtlCol="0" anchor="t"/>
          <a:lstStyle/>
          <a:p>
            <a:pPr marL="0" indent="0" algn="l">
              <a:lnSpc>
                <a:spcPts val="3740"/>
              </a:lnSpc>
              <a:spcBef>
                <a:spcPts val="12000"/>
              </a:spcBef>
              <a:buNone/>
            </a:pPr>
            <a:r>
              <a:rPr lang="en-US" sz="3400" dirty="0">
                <a:solidFill>
                  <a:srgbClr val="111111"/>
                </a:solidFill>
                <a:latin typeface="Helvetica" pitchFamily="34" charset="0"/>
                <a:ea typeface="Helvetica" pitchFamily="34" charset="-122"/>
                <a:cs typeface="Helvetica" pitchFamily="34" charset="-120"/>
              </a:rPr>
              <a:t>Para el deck de</a:t>
            </a:r>
            <a:endParaRPr lang="en-US" sz="3400" dirty="0"/>
          </a:p>
          <a:p>
            <a:pPr marL="0" indent="0" algn="l">
              <a:lnSpc>
                <a:spcPts val="3740"/>
              </a:lnSpc>
              <a:spcBef>
                <a:spcPts val="12000"/>
              </a:spcBef>
              <a:buNone/>
            </a:pPr>
            <a:r>
              <a:rPr lang="en-US" sz="3400" dirty="0">
                <a:solidFill>
                  <a:srgbClr val="111111"/>
                </a:solidFill>
                <a:latin typeface="Helvetica" pitchFamily="34" charset="0"/>
                <a:ea typeface="Helvetica" pitchFamily="34" charset="-122"/>
                <a:cs typeface="Helvetica" pitchFamily="34" charset="-120"/>
              </a:rPr>
              <a:t>aspectos</a:t>
            </a:r>
            <a:endParaRPr lang="en-US" sz="3400" dirty="0"/>
          </a:p>
          <a:p>
            <a:pPr marL="0" indent="0" algn="l">
              <a:lnSpc>
                <a:spcPts val="3740"/>
              </a:lnSpc>
              <a:spcBef>
                <a:spcPts val="12000"/>
              </a:spcBef>
              <a:buNone/>
            </a:pPr>
            <a:r>
              <a:rPr lang="en-US" sz="3400" dirty="0">
                <a:solidFill>
                  <a:srgbClr val="111111"/>
                </a:solidFill>
                <a:latin typeface="Helvetica" pitchFamily="34" charset="0"/>
                <a:ea typeface="Helvetica" pitchFamily="34" charset="-122"/>
                <a:cs typeface="Helvetica" pitchFamily="34" charset="-120"/>
              </a:rPr>
              <a:t>metodológicos</a:t>
            </a:r>
            <a:endParaRPr lang="en-US" sz="3400" dirty="0"/>
          </a:p>
        </p:txBody>
      </p:sp>
      <p:sp>
        <p:nvSpPr>
          <p:cNvPr id="4" name="Text 2"/>
          <p:cNvSpPr/>
          <p:nvPr/>
        </p:nvSpPr>
        <p:spPr>
          <a:xfrm>
            <a:off x="5079950" y="1498550"/>
            <a:ext cx="3704793" cy="494705"/>
          </a:xfrm>
          <a:prstGeom prst="rect">
            <a:avLst/>
          </a:prstGeom>
          <a:noFill/>
          <a:ln/>
        </p:spPr>
        <p:txBody>
          <a:bodyPr wrap="square" lIns="0" tIns="0" rIns="0" bIns="0" rtlCol="0" anchor="t"/>
          <a:lstStyle/>
          <a:p>
            <a:pPr marL="0" indent="0" algn="l">
              <a:lnSpc>
                <a:spcPts val="1300"/>
              </a:lnSpc>
              <a:spcAft>
                <a:spcPts val="700"/>
              </a:spcAft>
              <a:buNone/>
            </a:pPr>
            <a:r>
              <a:rPr lang="en-US" sz="1000" dirty="0">
                <a:solidFill>
                  <a:srgbClr val="4A4A4A"/>
                </a:solidFill>
                <a:latin typeface="Helvetica" pitchFamily="34" charset="0"/>
                <a:ea typeface="Helvetica" pitchFamily="34" charset="-122"/>
                <a:cs typeface="Helvetica" pitchFamily="34" charset="-120"/>
              </a:rPr>
              <a:t>Dos diapositivas del deck </a:t>
            </a:r>
            <a:r>
              <a:rPr lang="en-US" sz="1000" i="1" dirty="0">
                <a:solidFill>
                  <a:srgbClr val="4A4A4A"/>
                </a:solidFill>
                <a:latin typeface="Helvetica" pitchFamily="34" charset="0"/>
                <a:ea typeface="Helvetica" pitchFamily="34" charset="-122"/>
                <a:cs typeface="Helvetica" pitchFamily="34" charset="-120"/>
              </a:rPr>
              <a:t>Aspectos metodológicos para el diseño O.O.</a:t>
            </a:r>
            <a:r>
              <a:rPr lang="en-US" sz="1000" dirty="0">
                <a:solidFill>
                  <a:srgbClr val="4A4A4A"/>
                </a:solidFill>
                <a:latin typeface="Helvetica" pitchFamily="34" charset="0"/>
                <a:ea typeface="Helvetica" pitchFamily="34" charset="-122"/>
                <a:cs typeface="Helvetica" pitchFamily="34" charset="-120"/>
              </a:rPr>
              <a:t> hablan directamente del caso de estudio. Estas son sus versiones para Ñam.</a:t>
            </a:r>
            <a:endParaRPr lang="en-US" sz="1000" dirty="0"/>
          </a:p>
        </p:txBody>
      </p:sp>
      <p:sp>
        <p:nvSpPr>
          <p:cNvPr id="5" name="Text 3"/>
          <p:cNvSpPr/>
          <p:nvPr/>
        </p:nvSpPr>
        <p:spPr>
          <a:xfrm>
            <a:off x="8737402" y="4842570"/>
            <a:ext cx="129793" cy="148530"/>
          </a:xfrm>
          <a:prstGeom prst="rect">
            <a:avLst/>
          </a:prstGeom>
          <a:noFill/>
          <a:ln/>
        </p:spPr>
        <p:txBody>
          <a:bodyPr wrap="square" lIns="0" tIns="0" rIns="0" bIns="0" rtlCol="0" anchor="t"/>
          <a:lstStyle/>
          <a:p>
            <a:pPr marL="0" indent="0" algn="l">
              <a:lnSpc>
                <a:spcPts val="1170"/>
              </a:lnSpc>
              <a:buNone/>
            </a:pPr>
            <a:r>
              <a:rPr lang="en-US" sz="900" dirty="0">
                <a:solidFill>
                  <a:srgbClr val="9A9A9A"/>
                </a:solidFill>
                <a:latin typeface="Helvetica" pitchFamily="34" charset="0"/>
                <a:ea typeface="Helvetica" pitchFamily="34" charset="-122"/>
                <a:cs typeface="Helvetica" pitchFamily="34" charset="-120"/>
              </a:rPr>
              <a:t>35</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04800"/>
            <a:ext cx="8394192" cy="312837"/>
          </a:xfrm>
          <a:prstGeom prst="rect">
            <a:avLst/>
          </a:prstGeom>
          <a:noFill/>
          <a:ln/>
        </p:spPr>
        <p:txBody>
          <a:bodyPr wrap="square" lIns="0" tIns="0" rIns="0" bIns="0" rtlCol="0" anchor="t"/>
          <a:lstStyle/>
          <a:p>
            <a:pPr marL="0" indent="0" algn="l">
              <a:lnSpc>
                <a:spcPts val="2464"/>
              </a:lnSpc>
              <a:spcBef>
                <a:spcPts val="2400"/>
              </a:spcBef>
              <a:buNone/>
            </a:pPr>
            <a:r>
              <a:rPr lang="en-US" sz="2200" b="1" dirty="0">
                <a:solidFill>
                  <a:srgbClr val="111111"/>
                </a:solidFill>
                <a:latin typeface="Helvetica" pitchFamily="34" charset="0"/>
                <a:ea typeface="Helvetica" pitchFamily="34" charset="-122"/>
                <a:cs typeface="Helvetica" pitchFamily="34" charset="-120"/>
              </a:rPr>
              <a:t>Piense en los cambios que sufrirá el diseño</a:t>
            </a:r>
            <a:endParaRPr lang="en-US" sz="2200" dirty="0"/>
          </a:p>
        </p:txBody>
      </p:sp>
      <p:sp>
        <p:nvSpPr>
          <p:cNvPr id="3" name="Text 1"/>
          <p:cNvSpPr/>
          <p:nvPr/>
        </p:nvSpPr>
        <p:spPr>
          <a:xfrm>
            <a:off x="431750" y="693837"/>
            <a:ext cx="8445957" cy="329803"/>
          </a:xfrm>
          <a:prstGeom prst="rect">
            <a:avLst/>
          </a:prstGeom>
          <a:noFill/>
          <a:ln/>
        </p:spPr>
        <p:txBody>
          <a:bodyPr wrap="square" lIns="0" tIns="0" rIns="0" bIns="0" rtlCol="0" anchor="t"/>
          <a:lstStyle/>
          <a:p>
            <a:pPr marL="0" indent="0" algn="l">
              <a:lnSpc>
                <a:spcPts val="1300"/>
              </a:lnSpc>
              <a:spcAft>
                <a:spcPts val="700"/>
              </a:spcAft>
              <a:buNone/>
            </a:pPr>
            <a:r>
              <a:rPr lang="en-US" sz="1000" dirty="0">
                <a:solidFill>
                  <a:srgbClr val="4A4A4A"/>
                </a:solidFill>
                <a:latin typeface="Helvetica" pitchFamily="34" charset="0"/>
                <a:ea typeface="Helvetica" pitchFamily="34" charset="-122"/>
                <a:cs typeface="Helvetica" pitchFamily="34" charset="-120"/>
              </a:rPr>
              <a:t>Ejemplos de cambios que Ñam va a tener que soportar. No hay que diseñar hoy para todos ellos, pero sí hay que diseñar sabiendo que van a llegar.</a:t>
            </a:r>
            <a:endParaRPr lang="en-US" sz="1000" dirty="0"/>
          </a:p>
        </p:txBody>
      </p:sp>
      <p:sp>
        <p:nvSpPr>
          <p:cNvPr id="4" name="Text 2"/>
          <p:cNvSpPr/>
          <p:nvPr/>
        </p:nvSpPr>
        <p:spPr>
          <a:xfrm>
            <a:off x="622250" y="1112490"/>
            <a:ext cx="3873401" cy="1368772"/>
          </a:xfrm>
          <a:prstGeom prst="rect">
            <a:avLst/>
          </a:prstGeom>
          <a:noFill/>
          <a:ln/>
        </p:spPr>
        <p:txBody>
          <a:bodyPr wrap="square" lIns="0" tIns="0" rIns="0" bIns="0" rtlCol="0" anchor="t"/>
          <a:lstStyle/>
          <a:p>
            <a:pPr marL="342900" indent="-342900" algn="l">
              <a:lnSpc>
                <a:spcPts val="1326"/>
              </a:lnSpc>
              <a:spcAft>
                <a:spcPts val="300"/>
              </a:spcAft>
              <a:buSzPct val="100000"/>
              <a:buChar char="•"/>
            </a:pPr>
            <a:r>
              <a:rPr lang="en-US" sz="1020" dirty="0">
                <a:solidFill>
                  <a:srgbClr val="111111"/>
                </a:solidFill>
                <a:latin typeface="Helvetica" pitchFamily="34" charset="0"/>
                <a:ea typeface="Helvetica" pitchFamily="34" charset="-122"/>
                <a:cs typeface="Helvetica" pitchFamily="34" charset="-120"/>
              </a:rPr>
              <a:t>Aceptar un medio de pago nuevo</a:t>
            </a:r>
            <a:endParaRPr lang="en-US" sz="1020" dirty="0"/>
          </a:p>
          <a:p>
            <a:pPr marL="342900" indent="-342900" algn="l">
              <a:lnSpc>
                <a:spcPts val="1326"/>
              </a:lnSpc>
              <a:spcAft>
                <a:spcPts val="300"/>
              </a:spcAft>
              <a:buSzPct val="100000"/>
              <a:buChar char="•"/>
            </a:pPr>
            <a:r>
              <a:rPr lang="en-US" sz="1020" dirty="0">
                <a:solidFill>
                  <a:srgbClr val="111111"/>
                </a:solidFill>
                <a:latin typeface="Helvetica" pitchFamily="34" charset="0"/>
                <a:ea typeface="Helvetica" pitchFamily="34" charset="-122"/>
                <a:cs typeface="Helvetica" pitchFamily="34" charset="-120"/>
              </a:rPr>
              <a:t>Permitir </a:t>
            </a:r>
            <a:r>
              <a:rPr lang="en-US" sz="1020" b="1" dirty="0">
                <a:solidFill>
                  <a:srgbClr val="111111"/>
                </a:solidFill>
                <a:latin typeface="Helvetica" pitchFamily="34" charset="0"/>
                <a:ea typeface="Helvetica" pitchFamily="34" charset="-122"/>
                <a:cs typeface="Helvetica" pitchFamily="34" charset="-120"/>
              </a:rPr>
              <a:t>pedidos programados</a:t>
            </a:r>
            <a:r>
              <a:rPr lang="en-US" sz="1020" dirty="0">
                <a:solidFill>
                  <a:srgbClr val="111111"/>
                </a:solidFill>
                <a:latin typeface="Helvetica" pitchFamily="34" charset="0"/>
                <a:ea typeface="Helvetica" pitchFamily="34" charset="-122"/>
                <a:cs typeface="Helvetica" pitchFamily="34" charset="-120"/>
              </a:rPr>
              <a:t> para más tarde</a:t>
            </a:r>
            <a:endParaRPr lang="en-US" sz="1020" dirty="0"/>
          </a:p>
          <a:p>
            <a:pPr marL="342900" indent="-342900" algn="l">
              <a:lnSpc>
                <a:spcPts val="1326"/>
              </a:lnSpc>
              <a:spcAft>
                <a:spcPts val="300"/>
              </a:spcAft>
              <a:buSzPct val="100000"/>
              <a:buChar char="•"/>
            </a:pPr>
            <a:r>
              <a:rPr lang="en-US" sz="1020" dirty="0">
                <a:solidFill>
                  <a:srgbClr val="111111"/>
                </a:solidFill>
                <a:latin typeface="Helvetica" pitchFamily="34" charset="0"/>
                <a:ea typeface="Helvetica" pitchFamily="34" charset="-122"/>
                <a:cs typeface="Helvetica" pitchFamily="34" charset="-120"/>
              </a:rPr>
              <a:t>Soportar </a:t>
            </a:r>
            <a:r>
              <a:rPr lang="en-US" sz="1020" b="1" dirty="0">
                <a:solidFill>
                  <a:srgbClr val="111111"/>
                </a:solidFill>
                <a:latin typeface="Helvetica" pitchFamily="34" charset="0"/>
                <a:ea typeface="Helvetica" pitchFamily="34" charset="-122"/>
                <a:cs typeface="Helvetica" pitchFamily="34" charset="-120"/>
              </a:rPr>
              <a:t>cupones y promociones</a:t>
            </a:r>
            <a:r>
              <a:rPr lang="en-US" sz="1020" dirty="0">
                <a:solidFill>
                  <a:srgbClr val="111111"/>
                </a:solidFill>
                <a:latin typeface="Helvetica" pitchFamily="34" charset="0"/>
                <a:ea typeface="Helvetica" pitchFamily="34" charset="-122"/>
                <a:cs typeface="Helvetica" pitchFamily="34" charset="-120"/>
              </a:rPr>
              <a:t> (2x1, domicilio gratis por encima de un monto)</a:t>
            </a:r>
            <a:endParaRPr lang="en-US" sz="1020" dirty="0"/>
          </a:p>
          <a:p>
            <a:pPr marL="342900" indent="-342900" algn="l">
              <a:lnSpc>
                <a:spcPts val="1326"/>
              </a:lnSpc>
              <a:spcAft>
                <a:spcPts val="300"/>
              </a:spcAft>
              <a:buSzPct val="100000"/>
              <a:buChar char="•"/>
            </a:pPr>
            <a:r>
              <a:rPr lang="en-US" sz="1020" dirty="0">
                <a:solidFill>
                  <a:srgbClr val="111111"/>
                </a:solidFill>
                <a:latin typeface="Helvetica" pitchFamily="34" charset="0"/>
                <a:ea typeface="Helvetica" pitchFamily="34" charset="-122"/>
                <a:cs typeface="Helvetica" pitchFamily="34" charset="-120"/>
              </a:rPr>
              <a:t>Permitir dividir la cuenta entre varias personas</a:t>
            </a:r>
            <a:endParaRPr lang="en-US" sz="1020" dirty="0"/>
          </a:p>
          <a:p>
            <a:pPr marL="342900" indent="-342900" algn="l">
              <a:lnSpc>
                <a:spcPts val="1326"/>
              </a:lnSpc>
              <a:spcAft>
                <a:spcPts val="300"/>
              </a:spcAft>
              <a:buSzPct val="100000"/>
              <a:buChar char="•"/>
            </a:pPr>
            <a:r>
              <a:rPr lang="en-US" sz="1020" dirty="0">
                <a:solidFill>
                  <a:srgbClr val="111111"/>
                </a:solidFill>
                <a:latin typeface="Helvetica" pitchFamily="34" charset="0"/>
                <a:ea typeface="Helvetica" pitchFamily="34" charset="-122"/>
                <a:cs typeface="Helvetica" pitchFamily="34" charset="-120"/>
              </a:rPr>
              <a:t>Soportar un pedido con platos de </a:t>
            </a:r>
            <a:r>
              <a:rPr lang="en-US" sz="1020" b="1" dirty="0">
                <a:solidFill>
                  <a:srgbClr val="111111"/>
                </a:solidFill>
                <a:latin typeface="Helvetica" pitchFamily="34" charset="0"/>
                <a:ea typeface="Helvetica" pitchFamily="34" charset="-122"/>
                <a:cs typeface="Helvetica" pitchFamily="34" charset="-120"/>
              </a:rPr>
              <a:t>varios restaurantes</a:t>
            </a:r>
            <a:endParaRPr lang="en-US" sz="1020" dirty="0"/>
          </a:p>
          <a:p>
            <a:pPr marL="342900" indent="-342900" algn="l">
              <a:lnSpc>
                <a:spcPts val="1326"/>
              </a:lnSpc>
              <a:spcAft>
                <a:spcPts val="300"/>
              </a:spcAft>
              <a:buSzPct val="100000"/>
              <a:buChar char="•"/>
            </a:pPr>
            <a:r>
              <a:rPr lang="en-US" sz="1020" dirty="0">
                <a:solidFill>
                  <a:srgbClr val="111111"/>
                </a:solidFill>
                <a:latin typeface="Helvetica" pitchFamily="34" charset="0"/>
                <a:ea typeface="Helvetica" pitchFamily="34" charset="-122"/>
                <a:cs typeface="Helvetica" pitchFamily="34" charset="-120"/>
              </a:rPr>
              <a:t>Vender también mercado y farmacia, no sólo comida</a:t>
            </a:r>
            <a:endParaRPr lang="en-US" sz="1020" dirty="0"/>
          </a:p>
        </p:txBody>
      </p:sp>
      <p:sp>
        <p:nvSpPr>
          <p:cNvPr id="5" name="Text 3"/>
          <p:cNvSpPr/>
          <p:nvPr/>
        </p:nvSpPr>
        <p:spPr>
          <a:xfrm>
            <a:off x="4838551" y="1112490"/>
            <a:ext cx="3873401" cy="1200448"/>
          </a:xfrm>
          <a:prstGeom prst="rect">
            <a:avLst/>
          </a:prstGeom>
          <a:noFill/>
          <a:ln/>
        </p:spPr>
        <p:txBody>
          <a:bodyPr wrap="square" lIns="0" tIns="0" rIns="0" bIns="0" rtlCol="0" anchor="t"/>
          <a:lstStyle/>
          <a:p>
            <a:pPr marL="342900" indent="-342900" algn="l">
              <a:lnSpc>
                <a:spcPts val="1326"/>
              </a:lnSpc>
              <a:spcAft>
                <a:spcPts val="300"/>
              </a:spcAft>
              <a:buSzPct val="100000"/>
              <a:buChar char="•"/>
            </a:pPr>
            <a:r>
              <a:rPr lang="en-US" sz="1020" dirty="0">
                <a:solidFill>
                  <a:srgbClr val="111111"/>
                </a:solidFill>
                <a:latin typeface="Helvetica" pitchFamily="34" charset="0"/>
                <a:ea typeface="Helvetica" pitchFamily="34" charset="-122"/>
                <a:cs typeface="Helvetica" pitchFamily="34" charset="-120"/>
              </a:rPr>
              <a:t>Cambiar de proveedor de mapas porque subió el precio</a:t>
            </a:r>
            <a:endParaRPr lang="en-US" sz="1020" dirty="0"/>
          </a:p>
          <a:p>
            <a:pPr marL="342900" indent="-342900" algn="l">
              <a:lnSpc>
                <a:spcPts val="1326"/>
              </a:lnSpc>
              <a:spcAft>
                <a:spcPts val="300"/>
              </a:spcAft>
              <a:buSzPct val="100000"/>
              <a:buChar char="•"/>
            </a:pPr>
            <a:r>
              <a:rPr lang="en-US" sz="1020" dirty="0">
                <a:solidFill>
                  <a:srgbClr val="111111"/>
                </a:solidFill>
                <a:latin typeface="Helvetica" pitchFamily="34" charset="0"/>
                <a:ea typeface="Helvetica" pitchFamily="34" charset="-122"/>
                <a:cs typeface="Helvetica" pitchFamily="34" charset="-120"/>
              </a:rPr>
              <a:t>Agregar el modo </a:t>
            </a:r>
            <a:r>
              <a:rPr lang="en-US" sz="1020" b="1" dirty="0">
                <a:solidFill>
                  <a:srgbClr val="111111"/>
                </a:solidFill>
                <a:latin typeface="Helvetica" pitchFamily="34" charset="0"/>
                <a:ea typeface="Helvetica" pitchFamily="34" charset="-122"/>
                <a:cs typeface="Helvetica" pitchFamily="34" charset="-120"/>
              </a:rPr>
              <a:t>“recojo yo en el restaurante”</a:t>
            </a:r>
            <a:r>
              <a:rPr lang="en-US" sz="1020" dirty="0">
                <a:solidFill>
                  <a:srgbClr val="111111"/>
                </a:solidFill>
                <a:latin typeface="Helvetica" pitchFamily="34" charset="0"/>
                <a:ea typeface="Helvetica" pitchFamily="34" charset="-122"/>
                <a:cs typeface="Helvetica" pitchFamily="34" charset="-120"/>
              </a:rPr>
              <a:t>, sin repartidor</a:t>
            </a:r>
            <a:endParaRPr lang="en-US" sz="1020" dirty="0"/>
          </a:p>
          <a:p>
            <a:pPr marL="342900" indent="-342900" algn="l">
              <a:lnSpc>
                <a:spcPts val="1326"/>
              </a:lnSpc>
              <a:spcAft>
                <a:spcPts val="300"/>
              </a:spcAft>
              <a:buSzPct val="100000"/>
              <a:buChar char="•"/>
            </a:pPr>
            <a:r>
              <a:rPr lang="en-US" sz="1020" dirty="0">
                <a:solidFill>
                  <a:srgbClr val="111111"/>
                </a:solidFill>
                <a:latin typeface="Helvetica" pitchFamily="34" charset="0"/>
                <a:ea typeface="Helvetica" pitchFamily="34" charset="-122"/>
                <a:cs typeface="Helvetica" pitchFamily="34" charset="-120"/>
              </a:rPr>
              <a:t>Mostrar el repartidor moviéndose en el mapa en tiempo real</a:t>
            </a:r>
            <a:endParaRPr lang="en-US" sz="1020" dirty="0"/>
          </a:p>
          <a:p>
            <a:pPr marL="342900" indent="-342900" algn="l">
              <a:lnSpc>
                <a:spcPts val="1326"/>
              </a:lnSpc>
              <a:spcAft>
                <a:spcPts val="300"/>
              </a:spcAft>
              <a:buSzPct val="100000"/>
              <a:buChar char="•"/>
            </a:pPr>
            <a:r>
              <a:rPr lang="en-US" sz="1020" dirty="0">
                <a:solidFill>
                  <a:srgbClr val="111111"/>
                </a:solidFill>
                <a:latin typeface="Helvetica" pitchFamily="34" charset="0"/>
                <a:ea typeface="Helvetica" pitchFamily="34" charset="-122"/>
                <a:cs typeface="Helvetica" pitchFamily="34" charset="-120"/>
              </a:rPr>
              <a:t>Meter un </a:t>
            </a:r>
            <a:r>
              <a:rPr lang="en-US" sz="1020" b="1" dirty="0">
                <a:solidFill>
                  <a:srgbClr val="111111"/>
                </a:solidFill>
                <a:latin typeface="Helvetica" pitchFamily="34" charset="0"/>
                <a:ea typeface="Helvetica" pitchFamily="34" charset="-122"/>
                <a:cs typeface="Helvetica" pitchFamily="34" charset="-120"/>
              </a:rPr>
              <a:t>caché</a:t>
            </a:r>
            <a:r>
              <a:rPr lang="en-US" sz="1020" dirty="0">
                <a:solidFill>
                  <a:srgbClr val="111111"/>
                </a:solidFill>
                <a:latin typeface="Helvetica" pitchFamily="34" charset="0"/>
                <a:ea typeface="Helvetica" pitchFamily="34" charset="-122"/>
                <a:cs typeface="Helvetica" pitchFamily="34" charset="-120"/>
              </a:rPr>
              <a:t> de menús para aguantar la hora del almuerzo</a:t>
            </a:r>
            <a:endParaRPr lang="en-US" sz="1020" dirty="0"/>
          </a:p>
          <a:p>
            <a:pPr marL="342900" indent="-342900" algn="l">
              <a:lnSpc>
                <a:spcPts val="1326"/>
              </a:lnSpc>
              <a:spcAft>
                <a:spcPts val="300"/>
              </a:spcAft>
              <a:buSzPct val="100000"/>
              <a:buChar char="•"/>
            </a:pPr>
            <a:r>
              <a:rPr lang="en-US" sz="1020" dirty="0">
                <a:solidFill>
                  <a:srgbClr val="111111"/>
                </a:solidFill>
                <a:latin typeface="Helvetica" pitchFamily="34" charset="0"/>
                <a:ea typeface="Helvetica" pitchFamily="34" charset="-122"/>
                <a:cs typeface="Helvetica" pitchFamily="34" charset="-120"/>
              </a:rPr>
              <a:t>Cambiar el criterio de asignación de repartidores</a:t>
            </a:r>
            <a:endParaRPr lang="en-US" sz="1020" dirty="0"/>
          </a:p>
          <a:p>
            <a:pPr marL="342900" indent="-342900" algn="l">
              <a:lnSpc>
                <a:spcPts val="1326"/>
              </a:lnSpc>
              <a:spcAft>
                <a:spcPts val="300"/>
              </a:spcAft>
              <a:buSzPct val="100000"/>
              <a:buChar char="•"/>
            </a:pPr>
            <a:r>
              <a:rPr lang="en-US" sz="1020" dirty="0">
                <a:solidFill>
                  <a:srgbClr val="111111"/>
                </a:solidFill>
                <a:latin typeface="Helvetica" pitchFamily="34" charset="0"/>
                <a:ea typeface="Helvetica" pitchFamily="34" charset="-122"/>
                <a:cs typeface="Helvetica" pitchFamily="34" charset="-120"/>
              </a:rPr>
              <a:t>Poder afiliar un restaurante nuevo sin reiniciar el sistema</a:t>
            </a:r>
            <a:endParaRPr lang="en-US" sz="1020" dirty="0"/>
          </a:p>
        </p:txBody>
      </p:sp>
      <p:sp>
        <p:nvSpPr>
          <p:cNvPr id="6" name="Text 4"/>
          <p:cNvSpPr/>
          <p:nvPr/>
        </p:nvSpPr>
        <p:spPr>
          <a:xfrm>
            <a:off x="405867" y="2747664"/>
            <a:ext cx="8445957" cy="329803"/>
          </a:xfrm>
          <a:prstGeom prst="rect">
            <a:avLst/>
          </a:prstGeom>
          <a:noFill/>
          <a:ln/>
        </p:spPr>
        <p:txBody>
          <a:bodyPr wrap="square" lIns="0" tIns="0" rIns="0" bIns="0" rtlCol="0" anchor="t"/>
          <a:lstStyle/>
          <a:p>
            <a:pPr marL="0" indent="0" algn="l">
              <a:lnSpc>
                <a:spcPts val="1300"/>
              </a:lnSpc>
              <a:spcAft>
                <a:spcPts val="700"/>
              </a:spcAft>
              <a:buNone/>
            </a:pPr>
            <a:r>
              <a:rPr lang="en-US" sz="1000" dirty="0">
                <a:solidFill>
                  <a:srgbClr val="0B84D9"/>
                </a:solidFill>
                <a:latin typeface="Helvetica" pitchFamily="34" charset="0"/>
                <a:ea typeface="Helvetica" pitchFamily="34" charset="-122"/>
                <a:cs typeface="Helvetica" pitchFamily="34" charset="-120"/>
              </a:rPr>
              <a:t>Ejercicio para la clase: de esta lista, ¿cuáles cambios afectan un solo elemento del diseño y cuáles se esparcen por todo el sistema? Los segundos son los que revelan dónde quedó mal puesta una responsabilidad.</a:t>
            </a:r>
            <a:endParaRPr lang="en-US" sz="1000" dirty="0"/>
          </a:p>
        </p:txBody>
      </p:sp>
      <p:sp>
        <p:nvSpPr>
          <p:cNvPr id="7" name="Text 5"/>
          <p:cNvSpPr/>
          <p:nvPr/>
        </p:nvSpPr>
        <p:spPr>
          <a:xfrm>
            <a:off x="8737402" y="4842570"/>
            <a:ext cx="129793" cy="148530"/>
          </a:xfrm>
          <a:prstGeom prst="rect">
            <a:avLst/>
          </a:prstGeom>
          <a:noFill/>
          <a:ln/>
        </p:spPr>
        <p:txBody>
          <a:bodyPr wrap="square" lIns="0" tIns="0" rIns="0" bIns="0" rtlCol="0" anchor="t"/>
          <a:lstStyle/>
          <a:p>
            <a:pPr marL="0" indent="0" algn="l">
              <a:lnSpc>
                <a:spcPts val="1170"/>
              </a:lnSpc>
              <a:buNone/>
            </a:pPr>
            <a:r>
              <a:rPr lang="en-US" sz="900" dirty="0">
                <a:solidFill>
                  <a:srgbClr val="9A9A9A"/>
                </a:solidFill>
                <a:latin typeface="Helvetica" pitchFamily="34" charset="0"/>
                <a:ea typeface="Helvetica" pitchFamily="34" charset="-122"/>
                <a:cs typeface="Helvetica" pitchFamily="34" charset="-120"/>
              </a:rPr>
              <a:t>36</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5" name="Rounded Rectangle 4"/>
          <p:cNvSpPr/>
          <p:nvPr/>
        </p:nvSpPr>
        <p:spPr>
          <a:xfrm>
            <a:off x="457200" y="1657908"/>
            <a:ext cx="4029075" cy="2054721"/>
          </a:xfrm>
          <a:prstGeom prst="roundRect">
            <a:avLst>
              <a:gd name="adj" fmla="val 5562"/>
            </a:avLst>
          </a:prstGeom>
          <a:solidFill>
            <a:srgbClr val="FEFDFD"/>
          </a:solidFill>
          <a:ln w="9525">
            <a:solidFill>
              <a:srgbClr val="E6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 name="Rounded Rectangle 5"/>
          <p:cNvSpPr/>
          <p:nvPr/>
        </p:nvSpPr>
        <p:spPr>
          <a:xfrm>
            <a:off x="4657725" y="1657908"/>
            <a:ext cx="4029075" cy="2054721"/>
          </a:xfrm>
          <a:prstGeom prst="roundRect">
            <a:avLst>
              <a:gd name="adj" fmla="val 5562"/>
            </a:avLst>
          </a:prstGeom>
          <a:solidFill>
            <a:srgbClr val="FEFDFD"/>
          </a:solidFill>
          <a:ln w="9525">
            <a:solidFill>
              <a:srgbClr val="E6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pic>
        <p:nvPicPr>
          <p:cNvPr id="7" name="Picture 6" descr="image.png"/>
          <p:cNvPicPr>
            <a:picLocks noChangeAspect="1"/>
          </p:cNvPicPr>
          <p:nvPr/>
        </p:nvPicPr>
        <p:blipFill>
          <a:blip r:embed="rId3"/>
          <a:stretch>
            <a:fillRect/>
          </a:stretch>
        </p:blipFill>
        <p:spPr>
          <a:xfrm>
            <a:off x="635794" y="1807927"/>
            <a:ext cx="257175" cy="257175"/>
          </a:xfrm>
          <a:prstGeom prst="rect">
            <a:avLst/>
          </a:prstGeom>
        </p:spPr>
      </p:pic>
      <p:pic>
        <p:nvPicPr>
          <p:cNvPr id="8" name="Picture 7" descr="image.png"/>
          <p:cNvPicPr>
            <a:picLocks noChangeAspect="1"/>
          </p:cNvPicPr>
          <p:nvPr/>
        </p:nvPicPr>
        <p:blipFill>
          <a:blip r:embed="rId4"/>
          <a:stretch>
            <a:fillRect/>
          </a:stretch>
        </p:blipFill>
        <p:spPr>
          <a:xfrm>
            <a:off x="4836319" y="1807927"/>
            <a:ext cx="257175" cy="257175"/>
          </a:xfrm>
          <a:prstGeom prst="rect">
            <a:avLst/>
          </a:prstGeom>
        </p:spPr>
      </p:pic>
      <p:pic>
        <p:nvPicPr>
          <p:cNvPr id="9" name="Picture 8" descr="image.png"/>
          <p:cNvPicPr>
            <a:picLocks noChangeAspect="1"/>
          </p:cNvPicPr>
          <p:nvPr/>
        </p:nvPicPr>
        <p:blipFill>
          <a:blip r:embed="rId5"/>
          <a:stretch>
            <a:fillRect/>
          </a:stretch>
        </p:blipFill>
        <p:spPr>
          <a:xfrm>
            <a:off x="707231" y="1872220"/>
            <a:ext cx="114300" cy="128588"/>
          </a:xfrm>
          <a:prstGeom prst="rect">
            <a:avLst/>
          </a:prstGeom>
        </p:spPr>
      </p:pic>
      <p:pic>
        <p:nvPicPr>
          <p:cNvPr id="10" name="Picture 9" descr="image.png"/>
          <p:cNvPicPr>
            <a:picLocks noChangeAspect="1"/>
          </p:cNvPicPr>
          <p:nvPr/>
        </p:nvPicPr>
        <p:blipFill>
          <a:blip r:embed="rId6"/>
          <a:stretch>
            <a:fillRect/>
          </a:stretch>
        </p:blipFill>
        <p:spPr>
          <a:xfrm>
            <a:off x="4900612" y="1872220"/>
            <a:ext cx="128588" cy="128588"/>
          </a:xfrm>
          <a:prstGeom prst="rect">
            <a:avLst/>
          </a:prstGeom>
        </p:spPr>
      </p:pic>
      <p:pic>
        <p:nvPicPr>
          <p:cNvPr id="11" name="Picture 10" descr="image.png"/>
          <p:cNvPicPr>
            <a:picLocks noChangeAspect="1"/>
          </p:cNvPicPr>
          <p:nvPr/>
        </p:nvPicPr>
        <p:blipFill>
          <a:blip r:embed="rId7"/>
          <a:stretch>
            <a:fillRect/>
          </a:stretch>
        </p:blipFill>
        <p:spPr>
          <a:xfrm>
            <a:off x="800101" y="2150827"/>
            <a:ext cx="135731" cy="121444"/>
          </a:xfrm>
          <a:prstGeom prst="rect">
            <a:avLst/>
          </a:prstGeom>
        </p:spPr>
      </p:pic>
      <p:pic>
        <p:nvPicPr>
          <p:cNvPr id="12" name="Picture 11" descr="image.png"/>
          <p:cNvPicPr>
            <a:picLocks noChangeAspect="1"/>
          </p:cNvPicPr>
          <p:nvPr/>
        </p:nvPicPr>
        <p:blipFill>
          <a:blip r:embed="rId8"/>
          <a:stretch>
            <a:fillRect/>
          </a:stretch>
        </p:blipFill>
        <p:spPr>
          <a:xfrm>
            <a:off x="800100" y="2386124"/>
            <a:ext cx="121444" cy="121444"/>
          </a:xfrm>
          <a:prstGeom prst="rect">
            <a:avLst/>
          </a:prstGeom>
        </p:spPr>
      </p:pic>
      <p:pic>
        <p:nvPicPr>
          <p:cNvPr id="13" name="Picture 12" descr="image.png"/>
          <p:cNvPicPr>
            <a:picLocks noChangeAspect="1"/>
          </p:cNvPicPr>
          <p:nvPr/>
        </p:nvPicPr>
        <p:blipFill>
          <a:blip r:embed="rId9"/>
          <a:stretch>
            <a:fillRect/>
          </a:stretch>
        </p:blipFill>
        <p:spPr>
          <a:xfrm>
            <a:off x="800101" y="2621421"/>
            <a:ext cx="135731" cy="121444"/>
          </a:xfrm>
          <a:prstGeom prst="rect">
            <a:avLst/>
          </a:prstGeom>
        </p:spPr>
      </p:pic>
      <p:pic>
        <p:nvPicPr>
          <p:cNvPr id="14" name="Picture 13" descr="image.png"/>
          <p:cNvPicPr>
            <a:picLocks noChangeAspect="1"/>
          </p:cNvPicPr>
          <p:nvPr/>
        </p:nvPicPr>
        <p:blipFill>
          <a:blip r:embed="rId10"/>
          <a:stretch>
            <a:fillRect/>
          </a:stretch>
        </p:blipFill>
        <p:spPr>
          <a:xfrm>
            <a:off x="800100" y="2856719"/>
            <a:ext cx="150019" cy="121444"/>
          </a:xfrm>
          <a:prstGeom prst="rect">
            <a:avLst/>
          </a:prstGeom>
        </p:spPr>
      </p:pic>
      <p:pic>
        <p:nvPicPr>
          <p:cNvPr id="15" name="Picture 14" descr="image.png"/>
          <p:cNvPicPr>
            <a:picLocks noChangeAspect="1"/>
          </p:cNvPicPr>
          <p:nvPr/>
        </p:nvPicPr>
        <p:blipFill>
          <a:blip r:embed="rId11"/>
          <a:stretch>
            <a:fillRect/>
          </a:stretch>
        </p:blipFill>
        <p:spPr>
          <a:xfrm>
            <a:off x="800101" y="3092016"/>
            <a:ext cx="107156" cy="121444"/>
          </a:xfrm>
          <a:prstGeom prst="rect">
            <a:avLst/>
          </a:prstGeom>
        </p:spPr>
      </p:pic>
      <p:pic>
        <p:nvPicPr>
          <p:cNvPr id="16" name="Picture 15" descr="image.png"/>
          <p:cNvPicPr>
            <a:picLocks noChangeAspect="1"/>
          </p:cNvPicPr>
          <p:nvPr/>
        </p:nvPicPr>
        <p:blipFill>
          <a:blip r:embed="rId12"/>
          <a:stretch>
            <a:fillRect/>
          </a:stretch>
        </p:blipFill>
        <p:spPr>
          <a:xfrm>
            <a:off x="800100" y="3327313"/>
            <a:ext cx="92869" cy="121444"/>
          </a:xfrm>
          <a:prstGeom prst="rect">
            <a:avLst/>
          </a:prstGeom>
        </p:spPr>
      </p:pic>
      <p:pic>
        <p:nvPicPr>
          <p:cNvPr id="17" name="Picture 16" descr="image.png"/>
          <p:cNvPicPr>
            <a:picLocks noChangeAspect="1"/>
          </p:cNvPicPr>
          <p:nvPr/>
        </p:nvPicPr>
        <p:blipFill>
          <a:blip r:embed="rId13"/>
          <a:stretch>
            <a:fillRect/>
          </a:stretch>
        </p:blipFill>
        <p:spPr>
          <a:xfrm>
            <a:off x="5000626" y="2150827"/>
            <a:ext cx="78581" cy="121444"/>
          </a:xfrm>
          <a:prstGeom prst="rect">
            <a:avLst/>
          </a:prstGeom>
        </p:spPr>
      </p:pic>
      <p:pic>
        <p:nvPicPr>
          <p:cNvPr id="18" name="Picture 17" descr="image.png"/>
          <p:cNvPicPr>
            <a:picLocks noChangeAspect="1"/>
          </p:cNvPicPr>
          <p:nvPr/>
        </p:nvPicPr>
        <p:blipFill>
          <a:blip r:embed="rId14"/>
          <a:stretch>
            <a:fillRect/>
          </a:stretch>
        </p:blipFill>
        <p:spPr>
          <a:xfrm>
            <a:off x="5000626" y="2621421"/>
            <a:ext cx="107156" cy="121444"/>
          </a:xfrm>
          <a:prstGeom prst="rect">
            <a:avLst/>
          </a:prstGeom>
        </p:spPr>
      </p:pic>
      <p:pic>
        <p:nvPicPr>
          <p:cNvPr id="19" name="Picture 18" descr="image.png"/>
          <p:cNvPicPr>
            <a:picLocks noChangeAspect="1"/>
          </p:cNvPicPr>
          <p:nvPr/>
        </p:nvPicPr>
        <p:blipFill>
          <a:blip r:embed="rId15"/>
          <a:stretch>
            <a:fillRect/>
          </a:stretch>
        </p:blipFill>
        <p:spPr>
          <a:xfrm>
            <a:off x="5000626" y="2856719"/>
            <a:ext cx="107156" cy="121444"/>
          </a:xfrm>
          <a:prstGeom prst="rect">
            <a:avLst/>
          </a:prstGeom>
        </p:spPr>
      </p:pic>
      <p:pic>
        <p:nvPicPr>
          <p:cNvPr id="20" name="Picture 19" descr="image.png"/>
          <p:cNvPicPr>
            <a:picLocks noChangeAspect="1"/>
          </p:cNvPicPr>
          <p:nvPr/>
        </p:nvPicPr>
        <p:blipFill>
          <a:blip r:embed="rId16"/>
          <a:stretch>
            <a:fillRect/>
          </a:stretch>
        </p:blipFill>
        <p:spPr>
          <a:xfrm>
            <a:off x="5000625" y="3092016"/>
            <a:ext cx="121444" cy="121444"/>
          </a:xfrm>
          <a:prstGeom prst="rect">
            <a:avLst/>
          </a:prstGeom>
        </p:spPr>
      </p:pic>
      <p:pic>
        <p:nvPicPr>
          <p:cNvPr id="21" name="Picture 20" descr="image.png"/>
          <p:cNvPicPr>
            <a:picLocks noChangeAspect="1"/>
          </p:cNvPicPr>
          <p:nvPr/>
        </p:nvPicPr>
        <p:blipFill>
          <a:blip r:embed="rId17"/>
          <a:stretch>
            <a:fillRect/>
          </a:stretch>
        </p:blipFill>
        <p:spPr>
          <a:xfrm>
            <a:off x="5000626" y="3327313"/>
            <a:ext cx="135731" cy="121444"/>
          </a:xfrm>
          <a:prstGeom prst="rect">
            <a:avLst/>
          </a:prstGeom>
        </p:spPr>
      </p:pic>
      <p:sp>
        <p:nvSpPr>
          <p:cNvPr id="25" name="TextBox 24"/>
          <p:cNvSpPr txBox="1"/>
          <p:nvPr/>
        </p:nvSpPr>
        <p:spPr>
          <a:xfrm>
            <a:off x="457200" y="316312"/>
            <a:ext cx="4863896" cy="322461"/>
          </a:xfrm>
          <a:prstGeom prst="rect">
            <a:avLst/>
          </a:prstGeom>
          <a:noFill/>
        </p:spPr>
        <p:txBody>
          <a:bodyPr wrap="none" lIns="0" tIns="0" rIns="0" bIns="0" anchor="t">
            <a:spAutoFit/>
          </a:bodyPr>
          <a:lstStyle/>
          <a:p>
            <a:pPr>
              <a:lnSpc>
                <a:spcPts val="2565"/>
              </a:lnSpc>
            </a:pPr>
            <a:r>
              <a:rPr sz="2138" b="1" dirty="0" err="1">
                <a:solidFill>
                  <a:srgbClr val="0F172A"/>
                </a:solidFill>
                <a:latin typeface="Plus Jakarta Sans"/>
              </a:rPr>
              <a:t>Piense</a:t>
            </a:r>
            <a:r>
              <a:rPr sz="2138" b="1" dirty="0">
                <a:solidFill>
                  <a:srgbClr val="0F172A"/>
                </a:solidFill>
                <a:latin typeface="Plus Jakarta Sans"/>
              </a:rPr>
              <a:t> </a:t>
            </a:r>
            <a:r>
              <a:rPr sz="2138" b="1" dirty="0" err="1">
                <a:solidFill>
                  <a:srgbClr val="0F172A"/>
                </a:solidFill>
                <a:latin typeface="Plus Jakarta Sans"/>
              </a:rPr>
              <a:t>en</a:t>
            </a:r>
            <a:r>
              <a:rPr sz="2138" b="1" dirty="0">
                <a:solidFill>
                  <a:srgbClr val="0F172A"/>
                </a:solidFill>
                <a:latin typeface="Plus Jakarta Sans"/>
              </a:rPr>
              <a:t> </a:t>
            </a:r>
            <a:r>
              <a:rPr sz="2138" b="1" dirty="0" err="1">
                <a:solidFill>
                  <a:srgbClr val="0F172A"/>
                </a:solidFill>
                <a:latin typeface="Plus Jakarta Sans"/>
              </a:rPr>
              <a:t>los</a:t>
            </a:r>
            <a:r>
              <a:rPr sz="2138" b="1" dirty="0">
                <a:solidFill>
                  <a:srgbClr val="0F172A"/>
                </a:solidFill>
                <a:latin typeface="Plus Jakarta Sans"/>
              </a:rPr>
              <a:t> </a:t>
            </a:r>
            <a:r>
              <a:rPr sz="2138" b="1" dirty="0" err="1">
                <a:solidFill>
                  <a:srgbClr val="0F172A"/>
                </a:solidFill>
                <a:latin typeface="Plus Jakarta Sans"/>
              </a:rPr>
              <a:t>cambios</a:t>
            </a:r>
            <a:r>
              <a:rPr sz="2138" b="1" dirty="0">
                <a:solidFill>
                  <a:srgbClr val="0F172A"/>
                </a:solidFill>
                <a:latin typeface="Plus Jakarta Sans"/>
              </a:rPr>
              <a:t> </a:t>
            </a:r>
            <a:r>
              <a:rPr sz="2138" b="1" dirty="0" err="1">
                <a:solidFill>
                  <a:srgbClr val="0F172A"/>
                </a:solidFill>
                <a:latin typeface="Plus Jakarta Sans"/>
              </a:rPr>
              <a:t>que</a:t>
            </a:r>
            <a:r>
              <a:rPr sz="2138" b="1" dirty="0">
                <a:solidFill>
                  <a:srgbClr val="0F172A"/>
                </a:solidFill>
                <a:latin typeface="Plus Jakarta Sans"/>
              </a:rPr>
              <a:t> </a:t>
            </a:r>
            <a:r>
              <a:rPr sz="2138" b="1" dirty="0" err="1">
                <a:solidFill>
                  <a:srgbClr val="0F172A"/>
                </a:solidFill>
                <a:latin typeface="Plus Jakarta Sans"/>
              </a:rPr>
              <a:t>sufrirá</a:t>
            </a:r>
            <a:r>
              <a:rPr sz="2138" b="1" dirty="0">
                <a:solidFill>
                  <a:srgbClr val="0F172A"/>
                </a:solidFill>
                <a:latin typeface="Plus Jakarta Sans"/>
              </a:rPr>
              <a:t> el </a:t>
            </a:r>
            <a:r>
              <a:rPr sz="2138" b="1" dirty="0" err="1">
                <a:solidFill>
                  <a:srgbClr val="0F172A"/>
                </a:solidFill>
                <a:latin typeface="Plus Jakarta Sans"/>
              </a:rPr>
              <a:t>diseño</a:t>
            </a:r>
            <a:endParaRPr sz="2138" b="1" dirty="0">
              <a:solidFill>
                <a:srgbClr val="0F172A"/>
              </a:solidFill>
              <a:latin typeface="Plus Jakarta Sans"/>
            </a:endParaRPr>
          </a:p>
        </p:txBody>
      </p:sp>
      <p:sp>
        <p:nvSpPr>
          <p:cNvPr id="26" name="TextBox 25"/>
          <p:cNvSpPr txBox="1"/>
          <p:nvPr/>
        </p:nvSpPr>
        <p:spPr>
          <a:xfrm>
            <a:off x="457200" y="781812"/>
            <a:ext cx="7322517" cy="168957"/>
          </a:xfrm>
          <a:prstGeom prst="rect">
            <a:avLst/>
          </a:prstGeom>
          <a:noFill/>
        </p:spPr>
        <p:txBody>
          <a:bodyPr wrap="none" lIns="0" tIns="0" rIns="0" bIns="0" anchor="t">
            <a:spAutoFit/>
          </a:bodyPr>
          <a:lstStyle/>
          <a:p>
            <a:pPr>
              <a:lnSpc>
                <a:spcPts val="1417"/>
              </a:lnSpc>
            </a:pPr>
            <a:r>
              <a:rPr sz="1013" dirty="0" err="1">
                <a:solidFill>
                  <a:srgbClr val="64748B"/>
                </a:solidFill>
                <a:latin typeface="Plus Jakarta Sans"/>
              </a:rPr>
              <a:t>Ejemplos</a:t>
            </a:r>
            <a:r>
              <a:rPr sz="1013" dirty="0">
                <a:solidFill>
                  <a:srgbClr val="64748B"/>
                </a:solidFill>
                <a:latin typeface="Plus Jakarta Sans"/>
              </a:rPr>
              <a:t> de </a:t>
            </a:r>
            <a:r>
              <a:rPr sz="1013" dirty="0" err="1">
                <a:solidFill>
                  <a:srgbClr val="64748B"/>
                </a:solidFill>
                <a:latin typeface="Plus Jakarta Sans"/>
              </a:rPr>
              <a:t>cambios</a:t>
            </a:r>
            <a:r>
              <a:rPr sz="1013" dirty="0">
                <a:solidFill>
                  <a:srgbClr val="64748B"/>
                </a:solidFill>
                <a:latin typeface="Plus Jakarta Sans"/>
              </a:rPr>
              <a:t> </a:t>
            </a:r>
            <a:r>
              <a:rPr sz="1013" dirty="0" err="1">
                <a:solidFill>
                  <a:srgbClr val="64748B"/>
                </a:solidFill>
                <a:latin typeface="Plus Jakarta Sans"/>
              </a:rPr>
              <a:t>que</a:t>
            </a:r>
            <a:r>
              <a:rPr sz="1013" dirty="0">
                <a:solidFill>
                  <a:srgbClr val="64748B"/>
                </a:solidFill>
                <a:latin typeface="Plus Jakarta Sans"/>
              </a:rPr>
              <a:t> </a:t>
            </a:r>
            <a:r>
              <a:rPr sz="1013" dirty="0" err="1">
                <a:solidFill>
                  <a:srgbClr val="64748B"/>
                </a:solidFill>
                <a:latin typeface="Plus Jakarta Sans"/>
              </a:rPr>
              <a:t>Ñam</a:t>
            </a:r>
            <a:r>
              <a:rPr sz="1013" dirty="0">
                <a:solidFill>
                  <a:srgbClr val="64748B"/>
                </a:solidFill>
                <a:latin typeface="Plus Jakarta Sans"/>
              </a:rPr>
              <a:t> </a:t>
            </a:r>
            <a:r>
              <a:rPr sz="1013" dirty="0" err="1">
                <a:solidFill>
                  <a:srgbClr val="64748B"/>
                </a:solidFill>
                <a:latin typeface="Plus Jakarta Sans"/>
              </a:rPr>
              <a:t>va</a:t>
            </a:r>
            <a:r>
              <a:rPr sz="1013" dirty="0">
                <a:solidFill>
                  <a:srgbClr val="64748B"/>
                </a:solidFill>
                <a:latin typeface="Plus Jakarta Sans"/>
              </a:rPr>
              <a:t> a </a:t>
            </a:r>
            <a:r>
              <a:rPr sz="1013" dirty="0" err="1">
                <a:solidFill>
                  <a:srgbClr val="64748B"/>
                </a:solidFill>
                <a:latin typeface="Plus Jakarta Sans"/>
              </a:rPr>
              <a:t>tener</a:t>
            </a:r>
            <a:r>
              <a:rPr sz="1013" dirty="0">
                <a:solidFill>
                  <a:srgbClr val="64748B"/>
                </a:solidFill>
                <a:latin typeface="Plus Jakarta Sans"/>
              </a:rPr>
              <a:t> </a:t>
            </a:r>
            <a:r>
              <a:rPr sz="1013" dirty="0" err="1">
                <a:solidFill>
                  <a:srgbClr val="64748B"/>
                </a:solidFill>
                <a:latin typeface="Plus Jakarta Sans"/>
              </a:rPr>
              <a:t>que</a:t>
            </a:r>
            <a:r>
              <a:rPr sz="1013" dirty="0">
                <a:solidFill>
                  <a:srgbClr val="64748B"/>
                </a:solidFill>
                <a:latin typeface="Plus Jakarta Sans"/>
              </a:rPr>
              <a:t> </a:t>
            </a:r>
            <a:r>
              <a:rPr sz="1013" dirty="0" err="1">
                <a:solidFill>
                  <a:srgbClr val="64748B"/>
                </a:solidFill>
                <a:latin typeface="Plus Jakarta Sans"/>
              </a:rPr>
              <a:t>soportar</a:t>
            </a:r>
            <a:r>
              <a:rPr sz="1013" dirty="0">
                <a:solidFill>
                  <a:srgbClr val="64748B"/>
                </a:solidFill>
                <a:latin typeface="Plus Jakarta Sans"/>
              </a:rPr>
              <a:t>. No hay </a:t>
            </a:r>
            <a:r>
              <a:rPr sz="1013" dirty="0" err="1">
                <a:solidFill>
                  <a:srgbClr val="64748B"/>
                </a:solidFill>
                <a:latin typeface="Plus Jakarta Sans"/>
              </a:rPr>
              <a:t>que</a:t>
            </a:r>
            <a:r>
              <a:rPr sz="1013" dirty="0">
                <a:solidFill>
                  <a:srgbClr val="64748B"/>
                </a:solidFill>
                <a:latin typeface="Plus Jakarta Sans"/>
              </a:rPr>
              <a:t> </a:t>
            </a:r>
            <a:r>
              <a:rPr sz="1013" dirty="0" err="1">
                <a:solidFill>
                  <a:srgbClr val="64748B"/>
                </a:solidFill>
                <a:latin typeface="Plus Jakarta Sans"/>
              </a:rPr>
              <a:t>diseñar</a:t>
            </a:r>
            <a:r>
              <a:rPr sz="1013" dirty="0">
                <a:solidFill>
                  <a:srgbClr val="64748B"/>
                </a:solidFill>
                <a:latin typeface="Plus Jakarta Sans"/>
              </a:rPr>
              <a:t> hoy para </a:t>
            </a:r>
            <a:r>
              <a:rPr sz="1013" dirty="0" err="1">
                <a:solidFill>
                  <a:srgbClr val="64748B"/>
                </a:solidFill>
                <a:latin typeface="Plus Jakarta Sans"/>
              </a:rPr>
              <a:t>todos</a:t>
            </a:r>
            <a:r>
              <a:rPr sz="1013" dirty="0">
                <a:solidFill>
                  <a:srgbClr val="64748B"/>
                </a:solidFill>
                <a:latin typeface="Plus Jakarta Sans"/>
              </a:rPr>
              <a:t> </a:t>
            </a:r>
            <a:r>
              <a:rPr sz="1013" dirty="0" err="1">
                <a:solidFill>
                  <a:srgbClr val="64748B"/>
                </a:solidFill>
                <a:latin typeface="Plus Jakarta Sans"/>
              </a:rPr>
              <a:t>ellos</a:t>
            </a:r>
            <a:r>
              <a:rPr sz="1013" dirty="0">
                <a:solidFill>
                  <a:srgbClr val="64748B"/>
                </a:solidFill>
                <a:latin typeface="Plus Jakarta Sans"/>
              </a:rPr>
              <a:t>, </a:t>
            </a:r>
            <a:r>
              <a:rPr sz="1013" dirty="0" err="1">
                <a:solidFill>
                  <a:srgbClr val="64748B"/>
                </a:solidFill>
                <a:latin typeface="Plus Jakarta Sans"/>
              </a:rPr>
              <a:t>pero</a:t>
            </a:r>
            <a:r>
              <a:rPr sz="1013" dirty="0">
                <a:solidFill>
                  <a:srgbClr val="64748B"/>
                </a:solidFill>
                <a:latin typeface="Plus Jakarta Sans"/>
              </a:rPr>
              <a:t> </a:t>
            </a:r>
            <a:r>
              <a:rPr sz="1013" dirty="0" err="1">
                <a:solidFill>
                  <a:srgbClr val="64748B"/>
                </a:solidFill>
                <a:latin typeface="Plus Jakarta Sans"/>
              </a:rPr>
              <a:t>sí</a:t>
            </a:r>
            <a:r>
              <a:rPr sz="1013" dirty="0">
                <a:solidFill>
                  <a:srgbClr val="64748B"/>
                </a:solidFill>
                <a:latin typeface="Plus Jakarta Sans"/>
              </a:rPr>
              <a:t> </a:t>
            </a:r>
            <a:r>
              <a:rPr sz="1013" dirty="0" err="1">
                <a:solidFill>
                  <a:srgbClr val="64748B"/>
                </a:solidFill>
                <a:latin typeface="Plus Jakarta Sans"/>
              </a:rPr>
              <a:t>diseñar</a:t>
            </a:r>
            <a:r>
              <a:rPr sz="1013" dirty="0">
                <a:solidFill>
                  <a:srgbClr val="64748B"/>
                </a:solidFill>
                <a:latin typeface="Plus Jakarta Sans"/>
              </a:rPr>
              <a:t> </a:t>
            </a:r>
            <a:r>
              <a:rPr sz="1013" dirty="0" err="1">
                <a:solidFill>
                  <a:srgbClr val="64748B"/>
                </a:solidFill>
                <a:latin typeface="Plus Jakarta Sans"/>
              </a:rPr>
              <a:t>sabiendo</a:t>
            </a:r>
            <a:r>
              <a:rPr sz="1013" dirty="0">
                <a:solidFill>
                  <a:srgbClr val="64748B"/>
                </a:solidFill>
                <a:latin typeface="Plus Jakarta Sans"/>
              </a:rPr>
              <a:t> </a:t>
            </a:r>
            <a:r>
              <a:rPr sz="1013" dirty="0" err="1">
                <a:solidFill>
                  <a:srgbClr val="64748B"/>
                </a:solidFill>
                <a:latin typeface="Plus Jakarta Sans"/>
              </a:rPr>
              <a:t>que</a:t>
            </a:r>
            <a:r>
              <a:rPr sz="1013" dirty="0">
                <a:solidFill>
                  <a:srgbClr val="64748B"/>
                </a:solidFill>
                <a:latin typeface="Plus Jakarta Sans"/>
              </a:rPr>
              <a:t> van a </a:t>
            </a:r>
            <a:r>
              <a:rPr sz="1013" dirty="0" err="1">
                <a:solidFill>
                  <a:srgbClr val="64748B"/>
                </a:solidFill>
                <a:latin typeface="Plus Jakarta Sans"/>
              </a:rPr>
              <a:t>llegar</a:t>
            </a:r>
            <a:r>
              <a:rPr sz="1013" dirty="0">
                <a:solidFill>
                  <a:srgbClr val="64748B"/>
                </a:solidFill>
                <a:latin typeface="Plus Jakarta Sans"/>
              </a:rPr>
              <a:t>.</a:t>
            </a:r>
          </a:p>
        </p:txBody>
      </p:sp>
      <p:sp>
        <p:nvSpPr>
          <p:cNvPr id="27" name="TextBox 26"/>
          <p:cNvSpPr txBox="1"/>
          <p:nvPr/>
        </p:nvSpPr>
        <p:spPr>
          <a:xfrm>
            <a:off x="978694" y="1854361"/>
            <a:ext cx="1965282" cy="155877"/>
          </a:xfrm>
          <a:prstGeom prst="rect">
            <a:avLst/>
          </a:prstGeom>
          <a:noFill/>
        </p:spPr>
        <p:txBody>
          <a:bodyPr wrap="none" lIns="0" tIns="0" rIns="0" bIns="0" anchor="t">
            <a:spAutoFit/>
          </a:bodyPr>
          <a:lstStyle/>
          <a:p>
            <a:pPr algn="l"/>
            <a:r>
              <a:rPr sz="1013" b="1" dirty="0" err="1">
                <a:solidFill>
                  <a:srgbClr val="0284C7"/>
                </a:solidFill>
                <a:latin typeface="Plus Jakarta Sans"/>
              </a:rPr>
              <a:t>Cambios</a:t>
            </a:r>
            <a:r>
              <a:rPr sz="1013" b="1" dirty="0">
                <a:solidFill>
                  <a:srgbClr val="0284C7"/>
                </a:solidFill>
                <a:latin typeface="Plus Jakarta Sans"/>
              </a:rPr>
              <a:t> de </a:t>
            </a:r>
            <a:r>
              <a:rPr sz="1013" b="1" dirty="0" err="1">
                <a:solidFill>
                  <a:srgbClr val="0284C7"/>
                </a:solidFill>
                <a:latin typeface="Plus Jakarta Sans"/>
              </a:rPr>
              <a:t>Negocio</a:t>
            </a:r>
            <a:r>
              <a:rPr sz="1013" b="1" dirty="0">
                <a:solidFill>
                  <a:srgbClr val="0284C7"/>
                </a:solidFill>
                <a:latin typeface="Plus Jakarta Sans"/>
              </a:rPr>
              <a:t> y </a:t>
            </a:r>
            <a:r>
              <a:rPr sz="1013" b="1" dirty="0" err="1">
                <a:solidFill>
                  <a:srgbClr val="0284C7"/>
                </a:solidFill>
                <a:latin typeface="Plus Jakarta Sans"/>
              </a:rPr>
              <a:t>Funcionalidad</a:t>
            </a:r>
            <a:endParaRPr sz="1013" b="1" dirty="0">
              <a:solidFill>
                <a:srgbClr val="0284C7"/>
              </a:solidFill>
              <a:latin typeface="Plus Jakarta Sans"/>
            </a:endParaRPr>
          </a:p>
        </p:txBody>
      </p:sp>
      <p:sp>
        <p:nvSpPr>
          <p:cNvPr id="28" name="TextBox 27"/>
          <p:cNvSpPr txBox="1"/>
          <p:nvPr/>
        </p:nvSpPr>
        <p:spPr>
          <a:xfrm>
            <a:off x="885826" y="2150827"/>
            <a:ext cx="1732847" cy="157351"/>
          </a:xfrm>
          <a:prstGeom prst="rect">
            <a:avLst/>
          </a:prstGeom>
          <a:noFill/>
        </p:spPr>
        <p:txBody>
          <a:bodyPr wrap="none" lIns="0" tIns="0" rIns="0" bIns="0" anchor="t">
            <a:spAutoFit/>
          </a:bodyPr>
          <a:lstStyle/>
          <a:p>
            <a:pPr>
              <a:lnSpc>
                <a:spcPts val="1291"/>
              </a:lnSpc>
            </a:pPr>
            <a:r>
              <a:rPr lang="es-CO" sz="956" dirty="0">
                <a:solidFill>
                  <a:srgbClr val="8B5CF6"/>
                </a:solidFill>
                <a:latin typeface="Plus Jakarta Sans"/>
              </a:rPr>
              <a:t>   </a:t>
            </a:r>
            <a:r>
              <a:rPr sz="956" dirty="0" err="1">
                <a:solidFill>
                  <a:srgbClr val="334155"/>
                </a:solidFill>
                <a:latin typeface="Plus Jakarta Sans"/>
              </a:rPr>
              <a:t>Aceptar</a:t>
            </a:r>
            <a:r>
              <a:rPr sz="956" dirty="0">
                <a:solidFill>
                  <a:srgbClr val="334155"/>
                </a:solidFill>
                <a:latin typeface="Plus Jakarta Sans"/>
              </a:rPr>
              <a:t> un medio de </a:t>
            </a:r>
            <a:r>
              <a:rPr sz="956" dirty="0" err="1">
                <a:solidFill>
                  <a:srgbClr val="334155"/>
                </a:solidFill>
                <a:latin typeface="Plus Jakarta Sans"/>
              </a:rPr>
              <a:t>pago</a:t>
            </a:r>
            <a:r>
              <a:rPr sz="956" dirty="0">
                <a:solidFill>
                  <a:srgbClr val="334155"/>
                </a:solidFill>
                <a:latin typeface="Plus Jakarta Sans"/>
              </a:rPr>
              <a:t> nuevo</a:t>
            </a:r>
          </a:p>
        </p:txBody>
      </p:sp>
      <p:sp>
        <p:nvSpPr>
          <p:cNvPr id="29" name="TextBox 28"/>
          <p:cNvSpPr txBox="1"/>
          <p:nvPr/>
        </p:nvSpPr>
        <p:spPr>
          <a:xfrm>
            <a:off x="871538" y="2386124"/>
            <a:ext cx="2417328" cy="157351"/>
          </a:xfrm>
          <a:prstGeom prst="rect">
            <a:avLst/>
          </a:prstGeom>
          <a:noFill/>
        </p:spPr>
        <p:txBody>
          <a:bodyPr wrap="none" lIns="0" tIns="0" rIns="0" bIns="0" anchor="t">
            <a:spAutoFit/>
          </a:bodyPr>
          <a:lstStyle/>
          <a:p>
            <a:pPr>
              <a:lnSpc>
                <a:spcPts val="1291"/>
              </a:lnSpc>
            </a:pPr>
            <a:r>
              <a:rPr lang="es-CO" sz="956" dirty="0">
                <a:solidFill>
                  <a:srgbClr val="8B5CF6"/>
                </a:solidFill>
                <a:latin typeface="Plus Jakarta Sans"/>
              </a:rPr>
              <a:t>   </a:t>
            </a:r>
            <a:r>
              <a:rPr sz="956" dirty="0" err="1">
                <a:solidFill>
                  <a:srgbClr val="334155"/>
                </a:solidFill>
                <a:latin typeface="Plus Jakarta Sans"/>
              </a:rPr>
              <a:t>Permitir</a:t>
            </a:r>
            <a:r>
              <a:rPr sz="956" dirty="0">
                <a:solidFill>
                  <a:srgbClr val="334155"/>
                </a:solidFill>
                <a:latin typeface="Plus Jakarta Sans"/>
              </a:rPr>
              <a:t> </a:t>
            </a:r>
            <a:r>
              <a:rPr sz="956" b="1" dirty="0" err="1">
                <a:solidFill>
                  <a:srgbClr val="334155"/>
                </a:solidFill>
                <a:latin typeface="Plus Jakarta Sans"/>
              </a:rPr>
              <a:t>pedidos</a:t>
            </a:r>
            <a:r>
              <a:rPr sz="956" b="1" dirty="0">
                <a:solidFill>
                  <a:srgbClr val="334155"/>
                </a:solidFill>
                <a:latin typeface="Plus Jakarta Sans"/>
              </a:rPr>
              <a:t> </a:t>
            </a:r>
            <a:r>
              <a:rPr sz="956" b="1" dirty="0" err="1">
                <a:solidFill>
                  <a:srgbClr val="334155"/>
                </a:solidFill>
                <a:latin typeface="Plus Jakarta Sans"/>
              </a:rPr>
              <a:t>programados</a:t>
            </a:r>
            <a:r>
              <a:rPr sz="956" dirty="0">
                <a:solidFill>
                  <a:srgbClr val="334155"/>
                </a:solidFill>
                <a:latin typeface="Plus Jakarta Sans"/>
              </a:rPr>
              <a:t> para </a:t>
            </a:r>
            <a:r>
              <a:rPr sz="956" dirty="0" err="1">
                <a:solidFill>
                  <a:srgbClr val="334155"/>
                </a:solidFill>
                <a:latin typeface="Plus Jakarta Sans"/>
              </a:rPr>
              <a:t>más</a:t>
            </a:r>
            <a:r>
              <a:rPr sz="956" dirty="0">
                <a:solidFill>
                  <a:srgbClr val="334155"/>
                </a:solidFill>
                <a:latin typeface="Plus Jakarta Sans"/>
              </a:rPr>
              <a:t> </a:t>
            </a:r>
            <a:r>
              <a:rPr sz="956" dirty="0" err="1">
                <a:solidFill>
                  <a:srgbClr val="334155"/>
                </a:solidFill>
                <a:latin typeface="Plus Jakarta Sans"/>
              </a:rPr>
              <a:t>tarde</a:t>
            </a:r>
            <a:endParaRPr sz="956" dirty="0">
              <a:solidFill>
                <a:srgbClr val="334155"/>
              </a:solidFill>
              <a:latin typeface="Plus Jakarta Sans"/>
            </a:endParaRPr>
          </a:p>
        </p:txBody>
      </p:sp>
      <p:sp>
        <p:nvSpPr>
          <p:cNvPr id="30" name="TextBox 29"/>
          <p:cNvSpPr txBox="1"/>
          <p:nvPr/>
        </p:nvSpPr>
        <p:spPr>
          <a:xfrm>
            <a:off x="885825" y="2621422"/>
            <a:ext cx="2672206" cy="157351"/>
          </a:xfrm>
          <a:prstGeom prst="rect">
            <a:avLst/>
          </a:prstGeom>
          <a:noFill/>
        </p:spPr>
        <p:txBody>
          <a:bodyPr wrap="none" lIns="0" tIns="0" rIns="0" bIns="0" anchor="t">
            <a:spAutoFit/>
          </a:bodyPr>
          <a:lstStyle/>
          <a:p>
            <a:pPr>
              <a:lnSpc>
                <a:spcPts val="1291"/>
              </a:lnSpc>
            </a:pPr>
            <a:r>
              <a:rPr lang="es-CO" sz="956" dirty="0">
                <a:solidFill>
                  <a:srgbClr val="8B5CF6"/>
                </a:solidFill>
                <a:latin typeface="Plus Jakarta Sans"/>
              </a:rPr>
              <a:t>   </a:t>
            </a:r>
            <a:r>
              <a:rPr sz="956" dirty="0" err="1">
                <a:solidFill>
                  <a:srgbClr val="334155"/>
                </a:solidFill>
                <a:latin typeface="Plus Jakarta Sans"/>
              </a:rPr>
              <a:t>Soportar</a:t>
            </a:r>
            <a:r>
              <a:rPr sz="956" dirty="0">
                <a:solidFill>
                  <a:srgbClr val="334155"/>
                </a:solidFill>
                <a:latin typeface="Plus Jakarta Sans"/>
              </a:rPr>
              <a:t> </a:t>
            </a:r>
            <a:r>
              <a:rPr sz="956" b="1" dirty="0" err="1">
                <a:solidFill>
                  <a:srgbClr val="334155"/>
                </a:solidFill>
                <a:latin typeface="Plus Jakarta Sans"/>
              </a:rPr>
              <a:t>cupones</a:t>
            </a:r>
            <a:r>
              <a:rPr sz="956" b="1" dirty="0">
                <a:solidFill>
                  <a:srgbClr val="334155"/>
                </a:solidFill>
                <a:latin typeface="Plus Jakarta Sans"/>
              </a:rPr>
              <a:t> y </a:t>
            </a:r>
            <a:r>
              <a:rPr sz="956" b="1" dirty="0" err="1">
                <a:solidFill>
                  <a:srgbClr val="334155"/>
                </a:solidFill>
                <a:latin typeface="Plus Jakarta Sans"/>
              </a:rPr>
              <a:t>promociones</a:t>
            </a:r>
            <a:r>
              <a:rPr sz="956" dirty="0">
                <a:solidFill>
                  <a:srgbClr val="334155"/>
                </a:solidFill>
                <a:latin typeface="Plus Jakarta Sans"/>
              </a:rPr>
              <a:t> (2x1, </a:t>
            </a:r>
            <a:r>
              <a:rPr sz="956" dirty="0" err="1">
                <a:solidFill>
                  <a:srgbClr val="334155"/>
                </a:solidFill>
                <a:latin typeface="Plus Jakarta Sans"/>
              </a:rPr>
              <a:t>envío</a:t>
            </a:r>
            <a:r>
              <a:rPr sz="956" dirty="0">
                <a:solidFill>
                  <a:srgbClr val="334155"/>
                </a:solidFill>
                <a:latin typeface="Plus Jakarta Sans"/>
              </a:rPr>
              <a:t> gratis)</a:t>
            </a:r>
          </a:p>
        </p:txBody>
      </p:sp>
      <p:sp>
        <p:nvSpPr>
          <p:cNvPr id="31" name="TextBox 30"/>
          <p:cNvSpPr txBox="1"/>
          <p:nvPr/>
        </p:nvSpPr>
        <p:spPr>
          <a:xfrm>
            <a:off x="900112" y="2856719"/>
            <a:ext cx="2422138" cy="157351"/>
          </a:xfrm>
          <a:prstGeom prst="rect">
            <a:avLst/>
          </a:prstGeom>
          <a:noFill/>
        </p:spPr>
        <p:txBody>
          <a:bodyPr wrap="none" lIns="0" tIns="0" rIns="0" bIns="0" anchor="t">
            <a:spAutoFit/>
          </a:bodyPr>
          <a:lstStyle/>
          <a:p>
            <a:pPr>
              <a:lnSpc>
                <a:spcPts val="1291"/>
              </a:lnSpc>
            </a:pPr>
            <a:r>
              <a:rPr lang="es-CO" sz="956" dirty="0">
                <a:solidFill>
                  <a:srgbClr val="8B5CF6"/>
                </a:solidFill>
                <a:latin typeface="Plus Jakarta Sans"/>
              </a:rPr>
              <a:t>   </a:t>
            </a:r>
            <a:r>
              <a:rPr sz="956" dirty="0" err="1">
                <a:solidFill>
                  <a:srgbClr val="334155"/>
                </a:solidFill>
                <a:latin typeface="Plus Jakarta Sans"/>
              </a:rPr>
              <a:t>Permitir</a:t>
            </a:r>
            <a:r>
              <a:rPr sz="956" dirty="0">
                <a:solidFill>
                  <a:srgbClr val="334155"/>
                </a:solidFill>
                <a:latin typeface="Plus Jakarta Sans"/>
              </a:rPr>
              <a:t> </a:t>
            </a:r>
            <a:r>
              <a:rPr sz="956" dirty="0" err="1">
                <a:solidFill>
                  <a:srgbClr val="334155"/>
                </a:solidFill>
                <a:latin typeface="Plus Jakarta Sans"/>
              </a:rPr>
              <a:t>dividir</a:t>
            </a:r>
            <a:r>
              <a:rPr sz="956" dirty="0">
                <a:solidFill>
                  <a:srgbClr val="334155"/>
                </a:solidFill>
                <a:latin typeface="Plus Jakarta Sans"/>
              </a:rPr>
              <a:t> la </a:t>
            </a:r>
            <a:r>
              <a:rPr sz="956" dirty="0" err="1">
                <a:solidFill>
                  <a:srgbClr val="334155"/>
                </a:solidFill>
                <a:latin typeface="Plus Jakarta Sans"/>
              </a:rPr>
              <a:t>cuenta</a:t>
            </a:r>
            <a:r>
              <a:rPr sz="956" dirty="0">
                <a:solidFill>
                  <a:srgbClr val="334155"/>
                </a:solidFill>
                <a:latin typeface="Plus Jakarta Sans"/>
              </a:rPr>
              <a:t> entre </a:t>
            </a:r>
            <a:r>
              <a:rPr sz="956" dirty="0" err="1">
                <a:solidFill>
                  <a:srgbClr val="334155"/>
                </a:solidFill>
                <a:latin typeface="Plus Jakarta Sans"/>
              </a:rPr>
              <a:t>varias</a:t>
            </a:r>
            <a:r>
              <a:rPr sz="956" dirty="0">
                <a:solidFill>
                  <a:srgbClr val="334155"/>
                </a:solidFill>
                <a:latin typeface="Plus Jakarta Sans"/>
              </a:rPr>
              <a:t> personas</a:t>
            </a:r>
          </a:p>
        </p:txBody>
      </p:sp>
      <p:sp>
        <p:nvSpPr>
          <p:cNvPr id="32" name="TextBox 31"/>
          <p:cNvSpPr txBox="1"/>
          <p:nvPr/>
        </p:nvSpPr>
        <p:spPr>
          <a:xfrm>
            <a:off x="857250" y="3092016"/>
            <a:ext cx="2208938" cy="157351"/>
          </a:xfrm>
          <a:prstGeom prst="rect">
            <a:avLst/>
          </a:prstGeom>
          <a:noFill/>
        </p:spPr>
        <p:txBody>
          <a:bodyPr wrap="none" lIns="0" tIns="0" rIns="0" bIns="0" anchor="t">
            <a:spAutoFit/>
          </a:bodyPr>
          <a:lstStyle/>
          <a:p>
            <a:pPr>
              <a:lnSpc>
                <a:spcPts val="1291"/>
              </a:lnSpc>
            </a:pPr>
            <a:r>
              <a:rPr lang="es-CO" sz="956" dirty="0">
                <a:solidFill>
                  <a:srgbClr val="8B5CF6"/>
                </a:solidFill>
                <a:latin typeface="Plus Jakarta Sans"/>
              </a:rPr>
              <a:t>    </a:t>
            </a:r>
            <a:r>
              <a:rPr sz="956" dirty="0" err="1">
                <a:solidFill>
                  <a:srgbClr val="334155"/>
                </a:solidFill>
                <a:latin typeface="Plus Jakarta Sans"/>
              </a:rPr>
              <a:t>Pedidos</a:t>
            </a:r>
            <a:r>
              <a:rPr sz="956" dirty="0">
                <a:solidFill>
                  <a:srgbClr val="334155"/>
                </a:solidFill>
                <a:latin typeface="Plus Jakarta Sans"/>
              </a:rPr>
              <a:t> con </a:t>
            </a:r>
            <a:r>
              <a:rPr sz="956" dirty="0" err="1">
                <a:solidFill>
                  <a:srgbClr val="334155"/>
                </a:solidFill>
                <a:latin typeface="Plus Jakarta Sans"/>
              </a:rPr>
              <a:t>platos</a:t>
            </a:r>
            <a:r>
              <a:rPr sz="956" dirty="0">
                <a:solidFill>
                  <a:srgbClr val="334155"/>
                </a:solidFill>
                <a:latin typeface="Plus Jakarta Sans"/>
              </a:rPr>
              <a:t> de </a:t>
            </a:r>
            <a:r>
              <a:rPr sz="956" b="1" dirty="0" err="1">
                <a:solidFill>
                  <a:srgbClr val="334155"/>
                </a:solidFill>
                <a:latin typeface="Plus Jakarta Sans"/>
              </a:rPr>
              <a:t>varios</a:t>
            </a:r>
            <a:r>
              <a:rPr sz="956" b="1" dirty="0">
                <a:solidFill>
                  <a:srgbClr val="334155"/>
                </a:solidFill>
                <a:latin typeface="Plus Jakarta Sans"/>
              </a:rPr>
              <a:t> </a:t>
            </a:r>
            <a:r>
              <a:rPr sz="956" b="1" dirty="0" err="1">
                <a:solidFill>
                  <a:srgbClr val="334155"/>
                </a:solidFill>
                <a:latin typeface="Plus Jakarta Sans"/>
              </a:rPr>
              <a:t>restaurantes</a:t>
            </a:r>
            <a:endParaRPr sz="956" b="1" dirty="0">
              <a:solidFill>
                <a:srgbClr val="334155"/>
              </a:solidFill>
              <a:latin typeface="Plus Jakarta Sans"/>
            </a:endParaRPr>
          </a:p>
        </p:txBody>
      </p:sp>
      <p:sp>
        <p:nvSpPr>
          <p:cNvPr id="33" name="TextBox 32"/>
          <p:cNvSpPr txBox="1"/>
          <p:nvPr/>
        </p:nvSpPr>
        <p:spPr>
          <a:xfrm>
            <a:off x="842963" y="3327313"/>
            <a:ext cx="2269852" cy="157351"/>
          </a:xfrm>
          <a:prstGeom prst="rect">
            <a:avLst/>
          </a:prstGeom>
          <a:noFill/>
        </p:spPr>
        <p:txBody>
          <a:bodyPr wrap="none" lIns="0" tIns="0" rIns="0" bIns="0" anchor="t">
            <a:spAutoFit/>
          </a:bodyPr>
          <a:lstStyle/>
          <a:p>
            <a:pPr>
              <a:lnSpc>
                <a:spcPts val="1291"/>
              </a:lnSpc>
            </a:pPr>
            <a:r>
              <a:rPr lang="es-CO" sz="956" dirty="0">
                <a:solidFill>
                  <a:srgbClr val="8B5CF6"/>
                </a:solidFill>
                <a:latin typeface="Plus Jakarta Sans"/>
              </a:rPr>
              <a:t>   </a:t>
            </a:r>
            <a:r>
              <a:rPr sz="956" dirty="0">
                <a:solidFill>
                  <a:srgbClr val="334155"/>
                </a:solidFill>
                <a:latin typeface="Plus Jakarta Sans"/>
              </a:rPr>
              <a:t>Vender mercado y </a:t>
            </a:r>
            <a:r>
              <a:rPr sz="956" dirty="0" err="1">
                <a:solidFill>
                  <a:srgbClr val="334155"/>
                </a:solidFill>
                <a:latin typeface="Plus Jakarta Sans"/>
              </a:rPr>
              <a:t>farmacia</a:t>
            </a:r>
            <a:r>
              <a:rPr sz="956" dirty="0">
                <a:solidFill>
                  <a:srgbClr val="334155"/>
                </a:solidFill>
                <a:latin typeface="Plus Jakarta Sans"/>
              </a:rPr>
              <a:t>, no </a:t>
            </a:r>
            <a:r>
              <a:rPr sz="956" dirty="0" err="1">
                <a:solidFill>
                  <a:srgbClr val="334155"/>
                </a:solidFill>
                <a:latin typeface="Plus Jakarta Sans"/>
              </a:rPr>
              <a:t>sólo</a:t>
            </a:r>
            <a:r>
              <a:rPr sz="956" dirty="0">
                <a:solidFill>
                  <a:srgbClr val="334155"/>
                </a:solidFill>
                <a:latin typeface="Plus Jakarta Sans"/>
              </a:rPr>
              <a:t> comida</a:t>
            </a:r>
          </a:p>
        </p:txBody>
      </p:sp>
      <p:sp>
        <p:nvSpPr>
          <p:cNvPr id="34" name="TextBox 33"/>
          <p:cNvSpPr txBox="1"/>
          <p:nvPr/>
        </p:nvSpPr>
        <p:spPr>
          <a:xfrm>
            <a:off x="5179219" y="1854361"/>
            <a:ext cx="1888337" cy="155877"/>
          </a:xfrm>
          <a:prstGeom prst="rect">
            <a:avLst/>
          </a:prstGeom>
          <a:noFill/>
        </p:spPr>
        <p:txBody>
          <a:bodyPr wrap="none" lIns="0" tIns="0" rIns="0" bIns="0" anchor="t">
            <a:spAutoFit/>
          </a:bodyPr>
          <a:lstStyle/>
          <a:p>
            <a:pPr algn="l"/>
            <a:r>
              <a:rPr sz="1013" b="1">
                <a:solidFill>
                  <a:srgbClr val="8B5CF6"/>
                </a:solidFill>
                <a:latin typeface="Plus Jakarta Sans"/>
              </a:rPr>
              <a:t>Cambios Técnicos e Infraestructura</a:t>
            </a:r>
          </a:p>
        </p:txBody>
      </p:sp>
      <p:sp>
        <p:nvSpPr>
          <p:cNvPr id="35" name="TextBox 34"/>
          <p:cNvSpPr txBox="1"/>
          <p:nvPr/>
        </p:nvSpPr>
        <p:spPr>
          <a:xfrm>
            <a:off x="5029200" y="2150827"/>
            <a:ext cx="2609689" cy="157351"/>
          </a:xfrm>
          <a:prstGeom prst="rect">
            <a:avLst/>
          </a:prstGeom>
          <a:noFill/>
        </p:spPr>
        <p:txBody>
          <a:bodyPr wrap="none" lIns="0" tIns="0" rIns="0" bIns="0" anchor="t">
            <a:spAutoFit/>
          </a:bodyPr>
          <a:lstStyle/>
          <a:p>
            <a:pPr>
              <a:lnSpc>
                <a:spcPts val="1291"/>
              </a:lnSpc>
            </a:pPr>
            <a:r>
              <a:rPr sz="956" dirty="0">
                <a:solidFill>
                  <a:srgbClr val="8B5CF6"/>
                </a:solidFill>
                <a:latin typeface="Plus Jakarta Sans"/>
              </a:rPr>
              <a:t>• </a:t>
            </a:r>
            <a:r>
              <a:rPr sz="956" dirty="0">
                <a:solidFill>
                  <a:srgbClr val="334155"/>
                </a:solidFill>
                <a:latin typeface="Plus Jakarta Sans"/>
              </a:rPr>
              <a:t>Cambiar </a:t>
            </a:r>
            <a:r>
              <a:rPr sz="956" dirty="0" err="1">
                <a:solidFill>
                  <a:srgbClr val="334155"/>
                </a:solidFill>
                <a:latin typeface="Plus Jakarta Sans"/>
              </a:rPr>
              <a:t>proveedor</a:t>
            </a:r>
            <a:r>
              <a:rPr sz="956" dirty="0">
                <a:solidFill>
                  <a:srgbClr val="334155"/>
                </a:solidFill>
                <a:latin typeface="Plus Jakarta Sans"/>
              </a:rPr>
              <a:t> de </a:t>
            </a:r>
            <a:r>
              <a:rPr sz="956" dirty="0" err="1">
                <a:solidFill>
                  <a:srgbClr val="334155"/>
                </a:solidFill>
                <a:latin typeface="Plus Jakarta Sans"/>
              </a:rPr>
              <a:t>mapas</a:t>
            </a:r>
            <a:r>
              <a:rPr sz="956" dirty="0">
                <a:solidFill>
                  <a:srgbClr val="334155"/>
                </a:solidFill>
                <a:latin typeface="Plus Jakarta Sans"/>
              </a:rPr>
              <a:t> </a:t>
            </a:r>
            <a:r>
              <a:rPr sz="956" dirty="0" err="1">
                <a:solidFill>
                  <a:srgbClr val="334155"/>
                </a:solidFill>
                <a:latin typeface="Plus Jakarta Sans"/>
              </a:rPr>
              <a:t>por</a:t>
            </a:r>
            <a:r>
              <a:rPr sz="956" dirty="0">
                <a:solidFill>
                  <a:srgbClr val="334155"/>
                </a:solidFill>
                <a:latin typeface="Plus Jakarta Sans"/>
              </a:rPr>
              <a:t> </a:t>
            </a:r>
            <a:r>
              <a:rPr sz="956" dirty="0" err="1">
                <a:solidFill>
                  <a:srgbClr val="334155"/>
                </a:solidFill>
                <a:latin typeface="Plus Jakarta Sans"/>
              </a:rPr>
              <a:t>subida</a:t>
            </a:r>
            <a:r>
              <a:rPr sz="956" dirty="0">
                <a:solidFill>
                  <a:srgbClr val="334155"/>
                </a:solidFill>
                <a:latin typeface="Plus Jakarta Sans"/>
              </a:rPr>
              <a:t> de </a:t>
            </a:r>
            <a:r>
              <a:rPr sz="956" dirty="0" err="1">
                <a:solidFill>
                  <a:srgbClr val="334155"/>
                </a:solidFill>
                <a:latin typeface="Plus Jakarta Sans"/>
              </a:rPr>
              <a:t>precio</a:t>
            </a:r>
            <a:endParaRPr sz="956" dirty="0">
              <a:solidFill>
                <a:srgbClr val="334155"/>
              </a:solidFill>
              <a:latin typeface="Plus Jakarta Sans"/>
            </a:endParaRPr>
          </a:p>
        </p:txBody>
      </p:sp>
      <p:sp>
        <p:nvSpPr>
          <p:cNvPr id="36" name="TextBox 35"/>
          <p:cNvSpPr txBox="1"/>
          <p:nvPr/>
        </p:nvSpPr>
        <p:spPr>
          <a:xfrm>
            <a:off x="4950619" y="2386124"/>
            <a:ext cx="2467022" cy="157351"/>
          </a:xfrm>
          <a:prstGeom prst="rect">
            <a:avLst/>
          </a:prstGeom>
          <a:noFill/>
        </p:spPr>
        <p:txBody>
          <a:bodyPr wrap="none" lIns="0" tIns="0" rIns="0" bIns="0" anchor="t">
            <a:spAutoFit/>
          </a:bodyPr>
          <a:lstStyle/>
          <a:p>
            <a:pPr>
              <a:lnSpc>
                <a:spcPts val="1291"/>
              </a:lnSpc>
            </a:pPr>
            <a:r>
              <a:rPr lang="es-CO" sz="956" dirty="0">
                <a:solidFill>
                  <a:srgbClr val="8B5CF6"/>
                </a:solidFill>
                <a:latin typeface="Plus Jakarta Sans"/>
              </a:rPr>
              <a:t>       </a:t>
            </a:r>
            <a:r>
              <a:rPr sz="956" dirty="0">
                <a:solidFill>
                  <a:srgbClr val="334155"/>
                </a:solidFill>
                <a:latin typeface="Plus Jakarta Sans"/>
              </a:rPr>
              <a:t>Modo </a:t>
            </a:r>
            <a:r>
              <a:rPr sz="956" b="1" dirty="0">
                <a:solidFill>
                  <a:srgbClr val="334155"/>
                </a:solidFill>
                <a:latin typeface="Plus Jakarta Sans"/>
              </a:rPr>
              <a:t>"</a:t>
            </a:r>
            <a:r>
              <a:rPr sz="956" b="1" dirty="0" err="1">
                <a:solidFill>
                  <a:srgbClr val="334155"/>
                </a:solidFill>
                <a:latin typeface="Plus Jakarta Sans"/>
              </a:rPr>
              <a:t>recojo</a:t>
            </a:r>
            <a:r>
              <a:rPr sz="956" b="1" dirty="0">
                <a:solidFill>
                  <a:srgbClr val="334155"/>
                </a:solidFill>
                <a:latin typeface="Plus Jakarta Sans"/>
              </a:rPr>
              <a:t> </a:t>
            </a:r>
            <a:r>
              <a:rPr sz="956" b="1" dirty="0" err="1">
                <a:solidFill>
                  <a:srgbClr val="334155"/>
                </a:solidFill>
                <a:latin typeface="Plus Jakarta Sans"/>
              </a:rPr>
              <a:t>en</a:t>
            </a:r>
            <a:r>
              <a:rPr sz="956" b="1" dirty="0">
                <a:solidFill>
                  <a:srgbClr val="334155"/>
                </a:solidFill>
                <a:latin typeface="Plus Jakarta Sans"/>
              </a:rPr>
              <a:t> </a:t>
            </a:r>
            <a:r>
              <a:rPr sz="956" b="1" dirty="0" err="1">
                <a:solidFill>
                  <a:srgbClr val="334155"/>
                </a:solidFill>
                <a:latin typeface="Plus Jakarta Sans"/>
              </a:rPr>
              <a:t>restaurante</a:t>
            </a:r>
            <a:r>
              <a:rPr sz="956" b="1" dirty="0">
                <a:solidFill>
                  <a:srgbClr val="334155"/>
                </a:solidFill>
                <a:latin typeface="Plus Jakarta Sans"/>
              </a:rPr>
              <a:t>"</a:t>
            </a:r>
            <a:r>
              <a:rPr sz="956" dirty="0">
                <a:solidFill>
                  <a:srgbClr val="334155"/>
                </a:solidFill>
                <a:latin typeface="Plus Jakarta Sans"/>
              </a:rPr>
              <a:t>, sin </a:t>
            </a:r>
            <a:r>
              <a:rPr sz="956" dirty="0" err="1">
                <a:solidFill>
                  <a:srgbClr val="334155"/>
                </a:solidFill>
                <a:latin typeface="Plus Jakarta Sans"/>
              </a:rPr>
              <a:t>repartidor</a:t>
            </a:r>
            <a:endParaRPr sz="956" dirty="0">
              <a:solidFill>
                <a:srgbClr val="334155"/>
              </a:solidFill>
              <a:latin typeface="Plus Jakarta Sans"/>
            </a:endParaRPr>
          </a:p>
        </p:txBody>
      </p:sp>
      <p:sp>
        <p:nvSpPr>
          <p:cNvPr id="37" name="TextBox 36"/>
          <p:cNvSpPr txBox="1"/>
          <p:nvPr/>
        </p:nvSpPr>
        <p:spPr>
          <a:xfrm>
            <a:off x="5057775" y="2621422"/>
            <a:ext cx="2595262" cy="157351"/>
          </a:xfrm>
          <a:prstGeom prst="rect">
            <a:avLst/>
          </a:prstGeom>
          <a:noFill/>
        </p:spPr>
        <p:txBody>
          <a:bodyPr wrap="none" lIns="0" tIns="0" rIns="0" bIns="0" anchor="t">
            <a:spAutoFit/>
          </a:bodyPr>
          <a:lstStyle/>
          <a:p>
            <a:pPr>
              <a:lnSpc>
                <a:spcPts val="1291"/>
              </a:lnSpc>
            </a:pPr>
            <a:r>
              <a:rPr sz="956" dirty="0">
                <a:solidFill>
                  <a:srgbClr val="8B5CF6"/>
                </a:solidFill>
                <a:latin typeface="Plus Jakarta Sans"/>
              </a:rPr>
              <a:t>• </a:t>
            </a:r>
            <a:r>
              <a:rPr sz="956" dirty="0" err="1">
                <a:solidFill>
                  <a:srgbClr val="334155"/>
                </a:solidFill>
                <a:latin typeface="Plus Jakarta Sans"/>
              </a:rPr>
              <a:t>Repartidor</a:t>
            </a:r>
            <a:r>
              <a:rPr sz="956" dirty="0">
                <a:solidFill>
                  <a:srgbClr val="334155"/>
                </a:solidFill>
                <a:latin typeface="Plus Jakarta Sans"/>
              </a:rPr>
              <a:t> </a:t>
            </a:r>
            <a:r>
              <a:rPr sz="956" dirty="0" err="1">
                <a:solidFill>
                  <a:srgbClr val="334155"/>
                </a:solidFill>
                <a:latin typeface="Plus Jakarta Sans"/>
              </a:rPr>
              <a:t>moviéndose</a:t>
            </a:r>
            <a:r>
              <a:rPr sz="956" dirty="0">
                <a:solidFill>
                  <a:srgbClr val="334155"/>
                </a:solidFill>
                <a:latin typeface="Plus Jakarta Sans"/>
              </a:rPr>
              <a:t> </a:t>
            </a:r>
            <a:r>
              <a:rPr sz="956" dirty="0" err="1">
                <a:solidFill>
                  <a:srgbClr val="334155"/>
                </a:solidFill>
                <a:latin typeface="Plus Jakarta Sans"/>
              </a:rPr>
              <a:t>en</a:t>
            </a:r>
            <a:r>
              <a:rPr sz="956" dirty="0">
                <a:solidFill>
                  <a:srgbClr val="334155"/>
                </a:solidFill>
                <a:latin typeface="Plus Jakarta Sans"/>
              </a:rPr>
              <a:t> el </a:t>
            </a:r>
            <a:r>
              <a:rPr sz="956" dirty="0" err="1">
                <a:solidFill>
                  <a:srgbClr val="334155"/>
                </a:solidFill>
                <a:latin typeface="Plus Jakarta Sans"/>
              </a:rPr>
              <a:t>mapa</a:t>
            </a:r>
            <a:r>
              <a:rPr sz="956" dirty="0">
                <a:solidFill>
                  <a:srgbClr val="334155"/>
                </a:solidFill>
                <a:latin typeface="Plus Jakarta Sans"/>
              </a:rPr>
              <a:t> </a:t>
            </a:r>
            <a:r>
              <a:rPr sz="956" dirty="0" err="1">
                <a:solidFill>
                  <a:srgbClr val="334155"/>
                </a:solidFill>
                <a:latin typeface="Plus Jakarta Sans"/>
              </a:rPr>
              <a:t>en</a:t>
            </a:r>
            <a:r>
              <a:rPr sz="956" dirty="0">
                <a:solidFill>
                  <a:srgbClr val="334155"/>
                </a:solidFill>
                <a:latin typeface="Plus Jakarta Sans"/>
              </a:rPr>
              <a:t> </a:t>
            </a:r>
            <a:r>
              <a:rPr sz="956" dirty="0" err="1">
                <a:solidFill>
                  <a:srgbClr val="334155"/>
                </a:solidFill>
                <a:latin typeface="Plus Jakarta Sans"/>
              </a:rPr>
              <a:t>tiempo</a:t>
            </a:r>
            <a:r>
              <a:rPr sz="956" dirty="0">
                <a:solidFill>
                  <a:srgbClr val="334155"/>
                </a:solidFill>
                <a:latin typeface="Plus Jakarta Sans"/>
              </a:rPr>
              <a:t> real</a:t>
            </a:r>
          </a:p>
        </p:txBody>
      </p:sp>
      <p:sp>
        <p:nvSpPr>
          <p:cNvPr id="38" name="TextBox 37"/>
          <p:cNvSpPr txBox="1"/>
          <p:nvPr/>
        </p:nvSpPr>
        <p:spPr>
          <a:xfrm>
            <a:off x="5057776" y="2856719"/>
            <a:ext cx="2625719" cy="157351"/>
          </a:xfrm>
          <a:prstGeom prst="rect">
            <a:avLst/>
          </a:prstGeom>
          <a:noFill/>
        </p:spPr>
        <p:txBody>
          <a:bodyPr wrap="none" lIns="0" tIns="0" rIns="0" bIns="0" anchor="t">
            <a:spAutoFit/>
          </a:bodyPr>
          <a:lstStyle/>
          <a:p>
            <a:pPr>
              <a:lnSpc>
                <a:spcPts val="1291"/>
              </a:lnSpc>
            </a:pPr>
            <a:r>
              <a:rPr sz="956">
                <a:solidFill>
                  <a:srgbClr val="8B5CF6"/>
                </a:solidFill>
                <a:latin typeface="Plus Jakarta Sans"/>
              </a:rPr>
              <a:t>• </a:t>
            </a:r>
            <a:r>
              <a:rPr sz="956">
                <a:solidFill>
                  <a:srgbClr val="334155"/>
                </a:solidFill>
                <a:latin typeface="Plus Jakarta Sans"/>
              </a:rPr>
              <a:t>Meter </a:t>
            </a:r>
            <a:r>
              <a:rPr sz="956" b="1">
                <a:solidFill>
                  <a:srgbClr val="334155"/>
                </a:solidFill>
                <a:latin typeface="Plus Jakarta Sans"/>
              </a:rPr>
              <a:t>caché</a:t>
            </a:r>
            <a:r>
              <a:rPr sz="956">
                <a:solidFill>
                  <a:srgbClr val="334155"/>
                </a:solidFill>
                <a:latin typeface="Plus Jakarta Sans"/>
              </a:rPr>
              <a:t> de menús para hora pico de almuerzo</a:t>
            </a:r>
          </a:p>
        </p:txBody>
      </p:sp>
      <p:sp>
        <p:nvSpPr>
          <p:cNvPr id="39" name="TextBox 38"/>
          <p:cNvSpPr txBox="1"/>
          <p:nvPr/>
        </p:nvSpPr>
        <p:spPr>
          <a:xfrm>
            <a:off x="5072063" y="3092016"/>
            <a:ext cx="2519921" cy="157351"/>
          </a:xfrm>
          <a:prstGeom prst="rect">
            <a:avLst/>
          </a:prstGeom>
          <a:noFill/>
        </p:spPr>
        <p:txBody>
          <a:bodyPr wrap="none" lIns="0" tIns="0" rIns="0" bIns="0" anchor="t">
            <a:spAutoFit/>
          </a:bodyPr>
          <a:lstStyle/>
          <a:p>
            <a:pPr>
              <a:lnSpc>
                <a:spcPts val="1291"/>
              </a:lnSpc>
            </a:pPr>
            <a:r>
              <a:rPr sz="956">
                <a:solidFill>
                  <a:srgbClr val="8B5CF6"/>
                </a:solidFill>
                <a:latin typeface="Plus Jakarta Sans"/>
              </a:rPr>
              <a:t>• </a:t>
            </a:r>
            <a:r>
              <a:rPr sz="956">
                <a:solidFill>
                  <a:srgbClr val="334155"/>
                </a:solidFill>
                <a:latin typeface="Plus Jakarta Sans"/>
              </a:rPr>
              <a:t>Cambiar el criterio de asignación de repartidores</a:t>
            </a:r>
          </a:p>
        </p:txBody>
      </p:sp>
      <p:sp>
        <p:nvSpPr>
          <p:cNvPr id="40" name="TextBox 39"/>
          <p:cNvSpPr txBox="1"/>
          <p:nvPr/>
        </p:nvSpPr>
        <p:spPr>
          <a:xfrm>
            <a:off x="5086350" y="3327313"/>
            <a:ext cx="2468625" cy="157351"/>
          </a:xfrm>
          <a:prstGeom prst="rect">
            <a:avLst/>
          </a:prstGeom>
          <a:noFill/>
        </p:spPr>
        <p:txBody>
          <a:bodyPr wrap="none" lIns="0" tIns="0" rIns="0" bIns="0" anchor="t">
            <a:spAutoFit/>
          </a:bodyPr>
          <a:lstStyle/>
          <a:p>
            <a:pPr>
              <a:lnSpc>
                <a:spcPts val="1291"/>
              </a:lnSpc>
            </a:pPr>
            <a:r>
              <a:rPr sz="956">
                <a:solidFill>
                  <a:srgbClr val="8B5CF6"/>
                </a:solidFill>
                <a:latin typeface="Plus Jakarta Sans"/>
              </a:rPr>
              <a:t>• </a:t>
            </a:r>
            <a:r>
              <a:rPr sz="956">
                <a:solidFill>
                  <a:srgbClr val="334155"/>
                </a:solidFill>
                <a:latin typeface="Plus Jakarta Sans"/>
              </a:rPr>
              <a:t>Afiliar restaurante nuevo sin reiniciar el sistema</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04800"/>
            <a:ext cx="8394192" cy="312837"/>
          </a:xfrm>
          <a:prstGeom prst="rect">
            <a:avLst/>
          </a:prstGeom>
          <a:noFill/>
          <a:ln/>
        </p:spPr>
        <p:txBody>
          <a:bodyPr wrap="square" lIns="0" tIns="0" rIns="0" bIns="0" rtlCol="0" anchor="t"/>
          <a:lstStyle/>
          <a:p>
            <a:pPr marL="0" indent="0" algn="l">
              <a:lnSpc>
                <a:spcPts val="2464"/>
              </a:lnSpc>
              <a:spcBef>
                <a:spcPts val="2400"/>
              </a:spcBef>
              <a:buNone/>
            </a:pPr>
            <a:r>
              <a:rPr lang="en-US" sz="2200" b="1" dirty="0">
                <a:solidFill>
                  <a:srgbClr val="111111"/>
                </a:solidFill>
                <a:latin typeface="Helvetica" pitchFamily="34" charset="0"/>
                <a:ea typeface="Helvetica" pitchFamily="34" charset="-122"/>
                <a:cs typeface="Helvetica" pitchFamily="34" charset="-120"/>
              </a:rPr>
              <a:t>Prefiera la inyección de dependencias</a:t>
            </a:r>
            <a:endParaRPr lang="en-US" sz="2200" dirty="0"/>
          </a:p>
        </p:txBody>
      </p:sp>
      <p:sp>
        <p:nvSpPr>
          <p:cNvPr id="3" name="Text 1"/>
          <p:cNvSpPr/>
          <p:nvPr/>
        </p:nvSpPr>
        <p:spPr>
          <a:xfrm>
            <a:off x="431750" y="693837"/>
            <a:ext cx="8445957" cy="156865"/>
          </a:xfrm>
          <a:prstGeom prst="rect">
            <a:avLst/>
          </a:prstGeom>
          <a:noFill/>
          <a:ln/>
        </p:spPr>
        <p:txBody>
          <a:bodyPr wrap="square" lIns="0" tIns="0" rIns="0" bIns="0" rtlCol="0" anchor="t"/>
          <a:lstStyle/>
          <a:p>
            <a:pPr marL="0" indent="0" algn="l">
              <a:lnSpc>
                <a:spcPts val="1235"/>
              </a:lnSpc>
              <a:spcAft>
                <a:spcPts val="500"/>
              </a:spcAft>
              <a:buNone/>
            </a:pPr>
            <a:r>
              <a:rPr lang="en-US" sz="950" dirty="0">
                <a:solidFill>
                  <a:srgbClr val="5E5E5E"/>
                </a:solidFill>
                <a:latin typeface="Helvetica" pitchFamily="34" charset="0"/>
                <a:ea typeface="Helvetica" pitchFamily="34" charset="-122"/>
                <a:cs typeface="Helvetica" pitchFamily="34" charset="-120"/>
              </a:rPr>
              <a:t>El Pedido necesita al Conector DB y a la Pasarela de Pagos. ¿Cómo llega una instancia de Pedido a tener acceso a ellos?</a:t>
            </a:r>
            <a:endParaRPr lang="en-US" sz="950" dirty="0"/>
          </a:p>
        </p:txBody>
      </p:sp>
      <p:pic>
        <p:nvPicPr>
          <p:cNvPr id="4" name="Image 0" descr="/home/claude/work/build/img/inyeccion.png"/>
          <p:cNvPicPr>
            <a:picLocks noChangeAspect="1"/>
          </p:cNvPicPr>
          <p:nvPr/>
        </p:nvPicPr>
        <p:blipFill>
          <a:blip r:embed="rId3"/>
          <a:stretch>
            <a:fillRect/>
          </a:stretch>
        </p:blipFill>
        <p:spPr>
          <a:xfrm>
            <a:off x="1015901" y="914102"/>
            <a:ext cx="7111901" cy="2743200"/>
          </a:xfrm>
          <a:prstGeom prst="rect">
            <a:avLst/>
          </a:prstGeom>
        </p:spPr>
      </p:pic>
      <p:sp>
        <p:nvSpPr>
          <p:cNvPr id="5" name="Text 2"/>
          <p:cNvSpPr/>
          <p:nvPr/>
        </p:nvSpPr>
        <p:spPr>
          <a:xfrm>
            <a:off x="431750" y="3733502"/>
            <a:ext cx="8445957" cy="494705"/>
          </a:xfrm>
          <a:prstGeom prst="rect">
            <a:avLst/>
          </a:prstGeom>
          <a:noFill/>
          <a:ln/>
        </p:spPr>
        <p:txBody>
          <a:bodyPr wrap="square" lIns="0" tIns="0" rIns="0" bIns="0" rtlCol="0" anchor="t"/>
          <a:lstStyle/>
          <a:p>
            <a:pPr marL="0" indent="0" algn="l">
              <a:lnSpc>
                <a:spcPts val="1300"/>
              </a:lnSpc>
              <a:spcBef>
                <a:spcPts val="600"/>
              </a:spcBef>
              <a:spcAft>
                <a:spcPts val="700"/>
              </a:spcAft>
              <a:buNone/>
            </a:pPr>
            <a:r>
              <a:rPr lang="en-US" sz="1000" dirty="0">
                <a:solidFill>
                  <a:srgbClr val="4A4A4A"/>
                </a:solidFill>
                <a:latin typeface="Helvetica" pitchFamily="34" charset="0"/>
                <a:ea typeface="Helvetica" pitchFamily="34" charset="-122"/>
                <a:cs typeface="Helvetica" pitchFamily="34" charset="-120"/>
              </a:rPr>
              <a:t>En la primera alternativa el Pedido los </a:t>
            </a:r>
            <a:r>
              <a:rPr lang="en-US" sz="1000" b="1" dirty="0">
                <a:solidFill>
                  <a:srgbClr val="4A4A4A"/>
                </a:solidFill>
                <a:latin typeface="Helvetica" pitchFamily="34" charset="0"/>
                <a:ea typeface="Helvetica" pitchFamily="34" charset="-122"/>
                <a:cs typeface="Helvetica" pitchFamily="34" charset="-120"/>
              </a:rPr>
              <a:t>busca</a:t>
            </a:r>
            <a:r>
              <a:rPr lang="en-US" sz="1000" dirty="0">
                <a:solidFill>
                  <a:srgbClr val="4A4A4A"/>
                </a:solidFill>
                <a:latin typeface="Helvetica" pitchFamily="34" charset="0"/>
                <a:ea typeface="Helvetica" pitchFamily="34" charset="-122"/>
                <a:cs typeface="Helvetica" pitchFamily="34" charset="-120"/>
              </a:rPr>
              <a:t>, y para eso tiene que conocer al Restaurante, que tiene que conocer al Núcleo. Tres dependencias para usar dos cosas. En la segunda, el Núcleo se los </a:t>
            </a:r>
            <a:r>
              <a:rPr lang="en-US" sz="1000" b="1" dirty="0">
                <a:solidFill>
                  <a:srgbClr val="4A4A4A"/>
                </a:solidFill>
                <a:latin typeface="Helvetica" pitchFamily="34" charset="0"/>
                <a:ea typeface="Helvetica" pitchFamily="34" charset="-122"/>
                <a:cs typeface="Helvetica" pitchFamily="34" charset="-120"/>
              </a:rPr>
              <a:t>inyecta</a:t>
            </a:r>
            <a:r>
              <a:rPr lang="en-US" sz="1000" dirty="0">
                <a:solidFill>
                  <a:srgbClr val="4A4A4A"/>
                </a:solidFill>
                <a:latin typeface="Helvetica" pitchFamily="34" charset="0"/>
                <a:ea typeface="Helvetica" pitchFamily="34" charset="-122"/>
                <a:cs typeface="Helvetica" pitchFamily="34" charset="-120"/>
              </a:rPr>
              <a:t> al construirlo: el Pedido sólo conoce las dos interfaces que realmente usa, y en las pruebas se le puede pasar una pasarela falsa que no cobre plata de verdad.</a:t>
            </a:r>
            <a:endParaRPr lang="en-US" sz="1000" dirty="0"/>
          </a:p>
        </p:txBody>
      </p:sp>
      <p:sp>
        <p:nvSpPr>
          <p:cNvPr id="6" name="Text 3"/>
          <p:cNvSpPr/>
          <p:nvPr/>
        </p:nvSpPr>
        <p:spPr>
          <a:xfrm>
            <a:off x="8737402" y="4842570"/>
            <a:ext cx="129793" cy="148530"/>
          </a:xfrm>
          <a:prstGeom prst="rect">
            <a:avLst/>
          </a:prstGeom>
          <a:noFill/>
          <a:ln/>
        </p:spPr>
        <p:txBody>
          <a:bodyPr wrap="square" lIns="0" tIns="0" rIns="0" bIns="0" rtlCol="0" anchor="t"/>
          <a:lstStyle/>
          <a:p>
            <a:pPr marL="0" indent="0" algn="l">
              <a:lnSpc>
                <a:spcPts val="1170"/>
              </a:lnSpc>
              <a:buNone/>
            </a:pPr>
            <a:r>
              <a:rPr lang="en-US" sz="900" dirty="0">
                <a:solidFill>
                  <a:srgbClr val="9A9A9A"/>
                </a:solidFill>
                <a:latin typeface="Helvetica" pitchFamily="34" charset="0"/>
                <a:ea typeface="Helvetica" pitchFamily="34" charset="-122"/>
                <a:cs typeface="Helvetica" pitchFamily="34" charset="-120"/>
              </a:rPr>
              <a:t>37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4" name="Rounded Rectangle 3"/>
          <p:cNvSpPr/>
          <p:nvPr/>
        </p:nvSpPr>
        <p:spPr>
          <a:xfrm>
            <a:off x="457200" y="1623751"/>
            <a:ext cx="4043363" cy="1185863"/>
          </a:xfrm>
          <a:prstGeom prst="roundRect">
            <a:avLst>
              <a:gd name="adj" fmla="val 9638"/>
            </a:avLst>
          </a:prstGeom>
          <a:solidFill>
            <a:srgbClr val="FEFD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ounded Rectangle 4"/>
          <p:cNvSpPr/>
          <p:nvPr/>
        </p:nvSpPr>
        <p:spPr>
          <a:xfrm>
            <a:off x="4643437" y="1623751"/>
            <a:ext cx="4043363" cy="1185863"/>
          </a:xfrm>
          <a:prstGeom prst="roundRect">
            <a:avLst>
              <a:gd name="adj" fmla="val 9638"/>
            </a:avLst>
          </a:prstGeom>
          <a:solidFill>
            <a:srgbClr val="FEFD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 name="Rounded Rectangle 5"/>
          <p:cNvSpPr/>
          <p:nvPr/>
        </p:nvSpPr>
        <p:spPr>
          <a:xfrm>
            <a:off x="457200" y="2952490"/>
            <a:ext cx="4043363" cy="1193006"/>
          </a:xfrm>
          <a:prstGeom prst="roundRect">
            <a:avLst>
              <a:gd name="adj" fmla="val 9580"/>
            </a:avLst>
          </a:prstGeom>
          <a:solidFill>
            <a:srgbClr val="FEFD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 name="Rounded Rectangle 6"/>
          <p:cNvSpPr/>
          <p:nvPr/>
        </p:nvSpPr>
        <p:spPr>
          <a:xfrm>
            <a:off x="4643437" y="2952490"/>
            <a:ext cx="4043363" cy="1193006"/>
          </a:xfrm>
          <a:prstGeom prst="roundRect">
            <a:avLst>
              <a:gd name="adj" fmla="val 9580"/>
            </a:avLst>
          </a:prstGeom>
          <a:solidFill>
            <a:srgbClr val="FEFD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Rectangle 7"/>
          <p:cNvSpPr/>
          <p:nvPr/>
        </p:nvSpPr>
        <p:spPr>
          <a:xfrm>
            <a:off x="457200" y="2802471"/>
            <a:ext cx="4043363" cy="714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 name="Rectangle 8"/>
          <p:cNvSpPr/>
          <p:nvPr/>
        </p:nvSpPr>
        <p:spPr>
          <a:xfrm>
            <a:off x="457200" y="1623752"/>
            <a:ext cx="4043363" cy="28575"/>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 name="Rectangle 9"/>
          <p:cNvSpPr/>
          <p:nvPr/>
        </p:nvSpPr>
        <p:spPr>
          <a:xfrm>
            <a:off x="457200" y="1623751"/>
            <a:ext cx="7144" cy="1185863"/>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1" name="Rectangle 10"/>
          <p:cNvSpPr/>
          <p:nvPr/>
        </p:nvSpPr>
        <p:spPr>
          <a:xfrm>
            <a:off x="4493419" y="1623751"/>
            <a:ext cx="7144" cy="1185863"/>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 name="Rounded Rectangle 11"/>
          <p:cNvSpPr/>
          <p:nvPr/>
        </p:nvSpPr>
        <p:spPr>
          <a:xfrm>
            <a:off x="607219" y="2209540"/>
            <a:ext cx="3743325" cy="450056"/>
          </a:xfrm>
          <a:prstGeom prst="roundRect">
            <a:avLst>
              <a:gd name="adj" fmla="val 12698"/>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3" name="Rectangle 12"/>
          <p:cNvSpPr/>
          <p:nvPr/>
        </p:nvSpPr>
        <p:spPr>
          <a:xfrm>
            <a:off x="4643437" y="2802471"/>
            <a:ext cx="4043363" cy="714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4" name="Rectangle 13"/>
          <p:cNvSpPr/>
          <p:nvPr/>
        </p:nvSpPr>
        <p:spPr>
          <a:xfrm>
            <a:off x="4643437" y="1623752"/>
            <a:ext cx="4043363" cy="28575"/>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5" name="Rectangle 14"/>
          <p:cNvSpPr/>
          <p:nvPr/>
        </p:nvSpPr>
        <p:spPr>
          <a:xfrm>
            <a:off x="4643438" y="1623751"/>
            <a:ext cx="7144" cy="1185863"/>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6" name="Rectangle 15"/>
          <p:cNvSpPr/>
          <p:nvPr/>
        </p:nvSpPr>
        <p:spPr>
          <a:xfrm>
            <a:off x="8679657" y="1623751"/>
            <a:ext cx="7144" cy="1185863"/>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7" name="Rounded Rectangle 16"/>
          <p:cNvSpPr/>
          <p:nvPr/>
        </p:nvSpPr>
        <p:spPr>
          <a:xfrm>
            <a:off x="4793456" y="2209540"/>
            <a:ext cx="3743325" cy="450056"/>
          </a:xfrm>
          <a:prstGeom prst="roundRect">
            <a:avLst>
              <a:gd name="adj" fmla="val 12698"/>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8" name="Rectangle 17"/>
          <p:cNvSpPr/>
          <p:nvPr/>
        </p:nvSpPr>
        <p:spPr>
          <a:xfrm>
            <a:off x="457200" y="4138352"/>
            <a:ext cx="4043363" cy="714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9" name="Rectangle 18"/>
          <p:cNvSpPr/>
          <p:nvPr/>
        </p:nvSpPr>
        <p:spPr>
          <a:xfrm>
            <a:off x="457200" y="2952489"/>
            <a:ext cx="4043363" cy="2857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0" name="Rectangle 19"/>
          <p:cNvSpPr/>
          <p:nvPr/>
        </p:nvSpPr>
        <p:spPr>
          <a:xfrm>
            <a:off x="457200" y="2952490"/>
            <a:ext cx="7144" cy="119300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1" name="Rectangle 20"/>
          <p:cNvSpPr/>
          <p:nvPr/>
        </p:nvSpPr>
        <p:spPr>
          <a:xfrm>
            <a:off x="4493419" y="2952490"/>
            <a:ext cx="7144" cy="119300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2" name="Rounded Rectangle 21"/>
          <p:cNvSpPr/>
          <p:nvPr/>
        </p:nvSpPr>
        <p:spPr>
          <a:xfrm>
            <a:off x="607219" y="3538277"/>
            <a:ext cx="3743325" cy="450056"/>
          </a:xfrm>
          <a:prstGeom prst="roundRect">
            <a:avLst>
              <a:gd name="adj" fmla="val 12698"/>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3" name="Rectangle 22"/>
          <p:cNvSpPr/>
          <p:nvPr/>
        </p:nvSpPr>
        <p:spPr>
          <a:xfrm>
            <a:off x="4643437" y="4138352"/>
            <a:ext cx="4043363" cy="714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4" name="Rectangle 23"/>
          <p:cNvSpPr/>
          <p:nvPr/>
        </p:nvSpPr>
        <p:spPr>
          <a:xfrm>
            <a:off x="4643437" y="2952489"/>
            <a:ext cx="4043363" cy="2857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5" name="Rectangle 24"/>
          <p:cNvSpPr/>
          <p:nvPr/>
        </p:nvSpPr>
        <p:spPr>
          <a:xfrm>
            <a:off x="4643438" y="2952490"/>
            <a:ext cx="7144" cy="119300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6" name="Rectangle 25"/>
          <p:cNvSpPr/>
          <p:nvPr/>
        </p:nvSpPr>
        <p:spPr>
          <a:xfrm>
            <a:off x="8679657" y="2952490"/>
            <a:ext cx="7144" cy="119300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7" name="Rounded Rectangle 26"/>
          <p:cNvSpPr/>
          <p:nvPr/>
        </p:nvSpPr>
        <p:spPr>
          <a:xfrm>
            <a:off x="4793456" y="3538277"/>
            <a:ext cx="3743325" cy="457200"/>
          </a:xfrm>
          <a:prstGeom prst="roundRect">
            <a:avLst>
              <a:gd name="adj" fmla="val 125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pic>
        <p:nvPicPr>
          <p:cNvPr id="28" name="Picture 27" descr="image.png"/>
          <p:cNvPicPr>
            <a:picLocks noChangeAspect="1"/>
          </p:cNvPicPr>
          <p:nvPr/>
        </p:nvPicPr>
        <p:blipFill>
          <a:blip r:embed="rId3"/>
          <a:stretch>
            <a:fillRect/>
          </a:stretch>
        </p:blipFill>
        <p:spPr>
          <a:xfrm>
            <a:off x="607219" y="1795202"/>
            <a:ext cx="342900" cy="342900"/>
          </a:xfrm>
          <a:prstGeom prst="rect">
            <a:avLst/>
          </a:prstGeom>
        </p:spPr>
      </p:pic>
      <p:pic>
        <p:nvPicPr>
          <p:cNvPr id="29" name="Picture 28" descr="image.png"/>
          <p:cNvPicPr>
            <a:picLocks noChangeAspect="1"/>
          </p:cNvPicPr>
          <p:nvPr/>
        </p:nvPicPr>
        <p:blipFill>
          <a:blip r:embed="rId4"/>
          <a:stretch>
            <a:fillRect/>
          </a:stretch>
        </p:blipFill>
        <p:spPr>
          <a:xfrm>
            <a:off x="4793456" y="1795202"/>
            <a:ext cx="342900" cy="342900"/>
          </a:xfrm>
          <a:prstGeom prst="rect">
            <a:avLst/>
          </a:prstGeom>
        </p:spPr>
      </p:pic>
      <p:pic>
        <p:nvPicPr>
          <p:cNvPr id="30" name="Picture 29" descr="image.png"/>
          <p:cNvPicPr>
            <a:picLocks noChangeAspect="1"/>
          </p:cNvPicPr>
          <p:nvPr/>
        </p:nvPicPr>
        <p:blipFill>
          <a:blip r:embed="rId5"/>
          <a:stretch>
            <a:fillRect/>
          </a:stretch>
        </p:blipFill>
        <p:spPr>
          <a:xfrm>
            <a:off x="607219" y="3123939"/>
            <a:ext cx="342900" cy="342900"/>
          </a:xfrm>
          <a:prstGeom prst="rect">
            <a:avLst/>
          </a:prstGeom>
        </p:spPr>
      </p:pic>
      <p:pic>
        <p:nvPicPr>
          <p:cNvPr id="31" name="Picture 30" descr="image.png"/>
          <p:cNvPicPr>
            <a:picLocks noChangeAspect="1"/>
          </p:cNvPicPr>
          <p:nvPr/>
        </p:nvPicPr>
        <p:blipFill>
          <a:blip r:embed="rId6"/>
          <a:stretch>
            <a:fillRect/>
          </a:stretch>
        </p:blipFill>
        <p:spPr>
          <a:xfrm>
            <a:off x="4793456" y="3123939"/>
            <a:ext cx="342900" cy="342900"/>
          </a:xfrm>
          <a:prstGeom prst="rect">
            <a:avLst/>
          </a:prstGeom>
        </p:spPr>
      </p:pic>
      <p:pic>
        <p:nvPicPr>
          <p:cNvPr id="32" name="Picture 31" descr="image.png"/>
          <p:cNvPicPr>
            <a:picLocks noChangeAspect="1"/>
          </p:cNvPicPr>
          <p:nvPr/>
        </p:nvPicPr>
        <p:blipFill>
          <a:blip r:embed="rId7"/>
          <a:stretch>
            <a:fillRect/>
          </a:stretch>
        </p:blipFill>
        <p:spPr>
          <a:xfrm>
            <a:off x="700087" y="1888070"/>
            <a:ext cx="157163" cy="157163"/>
          </a:xfrm>
          <a:prstGeom prst="rect">
            <a:avLst/>
          </a:prstGeom>
        </p:spPr>
      </p:pic>
      <p:pic>
        <p:nvPicPr>
          <p:cNvPr id="33" name="Picture 32" descr="image.png"/>
          <p:cNvPicPr>
            <a:picLocks noChangeAspect="1"/>
          </p:cNvPicPr>
          <p:nvPr/>
        </p:nvPicPr>
        <p:blipFill>
          <a:blip r:embed="rId8"/>
          <a:stretch>
            <a:fillRect/>
          </a:stretch>
        </p:blipFill>
        <p:spPr>
          <a:xfrm>
            <a:off x="4886325" y="1888070"/>
            <a:ext cx="157163" cy="157163"/>
          </a:xfrm>
          <a:prstGeom prst="rect">
            <a:avLst/>
          </a:prstGeom>
        </p:spPr>
      </p:pic>
      <p:pic>
        <p:nvPicPr>
          <p:cNvPr id="34" name="Picture 33" descr="image.png"/>
          <p:cNvPicPr>
            <a:picLocks noChangeAspect="1"/>
          </p:cNvPicPr>
          <p:nvPr/>
        </p:nvPicPr>
        <p:blipFill>
          <a:blip r:embed="rId9"/>
          <a:stretch>
            <a:fillRect/>
          </a:stretch>
        </p:blipFill>
        <p:spPr>
          <a:xfrm>
            <a:off x="717947" y="3216808"/>
            <a:ext cx="121444" cy="157163"/>
          </a:xfrm>
          <a:prstGeom prst="rect">
            <a:avLst/>
          </a:prstGeom>
        </p:spPr>
      </p:pic>
      <p:pic>
        <p:nvPicPr>
          <p:cNvPr id="35" name="Picture 34" descr="image.png"/>
          <p:cNvPicPr>
            <a:picLocks noChangeAspect="1"/>
          </p:cNvPicPr>
          <p:nvPr/>
        </p:nvPicPr>
        <p:blipFill>
          <a:blip r:embed="rId10"/>
          <a:stretch>
            <a:fillRect/>
          </a:stretch>
        </p:blipFill>
        <p:spPr>
          <a:xfrm>
            <a:off x="4886325" y="3216808"/>
            <a:ext cx="157163" cy="157163"/>
          </a:xfrm>
          <a:prstGeom prst="rect">
            <a:avLst/>
          </a:prstGeom>
        </p:spPr>
      </p:pic>
      <p:sp>
        <p:nvSpPr>
          <p:cNvPr id="36" name="TextBox 35"/>
          <p:cNvSpPr txBox="1"/>
          <p:nvPr/>
        </p:nvSpPr>
        <p:spPr>
          <a:xfrm>
            <a:off x="6389696" y="4672013"/>
            <a:ext cx="2297104" cy="121252"/>
          </a:xfrm>
          <a:prstGeom prst="rect">
            <a:avLst/>
          </a:prstGeom>
          <a:noFill/>
        </p:spPr>
        <p:txBody>
          <a:bodyPr wrap="none" lIns="0" tIns="0" rIns="0" bIns="0" anchor="t">
            <a:spAutoFit/>
          </a:bodyPr>
          <a:lstStyle/>
          <a:p>
            <a:pPr algn="r"/>
            <a:r>
              <a:rPr sz="788">
                <a:solidFill>
                  <a:srgbClr val="0F172A"/>
                </a:solidFill>
                <a:latin typeface="Plus Jakarta Sans"/>
              </a:rPr>
              <a:t>Moraleja: La justificación es lo que te salva en la entrega</a:t>
            </a:r>
          </a:p>
        </p:txBody>
      </p:sp>
      <p:sp>
        <p:nvSpPr>
          <p:cNvPr id="38" name="TextBox 37"/>
          <p:cNvSpPr txBox="1"/>
          <p:nvPr/>
        </p:nvSpPr>
        <p:spPr>
          <a:xfrm>
            <a:off x="2364409" y="642938"/>
            <a:ext cx="4415183" cy="322461"/>
          </a:xfrm>
          <a:prstGeom prst="rect">
            <a:avLst/>
          </a:prstGeom>
          <a:noFill/>
        </p:spPr>
        <p:txBody>
          <a:bodyPr wrap="none" lIns="0" tIns="0" rIns="0" bIns="0" anchor="t">
            <a:spAutoFit/>
          </a:bodyPr>
          <a:lstStyle/>
          <a:p>
            <a:pPr algn="ctr">
              <a:lnSpc>
                <a:spcPts val="2565"/>
              </a:lnSpc>
            </a:pPr>
            <a:r>
              <a:rPr sz="2138" b="1" dirty="0" err="1">
                <a:solidFill>
                  <a:srgbClr val="0F172A"/>
                </a:solidFill>
                <a:latin typeface="Plus Jakarta Sans"/>
              </a:rPr>
              <a:t>Expectativa</a:t>
            </a:r>
            <a:r>
              <a:rPr sz="2138" b="1" dirty="0">
                <a:solidFill>
                  <a:srgbClr val="0F172A"/>
                </a:solidFill>
                <a:latin typeface="Plus Jakarta Sans"/>
              </a:rPr>
              <a:t> vs. </a:t>
            </a:r>
            <a:r>
              <a:rPr sz="2138" b="1" dirty="0" err="1">
                <a:solidFill>
                  <a:srgbClr val="0F172A"/>
                </a:solidFill>
                <a:latin typeface="Plus Jakarta Sans"/>
              </a:rPr>
              <a:t>Realidad</a:t>
            </a:r>
            <a:r>
              <a:rPr sz="2138" b="1" dirty="0">
                <a:solidFill>
                  <a:srgbClr val="0F172A"/>
                </a:solidFill>
                <a:latin typeface="Plus Jakarta Sans"/>
              </a:rPr>
              <a:t> del </a:t>
            </a:r>
            <a:r>
              <a:rPr sz="2138" b="1" dirty="0" err="1">
                <a:solidFill>
                  <a:srgbClr val="0F172A"/>
                </a:solidFill>
                <a:latin typeface="Plus Jakarta Sans"/>
              </a:rPr>
              <a:t>Arquitecto</a:t>
            </a:r>
            <a:endParaRPr sz="2138" b="1" dirty="0">
              <a:solidFill>
                <a:srgbClr val="0F172A"/>
              </a:solidFill>
              <a:latin typeface="Plus Jakarta Sans"/>
            </a:endParaRPr>
          </a:p>
        </p:txBody>
      </p:sp>
      <p:sp>
        <p:nvSpPr>
          <p:cNvPr id="39" name="TextBox 38"/>
          <p:cNvSpPr txBox="1"/>
          <p:nvPr/>
        </p:nvSpPr>
        <p:spPr>
          <a:xfrm>
            <a:off x="692944" y="2295265"/>
            <a:ext cx="3643313" cy="259815"/>
          </a:xfrm>
          <a:prstGeom prst="rect">
            <a:avLst/>
          </a:prstGeom>
          <a:noFill/>
        </p:spPr>
        <p:txBody>
          <a:bodyPr wrap="square" lIns="0" tIns="0" rIns="0" bIns="0" anchor="t">
            <a:spAutoFit/>
          </a:bodyPr>
          <a:lstStyle/>
          <a:p>
            <a:pPr algn="l"/>
            <a:r>
              <a:rPr sz="844" i="1">
                <a:solidFill>
                  <a:srgbClr val="334155"/>
                </a:solidFill>
                <a:latin typeface="Plus Jakarta Sans"/>
              </a:rPr>
              <a:t>"Solo queremos una app sencilla donde el usuario elija una hamburguesa y la pida. Nada complejo." 🍔</a:t>
            </a:r>
          </a:p>
        </p:txBody>
      </p:sp>
      <p:sp>
        <p:nvSpPr>
          <p:cNvPr id="40" name="TextBox 39"/>
          <p:cNvSpPr txBox="1"/>
          <p:nvPr/>
        </p:nvSpPr>
        <p:spPr>
          <a:xfrm>
            <a:off x="4879181" y="2295265"/>
            <a:ext cx="3643313" cy="259815"/>
          </a:xfrm>
          <a:prstGeom prst="rect">
            <a:avLst/>
          </a:prstGeom>
          <a:noFill/>
        </p:spPr>
        <p:txBody>
          <a:bodyPr wrap="square" lIns="0" tIns="0" rIns="0" bIns="0" anchor="t">
            <a:spAutoFit/>
          </a:bodyPr>
          <a:lstStyle/>
          <a:p>
            <a:pPr algn="l"/>
            <a:r>
              <a:rPr sz="844" i="1">
                <a:solidFill>
                  <a:srgbClr val="334155"/>
                </a:solidFill>
                <a:latin typeface="Plus Jakarta Sans"/>
              </a:rPr>
              <a:t>"Necesitamos cupones 2x1, pago en criptos, múltiples restaurantes en un pedido y mapas 3D en vivo." 🤡</a:t>
            </a:r>
          </a:p>
        </p:txBody>
      </p:sp>
      <p:sp>
        <p:nvSpPr>
          <p:cNvPr id="41" name="TextBox 40"/>
          <p:cNvSpPr txBox="1"/>
          <p:nvPr/>
        </p:nvSpPr>
        <p:spPr>
          <a:xfrm>
            <a:off x="692944" y="3624002"/>
            <a:ext cx="3643313" cy="259815"/>
          </a:xfrm>
          <a:prstGeom prst="rect">
            <a:avLst/>
          </a:prstGeom>
          <a:noFill/>
        </p:spPr>
        <p:txBody>
          <a:bodyPr wrap="square" lIns="0" tIns="0" rIns="0" bIns="0" anchor="t">
            <a:spAutoFit/>
          </a:bodyPr>
          <a:lstStyle/>
          <a:p>
            <a:pPr algn="l"/>
            <a:r>
              <a:rPr sz="844" i="1">
                <a:solidFill>
                  <a:srgbClr val="334155"/>
                </a:solidFill>
                <a:latin typeface="Plus Jakarta Sans"/>
              </a:rPr>
              <a:t>"Diagramas UML impecables, arquitectura desacoplada y responsabilidades perfectamente justificadas." 📐</a:t>
            </a:r>
          </a:p>
        </p:txBody>
      </p:sp>
      <p:sp>
        <p:nvSpPr>
          <p:cNvPr id="42" name="TextBox 41"/>
          <p:cNvSpPr txBox="1"/>
          <p:nvPr/>
        </p:nvSpPr>
        <p:spPr>
          <a:xfrm>
            <a:off x="4879181" y="3624002"/>
            <a:ext cx="3643313" cy="129907"/>
          </a:xfrm>
          <a:prstGeom prst="rect">
            <a:avLst/>
          </a:prstGeom>
          <a:noFill/>
        </p:spPr>
        <p:txBody>
          <a:bodyPr wrap="square" lIns="0" tIns="0" rIns="0" bIns="0" anchor="t">
            <a:spAutoFit/>
          </a:bodyPr>
          <a:lstStyle/>
          <a:p>
            <a:pPr algn="l"/>
            <a:r>
              <a:rPr sz="844" i="1">
                <a:solidFill>
                  <a:srgbClr val="334155"/>
                </a:solidFill>
                <a:latin typeface="Plus Jakarta Sans"/>
              </a:rPr>
              <a:t>// TODO: Arreglar esta clase Dios antes de la demo. Si la tocas, explota el cobro. 💣</a:t>
            </a:r>
          </a:p>
        </p:txBody>
      </p:sp>
      <p:sp>
        <p:nvSpPr>
          <p:cNvPr id="43" name="TextBox 42"/>
          <p:cNvSpPr txBox="1"/>
          <p:nvPr/>
        </p:nvSpPr>
        <p:spPr>
          <a:xfrm>
            <a:off x="1050132" y="1827349"/>
            <a:ext cx="750205" cy="155877"/>
          </a:xfrm>
          <a:prstGeom prst="rect">
            <a:avLst/>
          </a:prstGeom>
          <a:noFill/>
        </p:spPr>
        <p:txBody>
          <a:bodyPr wrap="none" lIns="0" tIns="0" rIns="0" bIns="0" anchor="t">
            <a:spAutoFit/>
          </a:bodyPr>
          <a:lstStyle/>
          <a:p>
            <a:pPr algn="l"/>
            <a:r>
              <a:rPr sz="1013" b="1">
                <a:solidFill>
                  <a:srgbClr val="1E3A8A"/>
                </a:solidFill>
                <a:latin typeface="Plus Jakarta Sans"/>
              </a:rPr>
              <a:t>Reunión Día 1</a:t>
            </a:r>
          </a:p>
        </p:txBody>
      </p:sp>
      <p:sp>
        <p:nvSpPr>
          <p:cNvPr id="44" name="TextBox 43"/>
          <p:cNvSpPr txBox="1"/>
          <p:nvPr/>
        </p:nvSpPr>
        <p:spPr>
          <a:xfrm>
            <a:off x="1050132" y="1991656"/>
            <a:ext cx="809517" cy="112467"/>
          </a:xfrm>
          <a:prstGeom prst="rect">
            <a:avLst/>
          </a:prstGeom>
          <a:noFill/>
        </p:spPr>
        <p:txBody>
          <a:bodyPr wrap="none" lIns="0" tIns="0" rIns="0" bIns="0" anchor="t">
            <a:spAutoFit/>
          </a:bodyPr>
          <a:lstStyle/>
          <a:p>
            <a:pPr algn="l"/>
            <a:r>
              <a:rPr sz="731">
                <a:solidFill>
                  <a:srgbClr val="64748B"/>
                </a:solidFill>
                <a:latin typeface="Plus Jakarta Sans"/>
              </a:rPr>
              <a:t>Lo que pide el cliente</a:t>
            </a:r>
          </a:p>
        </p:txBody>
      </p:sp>
      <p:sp>
        <p:nvSpPr>
          <p:cNvPr id="45" name="TextBox 44"/>
          <p:cNvSpPr txBox="1"/>
          <p:nvPr/>
        </p:nvSpPr>
        <p:spPr>
          <a:xfrm>
            <a:off x="5236369" y="1827349"/>
            <a:ext cx="416781" cy="155877"/>
          </a:xfrm>
          <a:prstGeom prst="rect">
            <a:avLst/>
          </a:prstGeom>
          <a:noFill/>
        </p:spPr>
        <p:txBody>
          <a:bodyPr wrap="none" lIns="0" tIns="0" rIns="0" bIns="0" anchor="t">
            <a:spAutoFit/>
          </a:bodyPr>
          <a:lstStyle/>
          <a:p>
            <a:pPr algn="l"/>
            <a:r>
              <a:rPr sz="1013" b="1">
                <a:solidFill>
                  <a:srgbClr val="991B1B"/>
                </a:solidFill>
                <a:latin typeface="Plus Jakarta Sans"/>
              </a:rPr>
              <a:t>Sprint 3</a:t>
            </a:r>
          </a:p>
        </p:txBody>
      </p:sp>
      <p:sp>
        <p:nvSpPr>
          <p:cNvPr id="46" name="TextBox 45"/>
          <p:cNvSpPr txBox="1"/>
          <p:nvPr/>
        </p:nvSpPr>
        <p:spPr>
          <a:xfrm>
            <a:off x="5236369" y="1991656"/>
            <a:ext cx="987450" cy="112467"/>
          </a:xfrm>
          <a:prstGeom prst="rect">
            <a:avLst/>
          </a:prstGeom>
          <a:noFill/>
        </p:spPr>
        <p:txBody>
          <a:bodyPr wrap="none" lIns="0" tIns="0" rIns="0" bIns="0" anchor="t">
            <a:spAutoFit/>
          </a:bodyPr>
          <a:lstStyle/>
          <a:p>
            <a:pPr algn="l"/>
            <a:r>
              <a:rPr sz="731">
                <a:solidFill>
                  <a:srgbClr val="64748B"/>
                </a:solidFill>
                <a:latin typeface="Plus Jakarta Sans"/>
              </a:rPr>
              <a:t>Lo que realmente quieren</a:t>
            </a:r>
          </a:p>
        </p:txBody>
      </p:sp>
      <p:sp>
        <p:nvSpPr>
          <p:cNvPr id="47" name="TextBox 46"/>
          <p:cNvSpPr txBox="1"/>
          <p:nvPr/>
        </p:nvSpPr>
        <p:spPr>
          <a:xfrm>
            <a:off x="1050131" y="3156087"/>
            <a:ext cx="1319272" cy="155877"/>
          </a:xfrm>
          <a:prstGeom prst="rect">
            <a:avLst/>
          </a:prstGeom>
          <a:noFill/>
        </p:spPr>
        <p:txBody>
          <a:bodyPr wrap="none" lIns="0" tIns="0" rIns="0" bIns="0" anchor="t">
            <a:spAutoFit/>
          </a:bodyPr>
          <a:lstStyle/>
          <a:p>
            <a:pPr algn="l"/>
            <a:r>
              <a:rPr sz="1013" b="1">
                <a:solidFill>
                  <a:srgbClr val="065F46"/>
                </a:solidFill>
                <a:latin typeface="Plus Jakarta Sans"/>
              </a:rPr>
              <a:t>El Documento de Diseño</a:t>
            </a:r>
          </a:p>
        </p:txBody>
      </p:sp>
      <p:sp>
        <p:nvSpPr>
          <p:cNvPr id="48" name="TextBox 47"/>
          <p:cNvSpPr txBox="1"/>
          <p:nvPr/>
        </p:nvSpPr>
        <p:spPr>
          <a:xfrm>
            <a:off x="1050132" y="3320393"/>
            <a:ext cx="439223" cy="112467"/>
          </a:xfrm>
          <a:prstGeom prst="rect">
            <a:avLst/>
          </a:prstGeom>
          <a:noFill/>
        </p:spPr>
        <p:txBody>
          <a:bodyPr wrap="none" lIns="0" tIns="0" rIns="0" bIns="0" anchor="t">
            <a:spAutoFit/>
          </a:bodyPr>
          <a:lstStyle/>
          <a:p>
            <a:pPr algn="l"/>
            <a:r>
              <a:rPr sz="731">
                <a:solidFill>
                  <a:srgbClr val="64748B"/>
                </a:solidFill>
                <a:latin typeface="Plus Jakarta Sans"/>
              </a:rPr>
              <a:t>Expectativa</a:t>
            </a:r>
          </a:p>
        </p:txBody>
      </p:sp>
      <p:sp>
        <p:nvSpPr>
          <p:cNvPr id="49" name="TextBox 48"/>
          <p:cNvSpPr txBox="1"/>
          <p:nvPr/>
        </p:nvSpPr>
        <p:spPr>
          <a:xfrm>
            <a:off x="5236369" y="3156087"/>
            <a:ext cx="1293624" cy="155877"/>
          </a:xfrm>
          <a:prstGeom prst="rect">
            <a:avLst/>
          </a:prstGeom>
          <a:noFill/>
        </p:spPr>
        <p:txBody>
          <a:bodyPr wrap="none" lIns="0" tIns="0" rIns="0" bIns="0" anchor="t">
            <a:spAutoFit/>
          </a:bodyPr>
          <a:lstStyle/>
          <a:p>
            <a:pPr algn="l"/>
            <a:r>
              <a:rPr sz="1013" b="1">
                <a:solidFill>
                  <a:srgbClr val="92400E"/>
                </a:solidFill>
                <a:latin typeface="Plus Jakarta Sans"/>
              </a:rPr>
              <a:t>El Código en Producción</a:t>
            </a:r>
          </a:p>
        </p:txBody>
      </p:sp>
      <p:sp>
        <p:nvSpPr>
          <p:cNvPr id="50" name="TextBox 49"/>
          <p:cNvSpPr txBox="1"/>
          <p:nvPr/>
        </p:nvSpPr>
        <p:spPr>
          <a:xfrm>
            <a:off x="5236369" y="3320393"/>
            <a:ext cx="864019" cy="112467"/>
          </a:xfrm>
          <a:prstGeom prst="rect">
            <a:avLst/>
          </a:prstGeom>
          <a:noFill/>
        </p:spPr>
        <p:txBody>
          <a:bodyPr wrap="none" lIns="0" tIns="0" rIns="0" bIns="0" anchor="t">
            <a:spAutoFit/>
          </a:bodyPr>
          <a:lstStyle/>
          <a:p>
            <a:pPr algn="l"/>
            <a:r>
              <a:rPr sz="731">
                <a:solidFill>
                  <a:srgbClr val="64748B"/>
                </a:solidFill>
                <a:latin typeface="Plus Jakarta Sans"/>
              </a:rPr>
              <a:t>Realidad a las 3:00 AM</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561647C1-3F4B-A7C1-C1C2-71B01DABF702}"/>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7969381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9CA0754C-687F-D68F-D64D-D931CDAA5D58}"/>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42631748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descr="Arquitectura de software. Rememorando…">
            <a:extLst>
              <a:ext uri="{FF2B5EF4-FFF2-40B4-BE49-F238E27FC236}">
                <a16:creationId xmlns:a16="http://schemas.microsoft.com/office/drawing/2014/main" id="{5ACD2CE8-74A6-07C8-D3B7-34C71928B875}"/>
              </a:ext>
            </a:extLst>
          </p:cNvPr>
          <p:cNvPicPr>
            <a:picLocks noChangeAspect="1"/>
          </p:cNvPicPr>
          <p:nvPr/>
        </p:nvPicPr>
        <p:blipFill>
          <a:blip r:embed="rId2"/>
          <a:stretch>
            <a:fillRect/>
          </a:stretch>
        </p:blipFill>
        <p:spPr>
          <a:xfrm>
            <a:off x="2983246" y="-8164"/>
            <a:ext cx="3447781" cy="5137422"/>
          </a:xfrm>
          <a:prstGeom prst="rect">
            <a:avLst/>
          </a:prstGeom>
        </p:spPr>
      </p:pic>
    </p:spTree>
    <p:extLst>
      <p:ext uri="{BB962C8B-B14F-4D97-AF65-F5344CB8AC3E}">
        <p14:creationId xmlns:p14="http://schemas.microsoft.com/office/powerpoint/2010/main" val="36390256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A70ED-5C3D-7B2D-2CA3-2485054CF463}"/>
            </a:ext>
          </a:extLst>
        </p:cNvPr>
        <p:cNvGrpSpPr/>
        <p:nvPr/>
      </p:nvGrpSpPr>
      <p:grpSpPr>
        <a:xfrm>
          <a:off x="0" y="0"/>
          <a:ext cx="0" cy="0"/>
          <a:chOff x="0" y="0"/>
          <a:chExt cx="0" cy="0"/>
        </a:xfrm>
      </p:grpSpPr>
      <p:pic>
        <p:nvPicPr>
          <p:cNvPr id="3" name="Imagen 2" descr="expectativa-vs-realidad - Luis Maram">
            <a:extLst>
              <a:ext uri="{FF2B5EF4-FFF2-40B4-BE49-F238E27FC236}">
                <a16:creationId xmlns:a16="http://schemas.microsoft.com/office/drawing/2014/main" id="{A3B7CC4A-A25C-264B-5937-F4CB57CEEECD}"/>
              </a:ext>
            </a:extLst>
          </p:cNvPr>
          <p:cNvPicPr>
            <a:picLocks noChangeAspect="1"/>
          </p:cNvPicPr>
          <p:nvPr/>
        </p:nvPicPr>
        <p:blipFill>
          <a:blip r:embed="rId2"/>
          <a:stretch>
            <a:fillRect/>
          </a:stretch>
        </p:blipFill>
        <p:spPr>
          <a:xfrm>
            <a:off x="1015637" y="-15566"/>
            <a:ext cx="7112726" cy="5159066"/>
          </a:xfrm>
          <a:prstGeom prst="rect">
            <a:avLst/>
          </a:prstGeom>
        </p:spPr>
      </p:pic>
    </p:spTree>
    <p:extLst>
      <p:ext uri="{BB962C8B-B14F-4D97-AF65-F5344CB8AC3E}">
        <p14:creationId xmlns:p14="http://schemas.microsoft.com/office/powerpoint/2010/main" val="942832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270</TotalTime>
  <Words>5333</Words>
  <Application>Microsoft Office PowerPoint</Application>
  <PresentationFormat>Presentación en pantalla (16:9)</PresentationFormat>
  <Paragraphs>529</Paragraphs>
  <Slides>52</Slides>
  <Notes>25</Notes>
  <HiddenSlides>9</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52</vt:i4>
      </vt:variant>
    </vt:vector>
  </HeadingPairs>
  <TitlesOfParts>
    <vt:vector size="58" baseType="lpstr">
      <vt:lpstr>Arial</vt:lpstr>
      <vt:lpstr>Courier New</vt:lpstr>
      <vt:lpstr>Helvetica</vt:lpstr>
      <vt:lpstr>Inter</vt:lpstr>
      <vt:lpstr>Plus Jakarta Sans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Nam - Nucleo de Pedidos: caso de estudio para el proceso de diseno</dc:title>
  <dc:subject>PptxGenJS Presentation</dc:subject>
  <dc:creator>ISIS-1226</dc:creator>
  <cp:lastModifiedBy>Manuel Felipe Porras Tascon</cp:lastModifiedBy>
  <cp:revision>5</cp:revision>
  <dcterms:created xsi:type="dcterms:W3CDTF">2026-07-27T16:33:55Z</dcterms:created>
  <dcterms:modified xsi:type="dcterms:W3CDTF">2026-10-06T07:20:27Z</dcterms:modified>
</cp:coreProperties>
</file>